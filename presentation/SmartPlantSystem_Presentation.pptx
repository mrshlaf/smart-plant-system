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50" r:id="rId2"/>
  </p:sldMasterIdLst>
  <p:notesMasterIdLst>
    <p:notesMasterId r:id="rId15"/>
  </p:notesMasterIdLst>
  <p:sldIdLst>
    <p:sldId id="256" r:id="rId3"/>
    <p:sldId id="257" r:id="rId4"/>
    <p:sldId id="258" r:id="rId5"/>
    <p:sldId id="259" r:id="rId6"/>
    <p:sldId id="260" r:id="rId7"/>
    <p:sldId id="261" r:id="rId8"/>
    <p:sldId id="262" r:id="rId9"/>
    <p:sldId id="264" r:id="rId10"/>
    <p:sldId id="265" r:id="rId11"/>
    <p:sldId id="268" r:id="rId12"/>
    <p:sldId id="271" r:id="rId13"/>
    <p:sldId id="270" r:id="rId1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ECDC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46" d="100"/>
          <a:sy n="146" d="100"/>
        </p:scale>
        <p:origin x="59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51F302-9BD9-A833-FFCF-814F248521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BDA9D8-FDDA-7710-CA43-3D19AEC7A3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C08CAA-AFA9-240A-EDF4-09F5D1F51F6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38EAF21-7EF9-D296-A6C5-8060BE94247E}"/>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7709304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1"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18" Type="http://schemas.openxmlformats.org/officeDocument/2006/relationships/tags" Target="../tags/tag18.xml"/><Relationship Id="rId26" Type="http://schemas.openxmlformats.org/officeDocument/2006/relationships/notesSlide" Target="../notesSlides/notesSlide7.xml"/><Relationship Id="rId3" Type="http://schemas.openxmlformats.org/officeDocument/2006/relationships/tags" Target="../tags/tag3.xml"/><Relationship Id="rId21" Type="http://schemas.openxmlformats.org/officeDocument/2006/relationships/tags" Target="../tags/tag21.xml"/><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tags" Target="../tags/tag17.xml"/><Relationship Id="rId25" Type="http://schemas.openxmlformats.org/officeDocument/2006/relationships/slideLayout" Target="../slideLayouts/slideLayout1.xml"/><Relationship Id="rId2" Type="http://schemas.openxmlformats.org/officeDocument/2006/relationships/tags" Target="../tags/tag2.xml"/><Relationship Id="rId16" Type="http://schemas.openxmlformats.org/officeDocument/2006/relationships/tags" Target="../tags/tag16.xml"/><Relationship Id="rId20" Type="http://schemas.openxmlformats.org/officeDocument/2006/relationships/tags" Target="../tags/tag20.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24" Type="http://schemas.openxmlformats.org/officeDocument/2006/relationships/tags" Target="../tags/tag24.xml"/><Relationship Id="rId5" Type="http://schemas.openxmlformats.org/officeDocument/2006/relationships/tags" Target="../tags/tag5.xml"/><Relationship Id="rId15" Type="http://schemas.openxmlformats.org/officeDocument/2006/relationships/tags" Target="../tags/tag15.xml"/><Relationship Id="rId23" Type="http://schemas.openxmlformats.org/officeDocument/2006/relationships/tags" Target="../tags/tag23.xml"/><Relationship Id="rId10" Type="http://schemas.openxmlformats.org/officeDocument/2006/relationships/tags" Target="../tags/tag10.xml"/><Relationship Id="rId19" Type="http://schemas.openxmlformats.org/officeDocument/2006/relationships/tags" Target="../tags/tag19.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 Id="rId22" Type="http://schemas.openxmlformats.org/officeDocument/2006/relationships/tags" Target="../tags/tag2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1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3131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4ECDC4"/>
          </a:solidFill>
          <a:ln w="12700">
            <a:solidFill>
              <a:srgbClr val="4ECDC4"/>
            </a:solidFill>
            <a:prstDash val="solid"/>
          </a:ln>
        </p:spPr>
        <p:txBody>
          <a:bodyPr/>
          <a:lstStyle/>
          <a:p>
            <a:endParaRPr lang="en-ID"/>
          </a:p>
        </p:txBody>
      </p:sp>
      <p:sp>
        <p:nvSpPr>
          <p:cNvPr id="3" name="Shape 1"/>
          <p:cNvSpPr/>
          <p:nvPr/>
        </p:nvSpPr>
        <p:spPr>
          <a:xfrm>
            <a:off x="0" y="5065776"/>
            <a:ext cx="9144000" cy="73152"/>
          </a:xfrm>
          <a:prstGeom prst="rect">
            <a:avLst/>
          </a:prstGeom>
          <a:solidFill>
            <a:srgbClr val="4ECDC4"/>
          </a:solidFill>
          <a:ln w="12700">
            <a:solidFill>
              <a:srgbClr val="4ECDC4"/>
            </a:solidFill>
            <a:prstDash val="solid"/>
          </a:ln>
        </p:spPr>
        <p:txBody>
          <a:bodyPr/>
          <a:lstStyle/>
          <a:p>
            <a:endParaRPr lang="en-ID"/>
          </a:p>
        </p:txBody>
      </p:sp>
      <p:sp>
        <p:nvSpPr>
          <p:cNvPr id="4" name="Shape 2"/>
          <p:cNvSpPr/>
          <p:nvPr/>
        </p:nvSpPr>
        <p:spPr>
          <a:xfrm>
            <a:off x="6583680" y="-274320"/>
            <a:ext cx="2560320" cy="2560320"/>
          </a:xfrm>
          <a:prstGeom prst="ellipse">
            <a:avLst/>
          </a:prstGeom>
          <a:solidFill>
            <a:srgbClr val="7C5CBF">
              <a:alpha val="20000"/>
            </a:srgbClr>
          </a:solidFill>
          <a:ln w="12700">
            <a:solidFill>
              <a:srgbClr val="7C5CBF">
                <a:alpha val="20000"/>
              </a:srgbClr>
            </a:solidFill>
            <a:prstDash val="solid"/>
          </a:ln>
        </p:spPr>
        <p:txBody>
          <a:bodyPr/>
          <a:lstStyle/>
          <a:p>
            <a:endParaRPr lang="en-ID"/>
          </a:p>
        </p:txBody>
      </p:sp>
      <p:sp>
        <p:nvSpPr>
          <p:cNvPr id="5" name="Shape 3"/>
          <p:cNvSpPr/>
          <p:nvPr/>
        </p:nvSpPr>
        <p:spPr>
          <a:xfrm>
            <a:off x="7772400" y="3200400"/>
            <a:ext cx="1828800" cy="1828800"/>
          </a:xfrm>
          <a:prstGeom prst="ellipse">
            <a:avLst/>
          </a:prstGeom>
          <a:solidFill>
            <a:srgbClr val="4ECDC4">
              <a:alpha val="15000"/>
            </a:srgbClr>
          </a:solidFill>
          <a:ln w="12700">
            <a:solidFill>
              <a:srgbClr val="4ECDC4">
                <a:alpha val="15000"/>
              </a:srgbClr>
            </a:solidFill>
            <a:prstDash val="solid"/>
          </a:ln>
        </p:spPr>
        <p:txBody>
          <a:bodyPr/>
          <a:lstStyle/>
          <a:p>
            <a:endParaRPr lang="en-ID"/>
          </a:p>
        </p:txBody>
      </p:sp>
      <p:sp>
        <p:nvSpPr>
          <p:cNvPr id="6" name="Shape 4"/>
          <p:cNvSpPr/>
          <p:nvPr/>
        </p:nvSpPr>
        <p:spPr>
          <a:xfrm>
            <a:off x="-457200" y="3474720"/>
            <a:ext cx="2011680" cy="2011680"/>
          </a:xfrm>
          <a:prstGeom prst="ellipse">
            <a:avLst/>
          </a:prstGeom>
          <a:solidFill>
            <a:srgbClr val="7C5CBF">
              <a:alpha val="20000"/>
            </a:srgbClr>
          </a:solidFill>
          <a:ln w="12700">
            <a:solidFill>
              <a:srgbClr val="7C5CBF">
                <a:alpha val="20000"/>
              </a:srgbClr>
            </a:solidFill>
            <a:prstDash val="solid"/>
          </a:ln>
        </p:spPr>
        <p:txBody>
          <a:bodyPr/>
          <a:lstStyle/>
          <a:p>
            <a:endParaRPr lang="en-ID"/>
          </a:p>
        </p:txBody>
      </p:sp>
      <p:sp>
        <p:nvSpPr>
          <p:cNvPr id="7" name="Shape 5"/>
          <p:cNvSpPr/>
          <p:nvPr/>
        </p:nvSpPr>
        <p:spPr>
          <a:xfrm>
            <a:off x="501805" y="365760"/>
            <a:ext cx="1371600" cy="347472"/>
          </a:xfrm>
          <a:prstGeom prst="roundRect">
            <a:avLst>
              <a:gd name="adj" fmla="val 26316"/>
            </a:avLst>
          </a:prstGeom>
          <a:solidFill>
            <a:srgbClr val="7C5CBF"/>
          </a:solidFill>
          <a:ln w="12700">
            <a:solidFill>
              <a:srgbClr val="7C5CBF"/>
            </a:solidFill>
            <a:prstDash val="solid"/>
          </a:ln>
        </p:spPr>
        <p:txBody>
          <a:bodyPr/>
          <a:lstStyle/>
          <a:p>
            <a:endParaRPr lang="en-ID" dirty="0"/>
          </a:p>
        </p:txBody>
      </p:sp>
      <p:sp>
        <p:nvSpPr>
          <p:cNvPr id="8" name="Text 6"/>
          <p:cNvSpPr/>
          <p:nvPr/>
        </p:nvSpPr>
        <p:spPr>
          <a:xfrm>
            <a:off x="457200" y="365760"/>
            <a:ext cx="1371600" cy="347472"/>
          </a:xfrm>
          <a:prstGeom prst="rect">
            <a:avLst/>
          </a:prstGeom>
          <a:noFill/>
        </p:spPr>
        <p:txBody>
          <a:bodyPr wrap="square" rtlCol="0" anchor="ctr"/>
          <a:lstStyle/>
          <a:p>
            <a:pPr marL="0" indent="0" algn="ctr">
              <a:buNone/>
            </a:pPr>
            <a:r>
              <a:rPr lang="en-US" sz="900" b="1" kern="0" spc="200" dirty="0">
                <a:solidFill>
                  <a:srgbClr val="F0F0F0"/>
                </a:solidFill>
                <a:latin typeface="Courier New" panose="02070309020205020404" pitchFamily="34" charset="0"/>
                <a:ea typeface="Courier New" panose="02070309020205020404" pitchFamily="34" charset="-122"/>
                <a:cs typeface="Courier New" panose="02070309020205020404" pitchFamily="34" charset="-120"/>
              </a:rPr>
              <a:t>GROUP 21</a:t>
            </a:r>
            <a:endParaRPr lang="en-US" sz="900" dirty="0"/>
          </a:p>
        </p:txBody>
      </p:sp>
      <p:sp>
        <p:nvSpPr>
          <p:cNvPr id="9" name="Text 7"/>
          <p:cNvSpPr/>
          <p:nvPr/>
        </p:nvSpPr>
        <p:spPr>
          <a:xfrm>
            <a:off x="457200" y="868680"/>
            <a:ext cx="6400800" cy="2011680"/>
          </a:xfrm>
          <a:prstGeom prst="rect">
            <a:avLst/>
          </a:prstGeom>
          <a:noFill/>
        </p:spPr>
        <p:txBody>
          <a:bodyPr wrap="square" lIns="0" tIns="0" rIns="0" bIns="0" rtlCol="0" anchor="ctr"/>
          <a:lstStyle/>
          <a:p>
            <a:pPr marL="0" indent="0">
              <a:buNone/>
            </a:pPr>
            <a:r>
              <a:rPr lang="en-US" sz="5200" b="1" dirty="0">
                <a:solidFill>
                  <a:srgbClr val="4ECDC4"/>
                </a:solidFill>
                <a:latin typeface="Courier New" panose="02070309020205020404" pitchFamily="34" charset="0"/>
                <a:ea typeface="Courier New" panose="02070309020205020404" pitchFamily="34" charset="-122"/>
                <a:cs typeface="Courier New" panose="02070309020205020404" pitchFamily="34" charset="-120"/>
              </a:rPr>
              <a:t>SMART PLANT</a:t>
            </a:r>
            <a:endParaRPr lang="en-US" sz="5200" dirty="0"/>
          </a:p>
          <a:p>
            <a:pPr marL="0" indent="0">
              <a:buNone/>
            </a:pPr>
            <a:r>
              <a:rPr lang="en-US" sz="5200" b="1" dirty="0">
                <a:solidFill>
                  <a:srgbClr val="4ECDC4"/>
                </a:solidFill>
                <a:latin typeface="Courier New" panose="02070309020205020404" pitchFamily="34" charset="0"/>
                <a:cs typeface="Courier New" panose="02070309020205020404" pitchFamily="34" charset="-120"/>
              </a:rPr>
              <a:t>SYSTEM</a:t>
            </a:r>
            <a:endParaRPr lang="en-US" sz="5200" dirty="0"/>
          </a:p>
        </p:txBody>
      </p:sp>
      <p:sp>
        <p:nvSpPr>
          <p:cNvPr id="10" name="Text 8"/>
          <p:cNvSpPr/>
          <p:nvPr/>
        </p:nvSpPr>
        <p:spPr>
          <a:xfrm>
            <a:off x="457200" y="2880360"/>
            <a:ext cx="5943600" cy="411480"/>
          </a:xfrm>
          <a:prstGeom prst="rect">
            <a:avLst/>
          </a:prstGeom>
          <a:noFill/>
        </p:spPr>
        <p:txBody>
          <a:bodyPr wrap="square" lIns="0" tIns="0" rIns="0" bIns="0" rtlCol="0" anchor="ctr"/>
          <a:lstStyle/>
          <a:p>
            <a:pPr marL="0" indent="0">
              <a:buNone/>
            </a:pPr>
            <a:r>
              <a:rPr lang="en-US" sz="1400" dirty="0">
                <a:solidFill>
                  <a:srgbClr val="A0A0B8"/>
                </a:solidFill>
                <a:latin typeface="Calibri" panose="020F0502020204030204" pitchFamily="34" charset="0"/>
                <a:ea typeface="Calibri" panose="020F0502020204030204" pitchFamily="34" charset="-122"/>
                <a:cs typeface="Calibri" panose="020F0502020204030204" pitchFamily="34" charset="-120"/>
              </a:rPr>
              <a:t>Sistem Penyiram Tanaman Otomatis Berbasis Arduino</a:t>
            </a:r>
            <a:endParaRPr lang="en-US" sz="1400" dirty="0"/>
          </a:p>
        </p:txBody>
      </p:sp>
      <p:sp>
        <p:nvSpPr>
          <p:cNvPr id="11" name="Text 9"/>
          <p:cNvSpPr/>
          <p:nvPr/>
        </p:nvSpPr>
        <p:spPr>
          <a:xfrm>
            <a:off x="457200" y="3401568"/>
            <a:ext cx="5486400" cy="237744"/>
          </a:xfrm>
          <a:prstGeom prst="rect">
            <a:avLst/>
          </a:prstGeom>
          <a:noFill/>
        </p:spPr>
        <p:txBody>
          <a:bodyPr wrap="square" lIns="0" tIns="0" rIns="0" bIns="0" rtlCol="0" anchor="ctr"/>
          <a:lstStyle/>
          <a:p>
            <a:r>
              <a:rPr lang="en-US" sz="1100" dirty="0">
                <a:solidFill>
                  <a:srgbClr val="F0F0F0"/>
                </a:solidFill>
                <a:latin typeface="Courier New" panose="02070309020205020404" pitchFamily="34" charset="0"/>
                <a:ea typeface="Courier New" panose="02070309020205020404" pitchFamily="34" charset="-122"/>
                <a:cs typeface="Courier New" panose="02070309020205020404" pitchFamily="34" charset="-120"/>
              </a:rPr>
              <a:t>1. Marshal Aufa </a:t>
            </a:r>
            <a:r>
              <a:rPr lang="en-US" sz="1100" dirty="0" err="1">
                <a:solidFill>
                  <a:srgbClr val="F0F0F0"/>
                </a:solidFill>
                <a:latin typeface="Courier New" panose="02070309020205020404" pitchFamily="34" charset="0"/>
                <a:ea typeface="Courier New" panose="02070309020205020404" pitchFamily="34" charset="-122"/>
                <a:cs typeface="Courier New" panose="02070309020205020404" pitchFamily="34" charset="-120"/>
              </a:rPr>
              <a:t>Diliyana</a:t>
            </a:r>
            <a:r>
              <a:rPr lang="en-US" sz="1100" dirty="0">
                <a:solidFill>
                  <a:srgbClr val="F0F0F0"/>
                </a:solidFill>
                <a:latin typeface="Courier New" panose="02070309020205020404" pitchFamily="34" charset="0"/>
                <a:ea typeface="Courier New" panose="02070309020205020404" pitchFamily="34" charset="-122"/>
                <a:cs typeface="Courier New" panose="02070309020205020404" pitchFamily="34" charset="-120"/>
              </a:rPr>
              <a:t>(2406346913)</a:t>
            </a:r>
            <a:endParaRPr lang="en-US" sz="1100" dirty="0"/>
          </a:p>
        </p:txBody>
      </p:sp>
      <p:sp>
        <p:nvSpPr>
          <p:cNvPr id="12" name="Text 10"/>
          <p:cNvSpPr/>
          <p:nvPr/>
        </p:nvSpPr>
        <p:spPr>
          <a:xfrm>
            <a:off x="457200" y="3657600"/>
            <a:ext cx="5486400" cy="237744"/>
          </a:xfrm>
          <a:prstGeom prst="rect">
            <a:avLst/>
          </a:prstGeom>
          <a:noFill/>
        </p:spPr>
        <p:txBody>
          <a:bodyPr wrap="square" lIns="0" tIns="0" rIns="0" bIns="0" rtlCol="0" anchor="ctr"/>
          <a:lstStyle/>
          <a:p>
            <a:r>
              <a:rPr lang="en-US" sz="1100" dirty="0">
                <a:solidFill>
                  <a:srgbClr val="F0F0F0"/>
                </a:solidFill>
                <a:latin typeface="Courier New" panose="02070309020205020404" pitchFamily="34" charset="0"/>
                <a:ea typeface="Courier New" panose="02070309020205020404" pitchFamily="34" charset="-122"/>
                <a:cs typeface="Courier New" panose="02070309020205020404" pitchFamily="34" charset="-120"/>
              </a:rPr>
              <a:t>2. </a:t>
            </a:r>
            <a:r>
              <a:rPr lang="en-US" sz="1100" dirty="0" err="1">
                <a:solidFill>
                  <a:srgbClr val="F0F0F0"/>
                </a:solidFill>
                <a:latin typeface="Courier New" panose="02070309020205020404" pitchFamily="34" charset="0"/>
                <a:ea typeface="Courier New" panose="02070309020205020404" pitchFamily="34" charset="-122"/>
                <a:cs typeface="Courier New" panose="02070309020205020404" pitchFamily="34" charset="-120"/>
              </a:rPr>
              <a:t>Syifa</a:t>
            </a:r>
            <a:r>
              <a:rPr lang="en-US" sz="1100" dirty="0">
                <a:solidFill>
                  <a:srgbClr val="F0F0F0"/>
                </a:solidFill>
                <a:latin typeface="Courier New" panose="02070309020205020404" pitchFamily="34" charset="0"/>
                <a:ea typeface="Courier New" panose="02070309020205020404" pitchFamily="34" charset="-122"/>
                <a:cs typeface="Courier New" panose="02070309020205020404" pitchFamily="34" charset="-120"/>
              </a:rPr>
              <a:t> Naila </a:t>
            </a:r>
            <a:r>
              <a:rPr lang="en-US" sz="1100" dirty="0" err="1">
                <a:solidFill>
                  <a:srgbClr val="F0F0F0"/>
                </a:solidFill>
                <a:latin typeface="Courier New" panose="02070309020205020404" pitchFamily="34" charset="0"/>
                <a:ea typeface="Courier New" panose="02070309020205020404" pitchFamily="34" charset="-122"/>
                <a:cs typeface="Courier New" panose="02070309020205020404" pitchFamily="34" charset="-120"/>
              </a:rPr>
              <a:t>Maulidya</a:t>
            </a:r>
            <a:r>
              <a:rPr lang="en-US" sz="1100" dirty="0">
                <a:solidFill>
                  <a:srgbClr val="F0F0F0"/>
                </a:solidFill>
                <a:latin typeface="Courier New" panose="02070309020205020404" pitchFamily="34" charset="0"/>
                <a:ea typeface="Courier New" panose="02070309020205020404" pitchFamily="34" charset="-122"/>
                <a:cs typeface="Courier New" panose="02070309020205020404" pitchFamily="34" charset="-120"/>
              </a:rPr>
              <a:t>(2406436940)</a:t>
            </a:r>
            <a:endParaRPr lang="en-US" sz="1100" dirty="0"/>
          </a:p>
        </p:txBody>
      </p:sp>
      <p:sp>
        <p:nvSpPr>
          <p:cNvPr id="13" name="Text 11"/>
          <p:cNvSpPr/>
          <p:nvPr/>
        </p:nvSpPr>
        <p:spPr>
          <a:xfrm>
            <a:off x="457200" y="3913632"/>
            <a:ext cx="5486400" cy="237744"/>
          </a:xfrm>
          <a:prstGeom prst="rect">
            <a:avLst/>
          </a:prstGeom>
          <a:noFill/>
        </p:spPr>
        <p:txBody>
          <a:bodyPr wrap="square" lIns="0" tIns="0" rIns="0" bIns="0" rtlCol="0" anchor="ctr"/>
          <a:lstStyle/>
          <a:p>
            <a:r>
              <a:rPr lang="en-US" sz="1100" dirty="0">
                <a:solidFill>
                  <a:srgbClr val="F0F0F0"/>
                </a:solidFill>
                <a:latin typeface="Courier New" panose="02070309020205020404" pitchFamily="34" charset="0"/>
                <a:ea typeface="Courier New" panose="02070309020205020404" pitchFamily="34" charset="-122"/>
                <a:cs typeface="Courier New" panose="02070309020205020404" pitchFamily="34" charset="-120"/>
              </a:rPr>
              <a:t>3. Zahir(2406487084)</a:t>
            </a:r>
            <a:endParaRPr lang="en-US" sz="1100" dirty="0"/>
          </a:p>
        </p:txBody>
      </p:sp>
      <p:sp>
        <p:nvSpPr>
          <p:cNvPr id="14" name="Text 12"/>
          <p:cNvSpPr/>
          <p:nvPr/>
        </p:nvSpPr>
        <p:spPr>
          <a:xfrm>
            <a:off x="457200" y="4169664"/>
            <a:ext cx="5486400" cy="237744"/>
          </a:xfrm>
          <a:prstGeom prst="rect">
            <a:avLst/>
          </a:prstGeom>
          <a:noFill/>
        </p:spPr>
        <p:txBody>
          <a:bodyPr wrap="square" lIns="0" tIns="0" rIns="0" bIns="0" rtlCol="0" anchor="ctr"/>
          <a:lstStyle/>
          <a:p>
            <a:r>
              <a:rPr lang="en-US" sz="1100" dirty="0">
                <a:solidFill>
                  <a:srgbClr val="F0F0F0"/>
                </a:solidFill>
                <a:latin typeface="Courier New" panose="02070309020205020404" pitchFamily="34" charset="0"/>
                <a:ea typeface="Courier New" panose="02070309020205020404" pitchFamily="34" charset="-122"/>
                <a:cs typeface="Courier New" panose="02070309020205020404" pitchFamily="34" charset="-120"/>
              </a:rPr>
              <a:t>4. Muhamad Rifqi Fadil </a:t>
            </a:r>
            <a:r>
              <a:rPr lang="en-US" sz="1100" dirty="0" err="1">
                <a:solidFill>
                  <a:srgbClr val="F0F0F0"/>
                </a:solidFill>
                <a:latin typeface="Courier New" panose="02070309020205020404" pitchFamily="34" charset="0"/>
                <a:ea typeface="Courier New" panose="02070309020205020404" pitchFamily="34" charset="-122"/>
                <a:cs typeface="Courier New" panose="02070309020205020404" pitchFamily="34" charset="-120"/>
              </a:rPr>
              <a:t>Itsnain</a:t>
            </a:r>
            <a:r>
              <a:rPr lang="en-US" sz="1100" dirty="0">
                <a:solidFill>
                  <a:srgbClr val="F0F0F0"/>
                </a:solidFill>
                <a:latin typeface="Courier New" panose="02070309020205020404" pitchFamily="34" charset="0"/>
                <a:ea typeface="Courier New" panose="02070309020205020404" pitchFamily="34" charset="-122"/>
                <a:cs typeface="Courier New" panose="02070309020205020404" pitchFamily="34" charset="-120"/>
              </a:rPr>
              <a:t> (2406355306)</a:t>
            </a:r>
          </a:p>
        </p:txBody>
      </p:sp>
      <p:sp>
        <p:nvSpPr>
          <p:cNvPr id="15" name="Shape 13"/>
          <p:cNvSpPr/>
          <p:nvPr/>
        </p:nvSpPr>
        <p:spPr>
          <a:xfrm>
            <a:off x="7223760" y="3474720"/>
            <a:ext cx="1188720" cy="731520"/>
          </a:xfrm>
          <a:prstGeom prst="rect">
            <a:avLst/>
          </a:prstGeom>
          <a:solidFill>
            <a:srgbClr val="4A2C2A"/>
          </a:solidFill>
          <a:ln w="12700">
            <a:solidFill>
              <a:srgbClr val="4ECDC4"/>
            </a:solidFill>
            <a:prstDash val="solid"/>
          </a:ln>
        </p:spPr>
        <p:txBody>
          <a:bodyPr/>
          <a:lstStyle/>
          <a:p>
            <a:endParaRPr lang="en-ID"/>
          </a:p>
        </p:txBody>
      </p:sp>
      <p:sp>
        <p:nvSpPr>
          <p:cNvPr id="16" name="Shape 14"/>
          <p:cNvSpPr/>
          <p:nvPr/>
        </p:nvSpPr>
        <p:spPr>
          <a:xfrm>
            <a:off x="7040880" y="3291840"/>
            <a:ext cx="1554480" cy="228600"/>
          </a:xfrm>
          <a:prstGeom prst="rect">
            <a:avLst/>
          </a:prstGeom>
          <a:solidFill>
            <a:srgbClr val="5C3A38"/>
          </a:solidFill>
          <a:ln w="12700">
            <a:solidFill>
              <a:srgbClr val="4ECDC4"/>
            </a:solidFill>
            <a:prstDash val="solid"/>
          </a:ln>
        </p:spPr>
        <p:txBody>
          <a:bodyPr/>
          <a:lstStyle/>
          <a:p>
            <a:endParaRPr lang="en-ID"/>
          </a:p>
        </p:txBody>
      </p:sp>
      <p:sp>
        <p:nvSpPr>
          <p:cNvPr id="17" name="Shape 15"/>
          <p:cNvSpPr/>
          <p:nvPr/>
        </p:nvSpPr>
        <p:spPr>
          <a:xfrm>
            <a:off x="7754112" y="2286000"/>
            <a:ext cx="109728" cy="1051560"/>
          </a:xfrm>
          <a:prstGeom prst="rect">
            <a:avLst/>
          </a:prstGeom>
          <a:solidFill>
            <a:srgbClr val="4ECDC4"/>
          </a:solidFill>
          <a:ln w="12700">
            <a:solidFill>
              <a:srgbClr val="4ECDC4"/>
            </a:solidFill>
            <a:prstDash val="solid"/>
          </a:ln>
        </p:spPr>
        <p:txBody>
          <a:bodyPr/>
          <a:lstStyle/>
          <a:p>
            <a:endParaRPr lang="en-ID"/>
          </a:p>
        </p:txBody>
      </p:sp>
      <p:sp>
        <p:nvSpPr>
          <p:cNvPr id="18" name="Shape 16"/>
          <p:cNvSpPr/>
          <p:nvPr/>
        </p:nvSpPr>
        <p:spPr>
          <a:xfrm>
            <a:off x="7315200" y="1920240"/>
            <a:ext cx="777240" cy="502920"/>
          </a:xfrm>
          <a:prstGeom prst="ellipse">
            <a:avLst/>
          </a:prstGeom>
          <a:solidFill>
            <a:srgbClr val="00F5D4">
              <a:alpha val="70000"/>
            </a:srgbClr>
          </a:solidFill>
          <a:ln w="12700">
            <a:solidFill>
              <a:srgbClr val="00F5D4"/>
            </a:solidFill>
            <a:prstDash val="solid"/>
          </a:ln>
        </p:spPr>
        <p:txBody>
          <a:bodyPr/>
          <a:lstStyle/>
          <a:p>
            <a:endParaRPr lang="en-ID"/>
          </a:p>
        </p:txBody>
      </p:sp>
      <p:sp>
        <p:nvSpPr>
          <p:cNvPr id="19" name="Shape 17"/>
          <p:cNvSpPr/>
          <p:nvPr/>
        </p:nvSpPr>
        <p:spPr>
          <a:xfrm>
            <a:off x="7772400" y="1645920"/>
            <a:ext cx="731520" cy="457200"/>
          </a:xfrm>
          <a:prstGeom prst="ellipse">
            <a:avLst/>
          </a:prstGeom>
          <a:solidFill>
            <a:srgbClr val="4ECDC4">
              <a:alpha val="80000"/>
            </a:srgbClr>
          </a:solidFill>
          <a:ln w="12700">
            <a:solidFill>
              <a:srgbClr val="4ECDC4"/>
            </a:solidFill>
            <a:prstDash val="solid"/>
          </a:ln>
        </p:spPr>
        <p:txBody>
          <a:bodyPr/>
          <a:lstStyle/>
          <a:p>
            <a:endParaRPr lang="en-ID"/>
          </a:p>
        </p:txBody>
      </p:sp>
      <p:sp>
        <p:nvSpPr>
          <p:cNvPr id="20" name="Shape 18"/>
          <p:cNvSpPr/>
          <p:nvPr/>
        </p:nvSpPr>
        <p:spPr>
          <a:xfrm>
            <a:off x="7452360" y="2331720"/>
            <a:ext cx="594360" cy="384048"/>
          </a:xfrm>
          <a:prstGeom prst="ellipse">
            <a:avLst/>
          </a:prstGeom>
          <a:solidFill>
            <a:srgbClr val="00F5D4">
              <a:alpha val="60000"/>
            </a:srgbClr>
          </a:solidFill>
          <a:ln w="12700">
            <a:solidFill>
              <a:srgbClr val="00F5D4"/>
            </a:solidFill>
            <a:prstDash val="solid"/>
          </a:ln>
        </p:spPr>
        <p:txBody>
          <a:bodyPr/>
          <a:lstStyle/>
          <a:p>
            <a:endParaRPr lang="en-ID"/>
          </a:p>
        </p:txBody>
      </p:sp>
      <p:sp>
        <p:nvSpPr>
          <p:cNvPr id="21" name="Shape 19"/>
          <p:cNvSpPr/>
          <p:nvPr/>
        </p:nvSpPr>
        <p:spPr>
          <a:xfrm>
            <a:off x="6858000" y="1371600"/>
            <a:ext cx="274320" cy="347472"/>
          </a:xfrm>
          <a:prstGeom prst="ellipse">
            <a:avLst/>
          </a:prstGeom>
          <a:solidFill>
            <a:srgbClr val="5BC8F5"/>
          </a:solidFill>
          <a:ln w="12700">
            <a:solidFill>
              <a:srgbClr val="5BC8F5"/>
            </a:solidFill>
            <a:prstDash val="solid"/>
          </a:ln>
        </p:spPr>
        <p:txBody>
          <a:bodyPr/>
          <a:lstStyle/>
          <a:p>
            <a:endParaRPr lang="en-ID"/>
          </a:p>
        </p:txBody>
      </p:sp>
      <p:sp>
        <p:nvSpPr>
          <p:cNvPr id="22" name="Shape 20"/>
          <p:cNvSpPr/>
          <p:nvPr/>
        </p:nvSpPr>
        <p:spPr>
          <a:xfrm>
            <a:off x="7315200" y="1097280"/>
            <a:ext cx="201168" cy="274320"/>
          </a:xfrm>
          <a:prstGeom prst="ellipse">
            <a:avLst/>
          </a:prstGeom>
          <a:solidFill>
            <a:srgbClr val="5BC8F5"/>
          </a:solidFill>
          <a:ln w="12700">
            <a:solidFill>
              <a:srgbClr val="5BC8F5"/>
            </a:solidFill>
            <a:prstDash val="solid"/>
          </a:ln>
        </p:spPr>
        <p:txBody>
          <a:bodyPr/>
          <a:lstStyle/>
          <a:p>
            <a:endParaRPr lang="en-ID"/>
          </a:p>
        </p:txBody>
      </p:sp>
      <p:sp>
        <p:nvSpPr>
          <p:cNvPr id="23" name="Shape 21"/>
          <p:cNvSpPr/>
          <p:nvPr/>
        </p:nvSpPr>
        <p:spPr>
          <a:xfrm>
            <a:off x="7863840" y="1234440"/>
            <a:ext cx="228600" cy="292608"/>
          </a:xfrm>
          <a:prstGeom prst="ellipse">
            <a:avLst/>
          </a:prstGeom>
          <a:solidFill>
            <a:srgbClr val="5BC8F5"/>
          </a:solidFill>
          <a:ln w="12700">
            <a:solidFill>
              <a:srgbClr val="5BC8F5"/>
            </a:solidFill>
            <a:prstDash val="solid"/>
          </a:ln>
        </p:spPr>
        <p:txBody>
          <a:bodyPr/>
          <a:lstStyle/>
          <a:p>
            <a:endParaRPr lang="en-ID"/>
          </a:p>
        </p:txBody>
      </p:sp>
      <p:sp>
        <p:nvSpPr>
          <p:cNvPr id="24" name="Text 12"/>
          <p:cNvSpPr/>
          <p:nvPr/>
        </p:nvSpPr>
        <p:spPr>
          <a:xfrm>
            <a:off x="457200" y="4425696"/>
            <a:ext cx="5486400" cy="237744"/>
          </a:xfrm>
          <a:prstGeom prst="rect">
            <a:avLst/>
          </a:prstGeom>
          <a:noFill/>
        </p:spPr>
        <p:txBody>
          <a:bodyPr wrap="square" lIns="0" tIns="0" rIns="0" bIns="0" rtlCol="0" anchor="ctr"/>
          <a:lstStyle/>
          <a:p>
            <a:r>
              <a:rPr lang="en-US" sz="1100" dirty="0">
                <a:solidFill>
                  <a:srgbClr val="F0F0F0"/>
                </a:solidFill>
                <a:latin typeface="Courier New" panose="02070309020205020404" pitchFamily="34" charset="0"/>
                <a:ea typeface="Courier New" panose="02070309020205020404" pitchFamily="34" charset="-122"/>
                <a:cs typeface="Courier New" panose="02070309020205020404" pitchFamily="34" charset="-120"/>
              </a:rPr>
              <a:t>5. Arya Wibawa </a:t>
            </a:r>
            <a:r>
              <a:rPr lang="en-US" sz="1100" dirty="0" err="1">
                <a:solidFill>
                  <a:srgbClr val="F0F0F0"/>
                </a:solidFill>
                <a:latin typeface="Courier New" panose="02070309020205020404" pitchFamily="34" charset="0"/>
                <a:ea typeface="Courier New" panose="02070309020205020404" pitchFamily="34" charset="-122"/>
                <a:cs typeface="Courier New" panose="02070309020205020404" pitchFamily="34" charset="-120"/>
              </a:rPr>
              <a:t>Atmanegara</a:t>
            </a:r>
            <a:r>
              <a:rPr lang="en-US" sz="1100" dirty="0">
                <a:solidFill>
                  <a:srgbClr val="F0F0F0"/>
                </a:solidFill>
                <a:latin typeface="Courier New" panose="02070309020205020404" pitchFamily="34" charset="0"/>
                <a:ea typeface="Courier New" panose="02070309020205020404" pitchFamily="34" charset="-122"/>
                <a:cs typeface="Courier New" panose="02070309020205020404" pitchFamily="34" charset="-120"/>
              </a:rPr>
              <a:t> (2406420431)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3131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4ECDC4"/>
          </a:solidFill>
          <a:ln w="12700">
            <a:solidFill>
              <a:srgbClr val="4ECDC4"/>
            </a:solidFill>
            <a:prstDash val="solid"/>
          </a:ln>
        </p:spPr>
        <p:txBody>
          <a:bodyPr/>
          <a:lstStyle/>
          <a:p>
            <a:endParaRPr lang="en-ID"/>
          </a:p>
        </p:txBody>
      </p:sp>
      <p:sp>
        <p:nvSpPr>
          <p:cNvPr id="3" name="Text 1"/>
          <p:cNvSpPr/>
          <p:nvPr/>
        </p:nvSpPr>
        <p:spPr>
          <a:xfrm>
            <a:off x="411480" y="228600"/>
            <a:ext cx="5486400" cy="594360"/>
          </a:xfrm>
          <a:prstGeom prst="rect">
            <a:avLst/>
          </a:prstGeom>
          <a:noFill/>
        </p:spPr>
        <p:txBody>
          <a:bodyPr wrap="square" lIns="0" tIns="0" rIns="0" bIns="0" rtlCol="0" anchor="ctr"/>
          <a:lstStyle/>
          <a:p>
            <a:pPr marL="0" indent="0">
              <a:buNone/>
            </a:pPr>
            <a:r>
              <a:rPr lang="en-US" sz="3200" b="1" dirty="0">
                <a:solidFill>
                  <a:srgbClr val="4ECDC4"/>
                </a:solidFill>
                <a:latin typeface="Courier New" panose="02070309020205020404" pitchFamily="34" charset="0"/>
                <a:ea typeface="Courier New" panose="02070309020205020404" pitchFamily="34" charset="-122"/>
                <a:cs typeface="Courier New" panose="02070309020205020404" pitchFamily="34" charset="-120"/>
              </a:rPr>
              <a:t>PENDAHULUAN</a:t>
            </a:r>
            <a:endParaRPr lang="en-US" sz="3200" dirty="0"/>
          </a:p>
        </p:txBody>
      </p:sp>
      <p:sp>
        <p:nvSpPr>
          <p:cNvPr id="4" name="Shape 2"/>
          <p:cNvSpPr/>
          <p:nvPr/>
        </p:nvSpPr>
        <p:spPr>
          <a:xfrm>
            <a:off x="411480" y="868680"/>
            <a:ext cx="1371600" cy="36576"/>
          </a:xfrm>
          <a:prstGeom prst="rect">
            <a:avLst/>
          </a:prstGeom>
          <a:solidFill>
            <a:srgbClr val="4ECDC4"/>
          </a:solidFill>
          <a:ln w="12700">
            <a:solidFill>
              <a:srgbClr val="4ECDC4"/>
            </a:solidFill>
            <a:prstDash val="solid"/>
          </a:ln>
        </p:spPr>
        <p:txBody>
          <a:bodyPr/>
          <a:lstStyle/>
          <a:p>
            <a:endParaRPr lang="en-ID"/>
          </a:p>
        </p:txBody>
      </p:sp>
      <p:sp>
        <p:nvSpPr>
          <p:cNvPr id="5" name="Text 3"/>
          <p:cNvSpPr/>
          <p:nvPr/>
        </p:nvSpPr>
        <p:spPr>
          <a:xfrm>
            <a:off x="411480" y="960120"/>
            <a:ext cx="5303520" cy="2560320"/>
          </a:xfrm>
          <a:prstGeom prst="rect">
            <a:avLst/>
          </a:prstGeom>
          <a:noFill/>
        </p:spPr>
        <p:txBody>
          <a:bodyPr wrap="square" lIns="50800" tIns="50800" rIns="50800" bIns="50800" rtlCol="0" anchor="t"/>
          <a:lstStyle/>
          <a:p>
            <a:pPr marL="0" indent="0">
              <a:buNone/>
            </a:pPr>
            <a:r>
              <a:rPr lang="en-US" sz="1300" dirty="0">
                <a:solidFill>
                  <a:srgbClr val="F0F0F0"/>
                </a:solidFill>
                <a:latin typeface="Calibri" panose="020F0502020204030204" pitchFamily="34" charset="0"/>
                <a:ea typeface="Calibri" panose="020F0502020204030204" pitchFamily="34" charset="-122"/>
                <a:cs typeface="Calibri" panose="020F0502020204030204" pitchFamily="34" charset="-120"/>
              </a:rPr>
              <a:t>Merawat tanaman bukan hal yang mudah, terutama bagi kamu yang sibuk atau sering lupa menyiram. Terlalu sedikit air membuat tanaman layu, tapi terlalu banyak justru merusaknya.</a:t>
            </a:r>
            <a:endParaRPr lang="en-US" sz="1300" dirty="0"/>
          </a:p>
          <a:p>
            <a:pPr marL="0" indent="0">
              <a:buNone/>
            </a:pPr>
            <a:endParaRPr lang="en-US" sz="1300" dirty="0"/>
          </a:p>
          <a:p>
            <a:pPr marL="0" indent="0">
              <a:buNone/>
            </a:pPr>
            <a:r>
              <a:rPr lang="en-US" sz="1300" dirty="0">
                <a:solidFill>
                  <a:srgbClr val="F0F0F0"/>
                </a:solidFill>
                <a:latin typeface="Calibri" panose="020F0502020204030204" pitchFamily="34" charset="0"/>
                <a:ea typeface="Calibri" panose="020F0502020204030204" pitchFamily="34" charset="-122"/>
                <a:cs typeface="Calibri" panose="020F0502020204030204" pitchFamily="34" charset="-120"/>
              </a:rPr>
              <a:t>Smart Plant Guardian hadir </a:t>
            </a:r>
            <a:r>
              <a:rPr lang="en-US" sz="1300" dirty="0" err="1">
                <a:solidFill>
                  <a:srgbClr val="F0F0F0"/>
                </a:solidFill>
                <a:latin typeface="Calibri" panose="020F0502020204030204" pitchFamily="34" charset="0"/>
                <a:ea typeface="Calibri" panose="020F0502020204030204" pitchFamily="34" charset="-122"/>
                <a:cs typeface="Calibri" panose="020F0502020204030204" pitchFamily="34" charset="-120"/>
              </a:rPr>
              <a:t>sebagai</a:t>
            </a:r>
            <a:r>
              <a:rPr lang="en-US" sz="1300" dirty="0">
                <a:solidFill>
                  <a:srgbClr val="F0F0F0"/>
                </a:solidFill>
                <a:latin typeface="Calibri" panose="020F0502020204030204" pitchFamily="34" charset="0"/>
                <a:ea typeface="Calibri" panose="020F0502020204030204" pitchFamily="34" charset="-122"/>
                <a:cs typeface="Calibri" panose="020F0502020204030204" pitchFamily="34" charset="-120"/>
              </a:rPr>
              <a:t> Solusi, sistem pintar yang secara otomatis memantau kelembapan tanah dan menyiram tanaman tepat saat dibutuhkan. Dilengkapi sensor suhu dan kelembapan udara, sistem ini menyesuaikan jumlah air dengan kondisi lingkungan secara real-time.</a:t>
            </a:r>
            <a:endParaRPr lang="en-US" sz="1300" dirty="0"/>
          </a:p>
        </p:txBody>
      </p:sp>
      <p:sp>
        <p:nvSpPr>
          <p:cNvPr id="6" name="Shape 4"/>
          <p:cNvSpPr/>
          <p:nvPr/>
        </p:nvSpPr>
        <p:spPr>
          <a:xfrm>
            <a:off x="5897880" y="822960"/>
            <a:ext cx="2834640" cy="2729230"/>
          </a:xfrm>
          <a:prstGeom prst="rect">
            <a:avLst/>
          </a:prstGeom>
          <a:solidFill>
            <a:srgbClr val="1F2040"/>
          </a:solidFill>
          <a:ln w="12700">
            <a:solidFill>
              <a:srgbClr val="7C5CBF"/>
            </a:solidFill>
            <a:prstDash val="solid"/>
          </a:ln>
          <a:effectLst>
            <a:outerShdw blurRad="127000" dist="50800" dir="8100000" algn="bl" rotWithShape="0">
              <a:srgbClr val="000000">
                <a:alpha val="30000"/>
              </a:srgbClr>
            </a:outerShdw>
          </a:effectLst>
        </p:spPr>
        <p:txBody>
          <a:bodyPr/>
          <a:lstStyle/>
          <a:p>
            <a:endParaRPr lang="en-ID"/>
          </a:p>
        </p:txBody>
      </p:sp>
      <p:sp>
        <p:nvSpPr>
          <p:cNvPr id="7" name="Text 5"/>
          <p:cNvSpPr/>
          <p:nvPr/>
        </p:nvSpPr>
        <p:spPr>
          <a:xfrm>
            <a:off x="5943600" y="457200"/>
            <a:ext cx="2834640" cy="731520"/>
          </a:xfrm>
          <a:prstGeom prst="rect">
            <a:avLst/>
          </a:prstGeom>
          <a:noFill/>
        </p:spPr>
        <p:txBody>
          <a:bodyPr wrap="square" rtlCol="0" anchor="ctr"/>
          <a:lstStyle/>
          <a:p>
            <a:pPr marL="0" indent="0" algn="ctr">
              <a:buNone/>
            </a:pPr>
            <a:endParaRPr lang="en-US" sz="4000" dirty="0"/>
          </a:p>
        </p:txBody>
      </p:sp>
      <p:sp>
        <p:nvSpPr>
          <p:cNvPr id="8" name="Text 6"/>
          <p:cNvSpPr/>
          <p:nvPr/>
        </p:nvSpPr>
        <p:spPr>
          <a:xfrm>
            <a:off x="5943600" y="1042670"/>
            <a:ext cx="2651760" cy="347472"/>
          </a:xfrm>
          <a:prstGeom prst="rect">
            <a:avLst/>
          </a:prstGeom>
          <a:noFill/>
        </p:spPr>
        <p:txBody>
          <a:bodyPr wrap="square" lIns="0" tIns="0" rIns="0" bIns="0" rtlCol="0" anchor="ctr"/>
          <a:lstStyle/>
          <a:p>
            <a:pPr marL="0" indent="0" algn="ctr">
              <a:buNone/>
            </a:pPr>
            <a:r>
              <a:rPr lang="en-US" sz="1300" b="1" dirty="0">
                <a:solidFill>
                  <a:srgbClr val="4ECDC4"/>
                </a:solidFill>
                <a:latin typeface="Courier New" panose="02070309020205020404" pitchFamily="34" charset="0"/>
                <a:ea typeface="Courier New" panose="02070309020205020404" pitchFamily="34" charset="-122"/>
                <a:cs typeface="Courier New" panose="02070309020205020404" pitchFamily="34" charset="-120"/>
              </a:rPr>
              <a:t>Masalah Utama</a:t>
            </a:r>
            <a:endParaRPr lang="en-US" sz="1300" dirty="0"/>
          </a:p>
        </p:txBody>
      </p:sp>
      <p:grpSp>
        <p:nvGrpSpPr>
          <p:cNvPr id="15" name="Grup 14">
            <a:extLst>
              <a:ext uri="{FF2B5EF4-FFF2-40B4-BE49-F238E27FC236}">
                <a16:creationId xmlns:a16="http://schemas.microsoft.com/office/drawing/2014/main" id="{D8E115F4-475F-7A1A-4D97-F7A76F73A537}"/>
              </a:ext>
            </a:extLst>
          </p:cNvPr>
          <p:cNvGrpSpPr/>
          <p:nvPr/>
        </p:nvGrpSpPr>
        <p:grpSpPr>
          <a:xfrm>
            <a:off x="6244041" y="1600200"/>
            <a:ext cx="2468880" cy="1581912"/>
            <a:chOff x="6126480" y="1600200"/>
            <a:chExt cx="2468880" cy="1581912"/>
          </a:xfrm>
        </p:grpSpPr>
        <p:sp>
          <p:nvSpPr>
            <p:cNvPr id="9" name="Text 7"/>
            <p:cNvSpPr/>
            <p:nvPr/>
          </p:nvSpPr>
          <p:spPr>
            <a:xfrm>
              <a:off x="6126480" y="1600200"/>
              <a:ext cx="2468880" cy="347472"/>
            </a:xfrm>
            <a:prstGeom prst="rect">
              <a:avLst/>
            </a:prstGeom>
            <a:noFill/>
          </p:spPr>
          <p:txBody>
            <a:bodyPr wrap="square" lIns="0" tIns="0" rIns="0" bIns="0" rtlCol="0" anchor="ctr"/>
            <a:lstStyle/>
            <a:p>
              <a:pPr marL="0" indent="0">
                <a:buNone/>
              </a:pPr>
              <a:r>
                <a:rPr lang="en-US" sz="1100" dirty="0">
                  <a:solidFill>
                    <a:srgbClr val="F0F0F0"/>
                  </a:solidFill>
                  <a:latin typeface="Calibri" panose="020F0502020204030204" pitchFamily="34" charset="0"/>
                  <a:ea typeface="Calibri" panose="020F0502020204030204" pitchFamily="34" charset="-122"/>
                  <a:cs typeface="Calibri" panose="020F0502020204030204" pitchFamily="34" charset="-120"/>
                </a:rPr>
                <a:t>• Lupa menyiram tanaman</a:t>
              </a:r>
              <a:endParaRPr lang="en-US" sz="1100" dirty="0"/>
            </a:p>
          </p:txBody>
        </p:sp>
        <p:sp>
          <p:nvSpPr>
            <p:cNvPr id="10" name="Text 8"/>
            <p:cNvSpPr/>
            <p:nvPr/>
          </p:nvSpPr>
          <p:spPr>
            <a:xfrm>
              <a:off x="6126480" y="2011680"/>
              <a:ext cx="2468880" cy="347472"/>
            </a:xfrm>
            <a:prstGeom prst="rect">
              <a:avLst/>
            </a:prstGeom>
            <a:noFill/>
          </p:spPr>
          <p:txBody>
            <a:bodyPr wrap="square" lIns="0" tIns="0" rIns="0" bIns="0" rtlCol="0" anchor="ctr"/>
            <a:lstStyle/>
            <a:p>
              <a:pPr marL="0" indent="0">
                <a:buNone/>
              </a:pPr>
              <a:r>
                <a:rPr lang="en-US" sz="1100" dirty="0">
                  <a:solidFill>
                    <a:srgbClr val="F0F0F0"/>
                  </a:solidFill>
                  <a:latin typeface="Calibri" panose="020F0502020204030204" pitchFamily="34" charset="0"/>
                  <a:ea typeface="Calibri" panose="020F0502020204030204" pitchFamily="34" charset="-122"/>
                  <a:cs typeface="Calibri" panose="020F0502020204030204" pitchFamily="34" charset="-120"/>
                </a:rPr>
                <a:t>• Takaran air tidak tepat</a:t>
              </a:r>
              <a:endParaRPr lang="en-US" sz="1100" dirty="0"/>
            </a:p>
          </p:txBody>
        </p:sp>
        <p:sp>
          <p:nvSpPr>
            <p:cNvPr id="11" name="Text 9"/>
            <p:cNvSpPr/>
            <p:nvPr/>
          </p:nvSpPr>
          <p:spPr>
            <a:xfrm>
              <a:off x="6126480" y="2423160"/>
              <a:ext cx="2468880" cy="347472"/>
            </a:xfrm>
            <a:prstGeom prst="rect">
              <a:avLst/>
            </a:prstGeom>
            <a:noFill/>
          </p:spPr>
          <p:txBody>
            <a:bodyPr wrap="square" lIns="0" tIns="0" rIns="0" bIns="0" rtlCol="0" anchor="ctr"/>
            <a:lstStyle/>
            <a:p>
              <a:pPr marL="0" indent="0">
                <a:buNone/>
              </a:pPr>
              <a:r>
                <a:rPr lang="en-US" sz="1100" dirty="0">
                  <a:solidFill>
                    <a:srgbClr val="F0F0F0"/>
                  </a:solidFill>
                  <a:latin typeface="Calibri" panose="020F0502020204030204" pitchFamily="34" charset="0"/>
                  <a:ea typeface="Calibri" panose="020F0502020204030204" pitchFamily="34" charset="-122"/>
                  <a:cs typeface="Calibri" panose="020F0502020204030204" pitchFamily="34" charset="-120"/>
                </a:rPr>
                <a:t>• Tidak tahu kondisi tanah</a:t>
              </a:r>
              <a:endParaRPr lang="en-US" sz="1100" dirty="0"/>
            </a:p>
          </p:txBody>
        </p:sp>
        <p:sp>
          <p:nvSpPr>
            <p:cNvPr id="12" name="Text 10"/>
            <p:cNvSpPr/>
            <p:nvPr/>
          </p:nvSpPr>
          <p:spPr>
            <a:xfrm>
              <a:off x="6126480" y="2834640"/>
              <a:ext cx="2468880" cy="347472"/>
            </a:xfrm>
            <a:prstGeom prst="rect">
              <a:avLst/>
            </a:prstGeom>
            <a:noFill/>
          </p:spPr>
          <p:txBody>
            <a:bodyPr wrap="square" lIns="0" tIns="0" rIns="0" bIns="0" rtlCol="0" anchor="ctr"/>
            <a:lstStyle/>
            <a:p>
              <a:pPr marL="0" indent="0">
                <a:buNone/>
              </a:pPr>
              <a:r>
                <a:rPr lang="en-US" sz="1100" dirty="0">
                  <a:solidFill>
                    <a:srgbClr val="F0F0F0"/>
                  </a:solidFill>
                  <a:latin typeface="Calibri" panose="020F0502020204030204" pitchFamily="34" charset="0"/>
                  <a:ea typeface="Calibri" panose="020F0502020204030204" pitchFamily="34" charset="-122"/>
                  <a:cs typeface="Calibri" panose="020F0502020204030204" pitchFamily="34" charset="-120"/>
                </a:rPr>
                <a:t>• Tidak ada sistem otomatis</a:t>
              </a:r>
              <a:endParaRPr lang="en-US" sz="1100" dirty="0"/>
            </a:p>
          </p:txBody>
        </p:sp>
      </p:grpSp>
      <p:sp>
        <p:nvSpPr>
          <p:cNvPr id="13" name="Shape 11"/>
          <p:cNvSpPr/>
          <p:nvPr/>
        </p:nvSpPr>
        <p:spPr>
          <a:xfrm>
            <a:off x="411480" y="3657600"/>
            <a:ext cx="8321040" cy="804672"/>
          </a:xfrm>
          <a:prstGeom prst="rect">
            <a:avLst/>
          </a:prstGeom>
          <a:solidFill>
            <a:srgbClr val="252545"/>
          </a:solidFill>
          <a:ln w="12700">
            <a:solidFill>
              <a:srgbClr val="7C5CBF"/>
            </a:solidFill>
            <a:prstDash val="solid"/>
          </a:ln>
          <a:effectLst>
            <a:outerShdw blurRad="127000" dist="50800" dir="8100000" algn="bl" rotWithShape="0">
              <a:srgbClr val="000000">
                <a:alpha val="30000"/>
              </a:srgbClr>
            </a:outerShdw>
          </a:effectLst>
        </p:spPr>
        <p:txBody>
          <a:bodyPr/>
          <a:lstStyle/>
          <a:p>
            <a:endParaRPr lang="en-ID"/>
          </a:p>
        </p:txBody>
      </p:sp>
      <p:sp>
        <p:nvSpPr>
          <p:cNvPr id="14" name="Text 12"/>
          <p:cNvSpPr/>
          <p:nvPr/>
        </p:nvSpPr>
        <p:spPr>
          <a:xfrm>
            <a:off x="502920" y="3657600"/>
            <a:ext cx="8229600" cy="804672"/>
          </a:xfrm>
          <a:prstGeom prst="rect">
            <a:avLst/>
          </a:prstGeom>
          <a:noFill/>
        </p:spPr>
        <p:txBody>
          <a:bodyPr wrap="square" lIns="101600" tIns="101600" rIns="101600" bIns="101600" rtlCol="0" anchor="ctr"/>
          <a:lstStyle/>
          <a:p>
            <a:pPr marL="0" indent="0">
              <a:buNone/>
            </a:pPr>
            <a:r>
              <a:rPr lang="en-US" sz="1200" dirty="0">
                <a:solidFill>
                  <a:srgbClr val="00F5D4"/>
                </a:solidFill>
                <a:latin typeface="Calibri" panose="020F0502020204030204" pitchFamily="34" charset="0"/>
                <a:ea typeface="Calibri" panose="020F0502020204030204" pitchFamily="34" charset="-122"/>
                <a:cs typeface="Calibri" panose="020F0502020204030204" pitchFamily="34" charset="-120"/>
              </a:rPr>
              <a:t>  Dengan Smart Plant Guardian, tanaman akan selalu terhidrasi dengan takaran yang tepat dan otomatis tanpa perlu diingat.</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3131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4ECDC4"/>
          </a:solidFill>
          <a:ln w="12700">
            <a:solidFill>
              <a:srgbClr val="4ECDC4"/>
            </a:solidFill>
            <a:prstDash val="solid"/>
          </a:ln>
        </p:spPr>
        <p:txBody>
          <a:bodyPr/>
          <a:lstStyle/>
          <a:p>
            <a:endParaRPr lang="en-ID"/>
          </a:p>
        </p:txBody>
      </p:sp>
      <p:sp>
        <p:nvSpPr>
          <p:cNvPr id="3" name="Text 1"/>
          <p:cNvSpPr/>
          <p:nvPr/>
        </p:nvSpPr>
        <p:spPr>
          <a:xfrm>
            <a:off x="411480" y="228600"/>
            <a:ext cx="7315200" cy="594360"/>
          </a:xfrm>
          <a:prstGeom prst="rect">
            <a:avLst/>
          </a:prstGeom>
          <a:noFill/>
        </p:spPr>
        <p:txBody>
          <a:bodyPr wrap="square" lIns="0" tIns="0" rIns="0" bIns="0" rtlCol="0" anchor="ctr"/>
          <a:lstStyle/>
          <a:p>
            <a:pPr marL="0" indent="0">
              <a:buNone/>
            </a:pPr>
            <a:r>
              <a:rPr lang="en-US" sz="3200" b="1" dirty="0">
                <a:solidFill>
                  <a:srgbClr val="4ECDC4"/>
                </a:solidFill>
                <a:latin typeface="Courier New" panose="02070309020205020404" pitchFamily="34" charset="0"/>
                <a:ea typeface="Courier New" panose="02070309020205020404" pitchFamily="34" charset="-122"/>
                <a:cs typeface="Courier New" panose="02070309020205020404" pitchFamily="34" charset="-120"/>
              </a:rPr>
              <a:t>PROJECT DESCRIPTION</a:t>
            </a:r>
            <a:endParaRPr lang="en-US" sz="3200" dirty="0"/>
          </a:p>
        </p:txBody>
      </p:sp>
      <p:sp>
        <p:nvSpPr>
          <p:cNvPr id="4" name="Shape 2"/>
          <p:cNvSpPr/>
          <p:nvPr/>
        </p:nvSpPr>
        <p:spPr>
          <a:xfrm>
            <a:off x="411480" y="868680"/>
            <a:ext cx="2194560" cy="36576"/>
          </a:xfrm>
          <a:prstGeom prst="rect">
            <a:avLst/>
          </a:prstGeom>
          <a:solidFill>
            <a:srgbClr val="4ECDC4"/>
          </a:solidFill>
          <a:ln w="12700">
            <a:solidFill>
              <a:srgbClr val="4ECDC4"/>
            </a:solidFill>
            <a:prstDash val="solid"/>
          </a:ln>
        </p:spPr>
        <p:txBody>
          <a:bodyPr/>
          <a:lstStyle/>
          <a:p>
            <a:endParaRPr lang="en-ID"/>
          </a:p>
        </p:txBody>
      </p:sp>
      <p:sp>
        <p:nvSpPr>
          <p:cNvPr id="5" name="Text 3"/>
          <p:cNvSpPr/>
          <p:nvPr/>
        </p:nvSpPr>
        <p:spPr>
          <a:xfrm>
            <a:off x="411480" y="960120"/>
            <a:ext cx="8229600" cy="347472"/>
          </a:xfrm>
          <a:prstGeom prst="rect">
            <a:avLst/>
          </a:prstGeom>
          <a:noFill/>
        </p:spPr>
        <p:txBody>
          <a:bodyPr wrap="square" lIns="0" tIns="0" rIns="0" bIns="0" rtlCol="0" anchor="ctr"/>
          <a:lstStyle/>
          <a:p>
            <a:pPr marL="0" indent="0">
              <a:buNone/>
            </a:pPr>
            <a:r>
              <a:rPr lang="en-US" sz="1400" b="1" dirty="0">
                <a:solidFill>
                  <a:srgbClr val="A0A0B8"/>
                </a:solidFill>
                <a:latin typeface="Calibri" panose="020F0502020204030204" pitchFamily="34" charset="0"/>
                <a:ea typeface="Calibri" panose="020F0502020204030204" pitchFamily="34" charset="-122"/>
                <a:cs typeface="Calibri" panose="020F0502020204030204" pitchFamily="34" charset="-120"/>
              </a:rPr>
              <a:t>Apa yang dilakukan sistem ini?</a:t>
            </a:r>
            <a:endParaRPr lang="en-US" sz="1400" dirty="0"/>
          </a:p>
        </p:txBody>
      </p:sp>
      <p:sp>
        <p:nvSpPr>
          <p:cNvPr id="6" name="Shape 4"/>
          <p:cNvSpPr/>
          <p:nvPr/>
        </p:nvSpPr>
        <p:spPr>
          <a:xfrm>
            <a:off x="274320" y="1417320"/>
            <a:ext cx="2743200" cy="2377440"/>
          </a:xfrm>
          <a:prstGeom prst="rect">
            <a:avLst/>
          </a:prstGeom>
          <a:solidFill>
            <a:srgbClr val="1F2040"/>
          </a:solidFill>
          <a:ln w="12700">
            <a:solidFill>
              <a:srgbClr val="7C5CBF"/>
            </a:solidFill>
            <a:prstDash val="solid"/>
          </a:ln>
          <a:effectLst>
            <a:outerShdw blurRad="127000" dist="50800" dir="8100000" algn="bl" rotWithShape="0">
              <a:srgbClr val="000000">
                <a:alpha val="30000"/>
              </a:srgbClr>
            </a:outerShdw>
          </a:effectLst>
        </p:spPr>
        <p:txBody>
          <a:bodyPr/>
          <a:lstStyle/>
          <a:p>
            <a:endParaRPr lang="en-ID"/>
          </a:p>
        </p:txBody>
      </p:sp>
      <p:sp>
        <p:nvSpPr>
          <p:cNvPr id="7" name="Shape 5"/>
          <p:cNvSpPr/>
          <p:nvPr/>
        </p:nvSpPr>
        <p:spPr>
          <a:xfrm>
            <a:off x="274320" y="1417320"/>
            <a:ext cx="2743200" cy="45720"/>
          </a:xfrm>
          <a:prstGeom prst="rect">
            <a:avLst/>
          </a:prstGeom>
          <a:solidFill>
            <a:srgbClr val="4ECDC4"/>
          </a:solidFill>
          <a:ln w="12700">
            <a:solidFill>
              <a:srgbClr val="4ECDC4"/>
            </a:solidFill>
            <a:prstDash val="solid"/>
          </a:ln>
        </p:spPr>
        <p:txBody>
          <a:bodyPr/>
          <a:lstStyle/>
          <a:p>
            <a:endParaRPr lang="en-ID"/>
          </a:p>
        </p:txBody>
      </p:sp>
      <p:sp>
        <p:nvSpPr>
          <p:cNvPr id="8" name="Text 6"/>
          <p:cNvSpPr/>
          <p:nvPr/>
        </p:nvSpPr>
        <p:spPr>
          <a:xfrm>
            <a:off x="274320" y="1481328"/>
            <a:ext cx="2743200" cy="685800"/>
          </a:xfrm>
          <a:prstGeom prst="rect">
            <a:avLst/>
          </a:prstGeom>
          <a:noFill/>
        </p:spPr>
        <p:txBody>
          <a:bodyPr wrap="square" rtlCol="0" anchor="ctr"/>
          <a:lstStyle/>
          <a:p>
            <a:pPr marL="0" indent="0" algn="ctr">
              <a:buNone/>
            </a:pPr>
            <a:endParaRPr lang="en-US" sz="3000" dirty="0"/>
          </a:p>
        </p:txBody>
      </p:sp>
      <p:sp>
        <p:nvSpPr>
          <p:cNvPr id="11" name="Shape 9"/>
          <p:cNvSpPr/>
          <p:nvPr/>
        </p:nvSpPr>
        <p:spPr>
          <a:xfrm>
            <a:off x="3218688" y="1417320"/>
            <a:ext cx="2743200" cy="2377440"/>
          </a:xfrm>
          <a:prstGeom prst="rect">
            <a:avLst/>
          </a:prstGeom>
          <a:solidFill>
            <a:srgbClr val="1F2040"/>
          </a:solidFill>
          <a:ln w="12700">
            <a:solidFill>
              <a:srgbClr val="7C5CBF"/>
            </a:solidFill>
            <a:prstDash val="solid"/>
          </a:ln>
          <a:effectLst>
            <a:outerShdw blurRad="127000" dist="50800" dir="8100000" algn="bl" rotWithShape="0">
              <a:srgbClr val="000000">
                <a:alpha val="30000"/>
              </a:srgbClr>
            </a:outerShdw>
          </a:effectLst>
        </p:spPr>
        <p:txBody>
          <a:bodyPr/>
          <a:lstStyle/>
          <a:p>
            <a:endParaRPr lang="en-ID"/>
          </a:p>
        </p:txBody>
      </p:sp>
      <p:sp>
        <p:nvSpPr>
          <p:cNvPr id="12" name="Shape 10"/>
          <p:cNvSpPr/>
          <p:nvPr/>
        </p:nvSpPr>
        <p:spPr>
          <a:xfrm>
            <a:off x="3218688" y="1417320"/>
            <a:ext cx="2743200" cy="45720"/>
          </a:xfrm>
          <a:prstGeom prst="rect">
            <a:avLst/>
          </a:prstGeom>
          <a:solidFill>
            <a:srgbClr val="4ECDC4"/>
          </a:solidFill>
          <a:ln w="12700">
            <a:solidFill>
              <a:srgbClr val="4ECDC4"/>
            </a:solidFill>
            <a:prstDash val="solid"/>
          </a:ln>
        </p:spPr>
        <p:txBody>
          <a:bodyPr/>
          <a:lstStyle/>
          <a:p>
            <a:endParaRPr lang="en-ID"/>
          </a:p>
        </p:txBody>
      </p:sp>
      <p:sp>
        <p:nvSpPr>
          <p:cNvPr id="13" name="Text 11"/>
          <p:cNvSpPr/>
          <p:nvPr/>
        </p:nvSpPr>
        <p:spPr>
          <a:xfrm>
            <a:off x="3218688" y="1481328"/>
            <a:ext cx="2743200" cy="685800"/>
          </a:xfrm>
          <a:prstGeom prst="rect">
            <a:avLst/>
          </a:prstGeom>
          <a:noFill/>
        </p:spPr>
        <p:txBody>
          <a:bodyPr wrap="square" rtlCol="0" anchor="ctr"/>
          <a:lstStyle/>
          <a:p>
            <a:pPr marL="0" indent="0" algn="ctr">
              <a:buNone/>
            </a:pPr>
            <a:endParaRPr lang="en-US" sz="3000" dirty="0"/>
          </a:p>
        </p:txBody>
      </p:sp>
      <p:sp>
        <p:nvSpPr>
          <p:cNvPr id="16" name="Shape 14"/>
          <p:cNvSpPr/>
          <p:nvPr/>
        </p:nvSpPr>
        <p:spPr>
          <a:xfrm>
            <a:off x="6163056" y="1417320"/>
            <a:ext cx="2743200" cy="2377440"/>
          </a:xfrm>
          <a:prstGeom prst="rect">
            <a:avLst/>
          </a:prstGeom>
          <a:solidFill>
            <a:srgbClr val="1F2040"/>
          </a:solidFill>
          <a:ln w="12700">
            <a:solidFill>
              <a:srgbClr val="7C5CBF"/>
            </a:solidFill>
            <a:prstDash val="solid"/>
          </a:ln>
          <a:effectLst>
            <a:outerShdw blurRad="127000" dist="50800" dir="8100000" algn="bl" rotWithShape="0">
              <a:srgbClr val="000000">
                <a:alpha val="30000"/>
              </a:srgbClr>
            </a:outerShdw>
          </a:effectLst>
        </p:spPr>
        <p:txBody>
          <a:bodyPr/>
          <a:lstStyle/>
          <a:p>
            <a:endParaRPr lang="en-ID"/>
          </a:p>
        </p:txBody>
      </p:sp>
      <p:sp>
        <p:nvSpPr>
          <p:cNvPr id="17" name="Shape 15"/>
          <p:cNvSpPr/>
          <p:nvPr/>
        </p:nvSpPr>
        <p:spPr>
          <a:xfrm>
            <a:off x="6163056" y="1417320"/>
            <a:ext cx="2743200" cy="45720"/>
          </a:xfrm>
          <a:prstGeom prst="rect">
            <a:avLst/>
          </a:prstGeom>
          <a:solidFill>
            <a:srgbClr val="4ECDC4"/>
          </a:solidFill>
          <a:ln w="12700">
            <a:solidFill>
              <a:srgbClr val="4ECDC4"/>
            </a:solidFill>
            <a:prstDash val="solid"/>
          </a:ln>
        </p:spPr>
        <p:txBody>
          <a:bodyPr/>
          <a:lstStyle/>
          <a:p>
            <a:endParaRPr lang="en-ID"/>
          </a:p>
        </p:txBody>
      </p:sp>
      <p:sp>
        <p:nvSpPr>
          <p:cNvPr id="18" name="Text 16"/>
          <p:cNvSpPr/>
          <p:nvPr/>
        </p:nvSpPr>
        <p:spPr>
          <a:xfrm>
            <a:off x="6163056" y="1481328"/>
            <a:ext cx="2743200" cy="685800"/>
          </a:xfrm>
          <a:prstGeom prst="rect">
            <a:avLst/>
          </a:prstGeom>
          <a:noFill/>
        </p:spPr>
        <p:txBody>
          <a:bodyPr wrap="square" rtlCol="0" anchor="ctr"/>
          <a:lstStyle/>
          <a:p>
            <a:pPr marL="0" indent="0" algn="ctr">
              <a:buNone/>
            </a:pPr>
            <a:endParaRPr lang="en-US" sz="3000" dirty="0"/>
          </a:p>
        </p:txBody>
      </p:sp>
      <p:grpSp>
        <p:nvGrpSpPr>
          <p:cNvPr id="34" name="Grup 33">
            <a:extLst>
              <a:ext uri="{FF2B5EF4-FFF2-40B4-BE49-F238E27FC236}">
                <a16:creationId xmlns:a16="http://schemas.microsoft.com/office/drawing/2014/main" id="{CC01A26B-E192-F3F7-6A7F-354E2AAE4ECE}"/>
              </a:ext>
            </a:extLst>
          </p:cNvPr>
          <p:cNvGrpSpPr/>
          <p:nvPr/>
        </p:nvGrpSpPr>
        <p:grpSpPr>
          <a:xfrm>
            <a:off x="365760" y="1822263"/>
            <a:ext cx="8449056" cy="1388951"/>
            <a:chOff x="365760" y="1639389"/>
            <a:chExt cx="8449056" cy="1388951"/>
          </a:xfrm>
        </p:grpSpPr>
        <p:sp>
          <p:nvSpPr>
            <p:cNvPr id="9" name="Text 7"/>
            <p:cNvSpPr/>
            <p:nvPr/>
          </p:nvSpPr>
          <p:spPr>
            <a:xfrm>
              <a:off x="365760" y="1639389"/>
              <a:ext cx="2560320" cy="347472"/>
            </a:xfrm>
            <a:prstGeom prst="rect">
              <a:avLst/>
            </a:prstGeom>
            <a:noFill/>
          </p:spPr>
          <p:txBody>
            <a:bodyPr wrap="square" lIns="0" tIns="0" rIns="0" bIns="0" rtlCol="0" anchor="ctr"/>
            <a:lstStyle/>
            <a:p>
              <a:pPr marL="0" indent="0" algn="ctr">
                <a:buNone/>
              </a:pPr>
              <a:r>
                <a:rPr lang="en-US" sz="1300" b="1" dirty="0">
                  <a:solidFill>
                    <a:srgbClr val="4ECDC4"/>
                  </a:solidFill>
                  <a:latin typeface="Courier New" panose="02070309020205020404" pitchFamily="34" charset="0"/>
                  <a:ea typeface="Courier New" panose="02070309020205020404" pitchFamily="34" charset="-122"/>
                  <a:cs typeface="Courier New" panose="02070309020205020404" pitchFamily="34" charset="-120"/>
                </a:rPr>
                <a:t>Siram Otomatis</a:t>
              </a:r>
              <a:endParaRPr lang="en-US" sz="1300" dirty="0"/>
            </a:p>
          </p:txBody>
        </p:sp>
        <p:sp>
          <p:nvSpPr>
            <p:cNvPr id="10" name="Text 8"/>
            <p:cNvSpPr/>
            <p:nvPr/>
          </p:nvSpPr>
          <p:spPr>
            <a:xfrm>
              <a:off x="806772" y="2021765"/>
              <a:ext cx="1678297" cy="1006575"/>
            </a:xfrm>
            <a:prstGeom prst="rect">
              <a:avLst/>
            </a:prstGeom>
            <a:noFill/>
          </p:spPr>
          <p:txBody>
            <a:bodyPr wrap="square" lIns="0" tIns="0" rIns="0" bIns="0" rtlCol="0" anchor="ctr"/>
            <a:lstStyle/>
            <a:p>
              <a:pPr marL="0" indent="0" algn="ctr">
                <a:buNone/>
              </a:pPr>
              <a:r>
                <a:rPr lang="en-US" sz="1100" dirty="0">
                  <a:solidFill>
                    <a:srgbClr val="F0F0F0"/>
                  </a:solidFill>
                  <a:latin typeface="Calibri" panose="020F0502020204030204" pitchFamily="34" charset="0"/>
                  <a:ea typeface="Calibri" panose="020F0502020204030204" pitchFamily="34" charset="-122"/>
                  <a:cs typeface="Calibri" panose="020F0502020204030204" pitchFamily="34" charset="-120"/>
                </a:rPr>
                <a:t>Sensor tanah mendeteksi apakah tanah kering. Kalau kering, pompa langsung nyala secara otomatis.</a:t>
              </a:r>
              <a:endParaRPr lang="en-US" sz="1100" dirty="0"/>
            </a:p>
          </p:txBody>
        </p:sp>
        <p:sp>
          <p:nvSpPr>
            <p:cNvPr id="14" name="Text 12"/>
            <p:cNvSpPr/>
            <p:nvPr/>
          </p:nvSpPr>
          <p:spPr>
            <a:xfrm>
              <a:off x="3310128" y="1639389"/>
              <a:ext cx="2560320" cy="347472"/>
            </a:xfrm>
            <a:prstGeom prst="rect">
              <a:avLst/>
            </a:prstGeom>
            <a:noFill/>
          </p:spPr>
          <p:txBody>
            <a:bodyPr wrap="square" lIns="0" tIns="0" rIns="0" bIns="0" rtlCol="0" anchor="ctr"/>
            <a:lstStyle/>
            <a:p>
              <a:pPr marL="0" indent="0" algn="ctr">
                <a:buNone/>
              </a:pPr>
              <a:r>
                <a:rPr lang="en-US" sz="1300" b="1" dirty="0">
                  <a:solidFill>
                    <a:srgbClr val="4ECDC4"/>
                  </a:solidFill>
                  <a:latin typeface="Courier New" panose="02070309020205020404" pitchFamily="34" charset="0"/>
                  <a:ea typeface="Courier New" panose="02070309020205020404" pitchFamily="34" charset="-122"/>
                  <a:cs typeface="Courier New" panose="02070309020205020404" pitchFamily="34" charset="-120"/>
                </a:rPr>
                <a:t>Pantau Lingkungan</a:t>
              </a:r>
              <a:endParaRPr lang="en-US" sz="1300" dirty="0"/>
            </a:p>
          </p:txBody>
        </p:sp>
        <p:sp>
          <p:nvSpPr>
            <p:cNvPr id="15" name="Text 13"/>
            <p:cNvSpPr/>
            <p:nvPr/>
          </p:nvSpPr>
          <p:spPr>
            <a:xfrm>
              <a:off x="3751140" y="2021765"/>
              <a:ext cx="1678297" cy="1006575"/>
            </a:xfrm>
            <a:prstGeom prst="rect">
              <a:avLst/>
            </a:prstGeom>
            <a:noFill/>
          </p:spPr>
          <p:txBody>
            <a:bodyPr wrap="square" lIns="0" tIns="0" rIns="0" bIns="0" rtlCol="0" anchor="ctr"/>
            <a:lstStyle/>
            <a:p>
              <a:pPr marL="0" indent="0" algn="ctr">
                <a:buNone/>
              </a:pPr>
              <a:r>
                <a:rPr lang="en-US" sz="1100" dirty="0">
                  <a:solidFill>
                    <a:srgbClr val="F0F0F0"/>
                  </a:solidFill>
                  <a:latin typeface="Calibri" panose="020F0502020204030204" pitchFamily="34" charset="0"/>
                  <a:ea typeface="Calibri" panose="020F0502020204030204" pitchFamily="34" charset="-122"/>
                  <a:cs typeface="Calibri" panose="020F0502020204030204" pitchFamily="34" charset="-120"/>
                </a:rPr>
                <a:t>Sensor suhu dan kelembapan udara memastikan jumlah air yang diberikan sesuai cuaca hari itu.</a:t>
              </a:r>
              <a:endParaRPr lang="en-US" sz="1100" dirty="0"/>
            </a:p>
          </p:txBody>
        </p:sp>
        <p:sp>
          <p:nvSpPr>
            <p:cNvPr id="19" name="Text 17"/>
            <p:cNvSpPr/>
            <p:nvPr/>
          </p:nvSpPr>
          <p:spPr>
            <a:xfrm>
              <a:off x="6254496" y="1639389"/>
              <a:ext cx="2560320" cy="347472"/>
            </a:xfrm>
            <a:prstGeom prst="rect">
              <a:avLst/>
            </a:prstGeom>
            <a:noFill/>
          </p:spPr>
          <p:txBody>
            <a:bodyPr wrap="square" lIns="0" tIns="0" rIns="0" bIns="0" rtlCol="0" anchor="ctr"/>
            <a:lstStyle/>
            <a:p>
              <a:pPr marL="0" indent="0" algn="ctr">
                <a:buNone/>
              </a:pPr>
              <a:r>
                <a:rPr lang="en-US" sz="1300" b="1" dirty="0">
                  <a:solidFill>
                    <a:srgbClr val="4ECDC4"/>
                  </a:solidFill>
                  <a:latin typeface="Courier New" panose="02070309020205020404" pitchFamily="34" charset="0"/>
                  <a:ea typeface="Courier New" panose="02070309020205020404" pitchFamily="34" charset="-122"/>
                  <a:cs typeface="Courier New" panose="02070309020205020404" pitchFamily="34" charset="-120"/>
                </a:rPr>
                <a:t>Tampil di Layar</a:t>
              </a:r>
              <a:endParaRPr lang="en-US" sz="1300" dirty="0"/>
            </a:p>
          </p:txBody>
        </p:sp>
        <p:sp>
          <p:nvSpPr>
            <p:cNvPr id="20" name="Text 18"/>
            <p:cNvSpPr/>
            <p:nvPr/>
          </p:nvSpPr>
          <p:spPr>
            <a:xfrm>
              <a:off x="6695508" y="2021765"/>
              <a:ext cx="1678297" cy="1006575"/>
            </a:xfrm>
            <a:prstGeom prst="rect">
              <a:avLst/>
            </a:prstGeom>
            <a:noFill/>
          </p:spPr>
          <p:txBody>
            <a:bodyPr wrap="square" lIns="0" tIns="0" rIns="0" bIns="0" rtlCol="0" anchor="ctr"/>
            <a:lstStyle/>
            <a:p>
              <a:pPr marL="0" indent="0" algn="ctr">
                <a:buNone/>
              </a:pPr>
              <a:r>
                <a:rPr lang="en-US" sz="1100" dirty="0">
                  <a:solidFill>
                    <a:srgbClr val="F0F0F0"/>
                  </a:solidFill>
                  <a:latin typeface="Calibri" panose="020F0502020204030204" pitchFamily="34" charset="0"/>
                  <a:ea typeface="Calibri" panose="020F0502020204030204" pitchFamily="34" charset="-122"/>
                  <a:cs typeface="Calibri" panose="020F0502020204030204" pitchFamily="34" charset="-120"/>
                </a:rPr>
                <a:t>LCD menampilkan status kelembapan tanah, suhu, dan kondisi pompa secara real-time.</a:t>
              </a:r>
              <a:endParaRPr lang="en-US" sz="1100" dirty="0"/>
            </a:p>
          </p:txBody>
        </p:sp>
      </p:grpSp>
      <p:sp>
        <p:nvSpPr>
          <p:cNvPr id="21" name="Text 19"/>
          <p:cNvSpPr/>
          <p:nvPr/>
        </p:nvSpPr>
        <p:spPr>
          <a:xfrm>
            <a:off x="411480" y="3913632"/>
            <a:ext cx="1828800" cy="292608"/>
          </a:xfrm>
          <a:prstGeom prst="rect">
            <a:avLst/>
          </a:prstGeom>
          <a:noFill/>
        </p:spPr>
        <p:txBody>
          <a:bodyPr wrap="square" lIns="0" tIns="0" rIns="0" bIns="0" rtlCol="0" anchor="ctr"/>
          <a:lstStyle/>
          <a:p>
            <a:pPr marL="0" indent="0">
              <a:buNone/>
            </a:pPr>
            <a:r>
              <a:rPr lang="en-US" sz="1100" b="1" dirty="0">
                <a:solidFill>
                  <a:srgbClr val="A0A0B8"/>
                </a:solidFill>
                <a:latin typeface="Calibri" panose="020F0502020204030204" pitchFamily="34" charset="0"/>
                <a:ea typeface="Calibri" panose="020F0502020204030204" pitchFamily="34" charset="-122"/>
                <a:cs typeface="Calibri" panose="020F0502020204030204" pitchFamily="34" charset="-120"/>
              </a:rPr>
              <a:t>Fitur Utama:</a:t>
            </a:r>
            <a:endParaRPr lang="en-US" sz="1100" dirty="0"/>
          </a:p>
        </p:txBody>
      </p:sp>
      <p:sp>
        <p:nvSpPr>
          <p:cNvPr id="22" name="Shape 20"/>
          <p:cNvSpPr/>
          <p:nvPr/>
        </p:nvSpPr>
        <p:spPr>
          <a:xfrm>
            <a:off x="411480" y="4224528"/>
            <a:ext cx="1325880" cy="292608"/>
          </a:xfrm>
          <a:prstGeom prst="roundRect">
            <a:avLst>
              <a:gd name="adj" fmla="val 25000"/>
            </a:avLst>
          </a:prstGeom>
          <a:solidFill>
            <a:srgbClr val="7C5CBF"/>
          </a:solidFill>
          <a:ln w="12700">
            <a:solidFill>
              <a:srgbClr val="4ECDC4"/>
            </a:solidFill>
            <a:prstDash val="solid"/>
          </a:ln>
        </p:spPr>
        <p:txBody>
          <a:bodyPr/>
          <a:lstStyle/>
          <a:p>
            <a:endParaRPr lang="en-ID" dirty="0"/>
          </a:p>
        </p:txBody>
      </p:sp>
      <p:sp>
        <p:nvSpPr>
          <p:cNvPr id="23" name="Text 21"/>
          <p:cNvSpPr/>
          <p:nvPr/>
        </p:nvSpPr>
        <p:spPr>
          <a:xfrm>
            <a:off x="411480" y="4224528"/>
            <a:ext cx="1325880" cy="292608"/>
          </a:xfrm>
          <a:prstGeom prst="rect">
            <a:avLst/>
          </a:prstGeom>
          <a:noFill/>
        </p:spPr>
        <p:txBody>
          <a:bodyPr wrap="square" rtlCol="0" anchor="ctr"/>
          <a:lstStyle/>
          <a:p>
            <a:pPr marL="0" indent="0" algn="ctr">
              <a:buNone/>
            </a:pPr>
            <a:r>
              <a:rPr lang="en-US" sz="900" b="1" dirty="0" err="1">
                <a:solidFill>
                  <a:srgbClr val="F0F0F0"/>
                </a:solidFill>
                <a:latin typeface="Calibri" panose="020F0502020204030204" pitchFamily="34" charset="0"/>
                <a:ea typeface="Calibri" panose="020F0502020204030204" pitchFamily="34" charset="-122"/>
                <a:cs typeface="Calibri" panose="020F0502020204030204" pitchFamily="34" charset="-120"/>
              </a:rPr>
              <a:t>Deteksi</a:t>
            </a:r>
            <a:r>
              <a:rPr lang="en-US" sz="900" b="1" dirty="0">
                <a:solidFill>
                  <a:srgbClr val="F0F0F0"/>
                </a:solidFill>
                <a:latin typeface="Calibri" panose="020F0502020204030204" pitchFamily="34" charset="0"/>
                <a:ea typeface="Calibri" panose="020F0502020204030204" pitchFamily="34" charset="-122"/>
                <a:cs typeface="Calibri" panose="020F0502020204030204" pitchFamily="34" charset="-120"/>
              </a:rPr>
              <a:t> </a:t>
            </a:r>
            <a:r>
              <a:rPr lang="en-US" sz="900" b="1" dirty="0" err="1">
                <a:solidFill>
                  <a:srgbClr val="F0F0F0"/>
                </a:solidFill>
                <a:latin typeface="Calibri" panose="020F0502020204030204" pitchFamily="34" charset="0"/>
                <a:ea typeface="Calibri" panose="020F0502020204030204" pitchFamily="34" charset="-122"/>
                <a:cs typeface="Calibri" panose="020F0502020204030204" pitchFamily="34" charset="-120"/>
              </a:rPr>
              <a:t>Kelembapan</a:t>
            </a:r>
            <a:endParaRPr lang="en-US" sz="900" dirty="0"/>
          </a:p>
        </p:txBody>
      </p:sp>
      <p:sp>
        <p:nvSpPr>
          <p:cNvPr id="24" name="Shape 22"/>
          <p:cNvSpPr/>
          <p:nvPr/>
        </p:nvSpPr>
        <p:spPr>
          <a:xfrm>
            <a:off x="1837944" y="4224528"/>
            <a:ext cx="1325880" cy="292608"/>
          </a:xfrm>
          <a:prstGeom prst="roundRect">
            <a:avLst>
              <a:gd name="adj" fmla="val 25000"/>
            </a:avLst>
          </a:prstGeom>
          <a:solidFill>
            <a:srgbClr val="7C5CBF"/>
          </a:solidFill>
          <a:ln w="12700">
            <a:solidFill>
              <a:srgbClr val="4ECDC4"/>
            </a:solidFill>
            <a:prstDash val="solid"/>
          </a:ln>
        </p:spPr>
        <p:txBody>
          <a:bodyPr/>
          <a:lstStyle/>
          <a:p>
            <a:endParaRPr lang="en-ID"/>
          </a:p>
        </p:txBody>
      </p:sp>
      <p:sp>
        <p:nvSpPr>
          <p:cNvPr id="25" name="Text 23"/>
          <p:cNvSpPr/>
          <p:nvPr/>
        </p:nvSpPr>
        <p:spPr>
          <a:xfrm>
            <a:off x="1837944" y="4224528"/>
            <a:ext cx="1325880" cy="292608"/>
          </a:xfrm>
          <a:prstGeom prst="rect">
            <a:avLst/>
          </a:prstGeom>
          <a:noFill/>
        </p:spPr>
        <p:txBody>
          <a:bodyPr wrap="square" rtlCol="0" anchor="ctr"/>
          <a:lstStyle/>
          <a:p>
            <a:pPr marL="0" indent="0" algn="ctr">
              <a:buNone/>
            </a:pPr>
            <a:r>
              <a:rPr lang="en-US" sz="900" b="1" dirty="0">
                <a:solidFill>
                  <a:srgbClr val="F0F0F0"/>
                </a:solidFill>
                <a:latin typeface="Calibri" panose="020F0502020204030204" pitchFamily="34" charset="0"/>
                <a:ea typeface="Calibri" panose="020F0502020204030204" pitchFamily="34" charset="-122"/>
                <a:cs typeface="Calibri" panose="020F0502020204030204" pitchFamily="34" charset="-120"/>
              </a:rPr>
              <a:t>Mode Manual</a:t>
            </a:r>
            <a:endParaRPr lang="en-US" sz="900" dirty="0"/>
          </a:p>
        </p:txBody>
      </p:sp>
      <p:sp>
        <p:nvSpPr>
          <p:cNvPr id="26" name="Shape 24"/>
          <p:cNvSpPr/>
          <p:nvPr/>
        </p:nvSpPr>
        <p:spPr>
          <a:xfrm>
            <a:off x="3264408" y="4224528"/>
            <a:ext cx="1325880" cy="292608"/>
          </a:xfrm>
          <a:prstGeom prst="roundRect">
            <a:avLst>
              <a:gd name="adj" fmla="val 25000"/>
            </a:avLst>
          </a:prstGeom>
          <a:solidFill>
            <a:srgbClr val="7C5CBF"/>
          </a:solidFill>
          <a:ln w="12700">
            <a:solidFill>
              <a:srgbClr val="4ECDC4"/>
            </a:solidFill>
            <a:prstDash val="solid"/>
          </a:ln>
        </p:spPr>
        <p:txBody>
          <a:bodyPr/>
          <a:lstStyle/>
          <a:p>
            <a:endParaRPr lang="en-ID"/>
          </a:p>
        </p:txBody>
      </p:sp>
      <p:sp>
        <p:nvSpPr>
          <p:cNvPr id="27" name="Text 25"/>
          <p:cNvSpPr/>
          <p:nvPr/>
        </p:nvSpPr>
        <p:spPr>
          <a:xfrm>
            <a:off x="3264408" y="4224528"/>
            <a:ext cx="1325880" cy="292608"/>
          </a:xfrm>
          <a:prstGeom prst="rect">
            <a:avLst/>
          </a:prstGeom>
          <a:noFill/>
        </p:spPr>
        <p:txBody>
          <a:bodyPr wrap="square" rtlCol="0" anchor="ctr"/>
          <a:lstStyle/>
          <a:p>
            <a:pPr marL="0" indent="0" algn="ctr">
              <a:buNone/>
            </a:pPr>
            <a:r>
              <a:rPr lang="en-US" sz="900" b="1" dirty="0">
                <a:solidFill>
                  <a:srgbClr val="F0F0F0"/>
                </a:solidFill>
                <a:latin typeface="Calibri" panose="020F0502020204030204" pitchFamily="34" charset="0"/>
                <a:ea typeface="Calibri" panose="020F0502020204030204" pitchFamily="34" charset="-122"/>
                <a:cs typeface="Calibri" panose="020F0502020204030204" pitchFamily="34" charset="-120"/>
              </a:rPr>
              <a:t>Alert Bunyi</a:t>
            </a:r>
            <a:endParaRPr lang="en-US" sz="900" dirty="0"/>
          </a:p>
        </p:txBody>
      </p:sp>
      <p:sp>
        <p:nvSpPr>
          <p:cNvPr id="28" name="Shape 26"/>
          <p:cNvSpPr/>
          <p:nvPr/>
        </p:nvSpPr>
        <p:spPr>
          <a:xfrm>
            <a:off x="4690872" y="4224528"/>
            <a:ext cx="1325880" cy="292608"/>
          </a:xfrm>
          <a:prstGeom prst="roundRect">
            <a:avLst>
              <a:gd name="adj" fmla="val 25000"/>
            </a:avLst>
          </a:prstGeom>
          <a:solidFill>
            <a:srgbClr val="7C5CBF"/>
          </a:solidFill>
          <a:ln w="12700">
            <a:solidFill>
              <a:srgbClr val="4ECDC4"/>
            </a:solidFill>
            <a:prstDash val="solid"/>
          </a:ln>
        </p:spPr>
        <p:txBody>
          <a:bodyPr/>
          <a:lstStyle/>
          <a:p>
            <a:endParaRPr lang="en-ID"/>
          </a:p>
        </p:txBody>
      </p:sp>
      <p:sp>
        <p:nvSpPr>
          <p:cNvPr id="29" name="Text 27"/>
          <p:cNvSpPr/>
          <p:nvPr/>
        </p:nvSpPr>
        <p:spPr>
          <a:xfrm>
            <a:off x="4690872" y="4224528"/>
            <a:ext cx="1325880" cy="292608"/>
          </a:xfrm>
          <a:prstGeom prst="rect">
            <a:avLst/>
          </a:prstGeom>
          <a:noFill/>
        </p:spPr>
        <p:txBody>
          <a:bodyPr wrap="square" rtlCol="0" anchor="ctr"/>
          <a:lstStyle/>
          <a:p>
            <a:pPr marL="0" indent="0" algn="ctr">
              <a:buNone/>
            </a:pPr>
            <a:r>
              <a:rPr lang="en-US" sz="900" b="1" dirty="0" err="1">
                <a:solidFill>
                  <a:srgbClr val="F0F0F0"/>
                </a:solidFill>
                <a:latin typeface="Calibri" panose="020F0502020204030204" pitchFamily="34" charset="0"/>
                <a:ea typeface="Calibri" panose="020F0502020204030204" pitchFamily="34" charset="-122"/>
                <a:cs typeface="Calibri" panose="020F0502020204030204" pitchFamily="34" charset="-120"/>
              </a:rPr>
              <a:t>Deteksi</a:t>
            </a:r>
            <a:r>
              <a:rPr lang="en-US" sz="900" b="1" dirty="0">
                <a:solidFill>
                  <a:srgbClr val="F0F0F0"/>
                </a:solidFill>
                <a:latin typeface="Calibri" panose="020F0502020204030204" pitchFamily="34" charset="0"/>
                <a:ea typeface="Calibri" panose="020F0502020204030204" pitchFamily="34" charset="-122"/>
                <a:cs typeface="Calibri" panose="020F0502020204030204" pitchFamily="34" charset="-120"/>
              </a:rPr>
              <a:t> </a:t>
            </a:r>
            <a:r>
              <a:rPr lang="en-US" sz="900" b="1" dirty="0" err="1">
                <a:solidFill>
                  <a:srgbClr val="F0F0F0"/>
                </a:solidFill>
                <a:latin typeface="Calibri" panose="020F0502020204030204" pitchFamily="34" charset="0"/>
                <a:ea typeface="Calibri" panose="020F0502020204030204" pitchFamily="34" charset="-122"/>
                <a:cs typeface="Calibri" panose="020F0502020204030204" pitchFamily="34" charset="-120"/>
              </a:rPr>
              <a:t>Suhu</a:t>
            </a:r>
            <a:endParaRPr lang="en-US" sz="900" dirty="0"/>
          </a:p>
        </p:txBody>
      </p:sp>
      <p:sp>
        <p:nvSpPr>
          <p:cNvPr id="30" name="Shape 28"/>
          <p:cNvSpPr/>
          <p:nvPr/>
        </p:nvSpPr>
        <p:spPr>
          <a:xfrm>
            <a:off x="6117336" y="4224528"/>
            <a:ext cx="1325880" cy="292608"/>
          </a:xfrm>
          <a:prstGeom prst="roundRect">
            <a:avLst>
              <a:gd name="adj" fmla="val 25000"/>
            </a:avLst>
          </a:prstGeom>
          <a:solidFill>
            <a:srgbClr val="7C5CBF"/>
          </a:solidFill>
          <a:ln w="12700">
            <a:solidFill>
              <a:srgbClr val="4ECDC4"/>
            </a:solidFill>
            <a:prstDash val="solid"/>
          </a:ln>
        </p:spPr>
        <p:txBody>
          <a:bodyPr/>
          <a:lstStyle/>
          <a:p>
            <a:endParaRPr lang="en-ID"/>
          </a:p>
        </p:txBody>
      </p:sp>
      <p:sp>
        <p:nvSpPr>
          <p:cNvPr id="31" name="Text 29"/>
          <p:cNvSpPr/>
          <p:nvPr/>
        </p:nvSpPr>
        <p:spPr>
          <a:xfrm>
            <a:off x="6117336" y="4224528"/>
            <a:ext cx="1325880" cy="292608"/>
          </a:xfrm>
          <a:prstGeom prst="rect">
            <a:avLst/>
          </a:prstGeom>
          <a:noFill/>
        </p:spPr>
        <p:txBody>
          <a:bodyPr wrap="square" rtlCol="0" anchor="ctr"/>
          <a:lstStyle/>
          <a:p>
            <a:pPr marL="0" indent="0" algn="ctr">
              <a:buNone/>
            </a:pPr>
            <a:r>
              <a:rPr lang="en-US" sz="900" b="1" dirty="0">
                <a:solidFill>
                  <a:srgbClr val="F0F0F0"/>
                </a:solidFill>
                <a:latin typeface="Calibri" panose="020F0502020204030204" pitchFamily="34" charset="0"/>
                <a:ea typeface="Calibri" panose="020F0502020204030204" pitchFamily="34" charset="-122"/>
                <a:cs typeface="Calibri" panose="020F0502020204030204" pitchFamily="34" charset="-120"/>
              </a:rPr>
              <a:t>Pantau Suhu</a:t>
            </a:r>
            <a:endParaRPr lang="en-US" sz="900" dirty="0"/>
          </a:p>
        </p:txBody>
      </p:sp>
      <p:sp>
        <p:nvSpPr>
          <p:cNvPr id="32" name="Shape 30"/>
          <p:cNvSpPr/>
          <p:nvPr/>
        </p:nvSpPr>
        <p:spPr>
          <a:xfrm>
            <a:off x="7543800" y="4224528"/>
            <a:ext cx="1325880" cy="292608"/>
          </a:xfrm>
          <a:prstGeom prst="roundRect">
            <a:avLst>
              <a:gd name="adj" fmla="val 25000"/>
            </a:avLst>
          </a:prstGeom>
          <a:solidFill>
            <a:srgbClr val="7C5CBF"/>
          </a:solidFill>
          <a:ln w="12700">
            <a:solidFill>
              <a:srgbClr val="4ECDC4"/>
            </a:solidFill>
            <a:prstDash val="solid"/>
          </a:ln>
        </p:spPr>
        <p:txBody>
          <a:bodyPr/>
          <a:lstStyle/>
          <a:p>
            <a:endParaRPr lang="en-ID"/>
          </a:p>
        </p:txBody>
      </p:sp>
      <p:sp>
        <p:nvSpPr>
          <p:cNvPr id="33" name="Text 31"/>
          <p:cNvSpPr/>
          <p:nvPr/>
        </p:nvSpPr>
        <p:spPr>
          <a:xfrm>
            <a:off x="7543800" y="4224528"/>
            <a:ext cx="1325880" cy="292608"/>
          </a:xfrm>
          <a:prstGeom prst="rect">
            <a:avLst/>
          </a:prstGeom>
          <a:noFill/>
        </p:spPr>
        <p:txBody>
          <a:bodyPr wrap="square" rtlCol="0" anchor="ctr"/>
          <a:lstStyle/>
          <a:p>
            <a:pPr marL="0" indent="0" algn="ctr">
              <a:buNone/>
            </a:pPr>
            <a:r>
              <a:rPr lang="en-US" sz="900" b="1" dirty="0">
                <a:solidFill>
                  <a:srgbClr val="F0F0F0"/>
                </a:solidFill>
                <a:latin typeface="Calibri" panose="020F0502020204030204" pitchFamily="34" charset="0"/>
                <a:ea typeface="Calibri" panose="020F0502020204030204" pitchFamily="34" charset="-122"/>
                <a:cs typeface="Calibri" panose="020F0502020204030204" pitchFamily="34" charset="-120"/>
              </a:rPr>
              <a:t>Siram </a:t>
            </a:r>
            <a:r>
              <a:rPr lang="en-US" sz="900" b="1" dirty="0" err="1">
                <a:solidFill>
                  <a:srgbClr val="F0F0F0"/>
                </a:solidFill>
                <a:latin typeface="Calibri" panose="020F0502020204030204" pitchFamily="34" charset="0"/>
                <a:ea typeface="Calibri" panose="020F0502020204030204" pitchFamily="34" charset="-122"/>
                <a:cs typeface="Calibri" panose="020F0502020204030204" pitchFamily="34" charset="-120"/>
              </a:rPr>
              <a:t>Otomatis</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3131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4ECDC4"/>
          </a:solidFill>
          <a:ln w="12700">
            <a:solidFill>
              <a:srgbClr val="4ECDC4"/>
            </a:solidFill>
            <a:prstDash val="solid"/>
          </a:ln>
        </p:spPr>
        <p:txBody>
          <a:bodyPr/>
          <a:lstStyle/>
          <a:p>
            <a:endParaRPr lang="en-ID"/>
          </a:p>
        </p:txBody>
      </p:sp>
      <p:sp>
        <p:nvSpPr>
          <p:cNvPr id="3" name="Text 1"/>
          <p:cNvSpPr/>
          <p:nvPr/>
        </p:nvSpPr>
        <p:spPr>
          <a:xfrm>
            <a:off x="411480" y="228600"/>
            <a:ext cx="4572000" cy="594360"/>
          </a:xfrm>
          <a:prstGeom prst="rect">
            <a:avLst/>
          </a:prstGeom>
          <a:noFill/>
        </p:spPr>
        <p:txBody>
          <a:bodyPr wrap="square" lIns="0" tIns="0" rIns="0" bIns="0" rtlCol="0" anchor="ctr"/>
          <a:lstStyle/>
          <a:p>
            <a:pPr marL="0" indent="0">
              <a:buNone/>
            </a:pPr>
            <a:r>
              <a:rPr lang="en-US" sz="3200" b="1" dirty="0">
                <a:solidFill>
                  <a:srgbClr val="4ECDC4"/>
                </a:solidFill>
                <a:latin typeface="Courier New" panose="02070309020205020404" pitchFamily="34" charset="0"/>
                <a:ea typeface="Courier New" panose="02070309020205020404" pitchFamily="34" charset="-122"/>
                <a:cs typeface="Courier New" panose="02070309020205020404" pitchFamily="34" charset="-120"/>
              </a:rPr>
              <a:t>OBJECTIVES</a:t>
            </a:r>
            <a:endParaRPr lang="en-US" sz="3200" dirty="0"/>
          </a:p>
        </p:txBody>
      </p:sp>
      <p:sp>
        <p:nvSpPr>
          <p:cNvPr id="4" name="Shape 2"/>
          <p:cNvSpPr/>
          <p:nvPr/>
        </p:nvSpPr>
        <p:spPr>
          <a:xfrm>
            <a:off x="411480" y="868680"/>
            <a:ext cx="1097280" cy="36576"/>
          </a:xfrm>
          <a:prstGeom prst="rect">
            <a:avLst/>
          </a:prstGeom>
          <a:solidFill>
            <a:srgbClr val="4ECDC4"/>
          </a:solidFill>
          <a:ln w="12700">
            <a:solidFill>
              <a:srgbClr val="4ECDC4"/>
            </a:solidFill>
            <a:prstDash val="solid"/>
          </a:ln>
        </p:spPr>
        <p:txBody>
          <a:bodyPr/>
          <a:lstStyle/>
          <a:p>
            <a:endParaRPr lang="en-ID"/>
          </a:p>
        </p:txBody>
      </p:sp>
      <p:sp>
        <p:nvSpPr>
          <p:cNvPr id="5" name="Text 3"/>
          <p:cNvSpPr/>
          <p:nvPr/>
        </p:nvSpPr>
        <p:spPr>
          <a:xfrm>
            <a:off x="411480" y="960120"/>
            <a:ext cx="8229600" cy="329184"/>
          </a:xfrm>
          <a:prstGeom prst="rect">
            <a:avLst/>
          </a:prstGeom>
          <a:noFill/>
        </p:spPr>
        <p:txBody>
          <a:bodyPr wrap="square" lIns="0" tIns="0" rIns="0" bIns="0" rtlCol="0" anchor="ctr"/>
          <a:lstStyle/>
          <a:p>
            <a:pPr marL="0" indent="0">
              <a:buNone/>
            </a:pPr>
            <a:r>
              <a:rPr lang="en-US" sz="1200" b="1" dirty="0">
                <a:solidFill>
                  <a:srgbClr val="A0A0B8"/>
                </a:solidFill>
                <a:latin typeface="Calibri" panose="020F0502020204030204" pitchFamily="34" charset="0"/>
                <a:ea typeface="Calibri" panose="020F0502020204030204" pitchFamily="34" charset="-122"/>
                <a:cs typeface="Calibri" panose="020F0502020204030204" pitchFamily="34" charset="-120"/>
              </a:rPr>
              <a:t>Tujuan dari proyek ini adalah sebagai berikut:</a:t>
            </a:r>
            <a:endParaRPr lang="en-US" sz="1200" dirty="0"/>
          </a:p>
        </p:txBody>
      </p:sp>
      <p:sp>
        <p:nvSpPr>
          <p:cNvPr id="6" name="Shape 4"/>
          <p:cNvSpPr/>
          <p:nvPr/>
        </p:nvSpPr>
        <p:spPr>
          <a:xfrm>
            <a:off x="320040" y="1371600"/>
            <a:ext cx="4251960" cy="1005840"/>
          </a:xfrm>
          <a:prstGeom prst="rect">
            <a:avLst/>
          </a:prstGeom>
          <a:solidFill>
            <a:srgbClr val="1F2040"/>
          </a:solidFill>
          <a:ln w="12700">
            <a:solidFill>
              <a:srgbClr val="7C5CBF"/>
            </a:solidFill>
            <a:prstDash val="solid"/>
          </a:ln>
          <a:effectLst>
            <a:outerShdw blurRad="127000" dist="50800" dir="8100000" algn="bl" rotWithShape="0">
              <a:srgbClr val="000000">
                <a:alpha val="30000"/>
              </a:srgbClr>
            </a:outerShdw>
          </a:effectLst>
        </p:spPr>
        <p:txBody>
          <a:bodyPr/>
          <a:lstStyle/>
          <a:p>
            <a:endParaRPr lang="en-ID"/>
          </a:p>
        </p:txBody>
      </p:sp>
      <p:sp>
        <p:nvSpPr>
          <p:cNvPr id="7" name="Shape 5"/>
          <p:cNvSpPr/>
          <p:nvPr/>
        </p:nvSpPr>
        <p:spPr>
          <a:xfrm>
            <a:off x="320040" y="1371600"/>
            <a:ext cx="54864" cy="1005840"/>
          </a:xfrm>
          <a:prstGeom prst="rect">
            <a:avLst/>
          </a:prstGeom>
          <a:solidFill>
            <a:srgbClr val="4ECDC4"/>
          </a:solidFill>
          <a:ln w="12700">
            <a:solidFill>
              <a:srgbClr val="4ECDC4"/>
            </a:solidFill>
            <a:prstDash val="solid"/>
          </a:ln>
        </p:spPr>
        <p:txBody>
          <a:bodyPr/>
          <a:lstStyle/>
          <a:p>
            <a:endParaRPr lang="en-ID"/>
          </a:p>
        </p:txBody>
      </p:sp>
      <p:sp>
        <p:nvSpPr>
          <p:cNvPr id="8" name="Text 6"/>
          <p:cNvSpPr/>
          <p:nvPr/>
        </p:nvSpPr>
        <p:spPr>
          <a:xfrm>
            <a:off x="429768" y="1417320"/>
            <a:ext cx="457200" cy="365760"/>
          </a:xfrm>
          <a:prstGeom prst="rect">
            <a:avLst/>
          </a:prstGeom>
          <a:noFill/>
        </p:spPr>
        <p:txBody>
          <a:bodyPr wrap="square" lIns="0" tIns="0" rIns="0" bIns="0" rtlCol="0" anchor="ctr"/>
          <a:lstStyle/>
          <a:p>
            <a:pPr marL="0" indent="0">
              <a:buNone/>
            </a:pPr>
            <a:r>
              <a:rPr lang="en-US" sz="1800" b="1" dirty="0">
                <a:solidFill>
                  <a:srgbClr val="4ECDC4"/>
                </a:solidFill>
                <a:latin typeface="Courier New" panose="02070309020205020404" pitchFamily="34" charset="0"/>
                <a:ea typeface="Courier New" panose="02070309020205020404" pitchFamily="34" charset="-122"/>
                <a:cs typeface="Courier New" panose="02070309020205020404" pitchFamily="34" charset="-120"/>
              </a:rPr>
              <a:t>01</a:t>
            </a:r>
            <a:endParaRPr lang="en-US" sz="1800" dirty="0"/>
          </a:p>
        </p:txBody>
      </p:sp>
      <p:sp>
        <p:nvSpPr>
          <p:cNvPr id="9" name="Text 7"/>
          <p:cNvSpPr/>
          <p:nvPr/>
        </p:nvSpPr>
        <p:spPr>
          <a:xfrm>
            <a:off x="941832" y="1444752"/>
            <a:ext cx="3520440" cy="868680"/>
          </a:xfrm>
          <a:prstGeom prst="rect">
            <a:avLst/>
          </a:prstGeom>
          <a:noFill/>
        </p:spPr>
        <p:txBody>
          <a:bodyPr wrap="square" lIns="0" tIns="0" rIns="0" bIns="0" rtlCol="0" anchor="ctr"/>
          <a:lstStyle/>
          <a:p>
            <a:pPr marL="0" indent="0">
              <a:buNone/>
            </a:pPr>
            <a:r>
              <a:rPr lang="en-US" sz="1100" dirty="0">
                <a:solidFill>
                  <a:srgbClr val="F0F0F0"/>
                </a:solidFill>
                <a:latin typeface="Calibri" panose="020F0502020204030204" pitchFamily="34" charset="0"/>
                <a:ea typeface="Calibri" panose="020F0502020204030204" pitchFamily="34" charset="-122"/>
                <a:cs typeface="Calibri" panose="020F0502020204030204" pitchFamily="34" charset="-120"/>
              </a:rPr>
              <a:t>Menyiram tanaman secara otomatis saat tanah mulai kering, tanpa perlu campur tangan manusia.</a:t>
            </a:r>
            <a:endParaRPr lang="en-US" sz="1100" dirty="0"/>
          </a:p>
        </p:txBody>
      </p:sp>
      <p:sp>
        <p:nvSpPr>
          <p:cNvPr id="10" name="Shape 8"/>
          <p:cNvSpPr/>
          <p:nvPr/>
        </p:nvSpPr>
        <p:spPr>
          <a:xfrm>
            <a:off x="4782312" y="1371600"/>
            <a:ext cx="4251960" cy="1005840"/>
          </a:xfrm>
          <a:prstGeom prst="rect">
            <a:avLst/>
          </a:prstGeom>
          <a:solidFill>
            <a:srgbClr val="1F2040"/>
          </a:solidFill>
          <a:ln w="12700">
            <a:solidFill>
              <a:srgbClr val="7C5CBF"/>
            </a:solidFill>
            <a:prstDash val="solid"/>
          </a:ln>
          <a:effectLst>
            <a:outerShdw blurRad="127000" dist="50800" dir="8100000" algn="bl" rotWithShape="0">
              <a:srgbClr val="000000">
                <a:alpha val="30000"/>
              </a:srgbClr>
            </a:outerShdw>
          </a:effectLst>
        </p:spPr>
        <p:txBody>
          <a:bodyPr/>
          <a:lstStyle/>
          <a:p>
            <a:endParaRPr lang="en-ID"/>
          </a:p>
        </p:txBody>
      </p:sp>
      <p:sp>
        <p:nvSpPr>
          <p:cNvPr id="11" name="Shape 9"/>
          <p:cNvSpPr/>
          <p:nvPr/>
        </p:nvSpPr>
        <p:spPr>
          <a:xfrm>
            <a:off x="4782312" y="1371600"/>
            <a:ext cx="54864" cy="1005840"/>
          </a:xfrm>
          <a:prstGeom prst="rect">
            <a:avLst/>
          </a:prstGeom>
          <a:solidFill>
            <a:srgbClr val="00F5D4"/>
          </a:solidFill>
          <a:ln w="12700">
            <a:solidFill>
              <a:srgbClr val="00F5D4"/>
            </a:solidFill>
            <a:prstDash val="solid"/>
          </a:ln>
        </p:spPr>
        <p:txBody>
          <a:bodyPr/>
          <a:lstStyle/>
          <a:p>
            <a:endParaRPr lang="en-ID"/>
          </a:p>
        </p:txBody>
      </p:sp>
      <p:sp>
        <p:nvSpPr>
          <p:cNvPr id="12" name="Text 10"/>
          <p:cNvSpPr/>
          <p:nvPr/>
        </p:nvSpPr>
        <p:spPr>
          <a:xfrm>
            <a:off x="4892040" y="1417320"/>
            <a:ext cx="457200" cy="365760"/>
          </a:xfrm>
          <a:prstGeom prst="rect">
            <a:avLst/>
          </a:prstGeom>
          <a:noFill/>
        </p:spPr>
        <p:txBody>
          <a:bodyPr wrap="square" lIns="0" tIns="0" rIns="0" bIns="0" rtlCol="0" anchor="ctr"/>
          <a:lstStyle/>
          <a:p>
            <a:pPr marL="0" indent="0">
              <a:buNone/>
            </a:pPr>
            <a:r>
              <a:rPr lang="en-US" sz="1800" b="1" dirty="0">
                <a:solidFill>
                  <a:srgbClr val="00F5D4"/>
                </a:solidFill>
                <a:latin typeface="Courier New" panose="02070309020205020404" pitchFamily="34" charset="0"/>
                <a:ea typeface="Courier New" panose="02070309020205020404" pitchFamily="34" charset="-122"/>
                <a:cs typeface="Courier New" panose="02070309020205020404" pitchFamily="34" charset="-120"/>
              </a:rPr>
              <a:t>02</a:t>
            </a:r>
            <a:endParaRPr lang="en-US" sz="1800" dirty="0"/>
          </a:p>
        </p:txBody>
      </p:sp>
      <p:sp>
        <p:nvSpPr>
          <p:cNvPr id="13" name="Text 11"/>
          <p:cNvSpPr/>
          <p:nvPr/>
        </p:nvSpPr>
        <p:spPr>
          <a:xfrm>
            <a:off x="5404104" y="1444752"/>
            <a:ext cx="3520440" cy="868680"/>
          </a:xfrm>
          <a:prstGeom prst="rect">
            <a:avLst/>
          </a:prstGeom>
          <a:noFill/>
        </p:spPr>
        <p:txBody>
          <a:bodyPr wrap="square" lIns="0" tIns="0" rIns="0" bIns="0" rtlCol="0" anchor="ctr"/>
          <a:lstStyle/>
          <a:p>
            <a:pPr marL="0" indent="0">
              <a:buNone/>
            </a:pPr>
            <a:r>
              <a:rPr lang="en-US" sz="1100" dirty="0">
                <a:solidFill>
                  <a:srgbClr val="F0F0F0"/>
                </a:solidFill>
                <a:latin typeface="Calibri" panose="020F0502020204030204" pitchFamily="34" charset="0"/>
                <a:ea typeface="Calibri" panose="020F0502020204030204" pitchFamily="34" charset="-122"/>
                <a:cs typeface="Calibri" panose="020F0502020204030204" pitchFamily="34" charset="-120"/>
              </a:rPr>
              <a:t>Menyesuaikan jumlah air yang diberikan berdasarkan suhu udara dan kelembapan sekitar.</a:t>
            </a:r>
            <a:endParaRPr lang="en-US" sz="1100" dirty="0"/>
          </a:p>
        </p:txBody>
      </p:sp>
      <p:sp>
        <p:nvSpPr>
          <p:cNvPr id="14" name="Shape 12"/>
          <p:cNvSpPr/>
          <p:nvPr/>
        </p:nvSpPr>
        <p:spPr>
          <a:xfrm>
            <a:off x="320040" y="2560320"/>
            <a:ext cx="4251960" cy="1005840"/>
          </a:xfrm>
          <a:prstGeom prst="rect">
            <a:avLst/>
          </a:prstGeom>
          <a:solidFill>
            <a:srgbClr val="1F2040"/>
          </a:solidFill>
          <a:ln w="12700">
            <a:solidFill>
              <a:srgbClr val="7C5CBF"/>
            </a:solidFill>
            <a:prstDash val="solid"/>
          </a:ln>
          <a:effectLst>
            <a:outerShdw blurRad="127000" dist="50800" dir="8100000" algn="bl" rotWithShape="0">
              <a:srgbClr val="000000">
                <a:alpha val="30000"/>
              </a:srgbClr>
            </a:outerShdw>
          </a:effectLst>
        </p:spPr>
        <p:txBody>
          <a:bodyPr/>
          <a:lstStyle/>
          <a:p>
            <a:endParaRPr lang="en-ID"/>
          </a:p>
        </p:txBody>
      </p:sp>
      <p:sp>
        <p:nvSpPr>
          <p:cNvPr id="15" name="Shape 13"/>
          <p:cNvSpPr/>
          <p:nvPr/>
        </p:nvSpPr>
        <p:spPr>
          <a:xfrm>
            <a:off x="320040" y="2560320"/>
            <a:ext cx="54864" cy="1005840"/>
          </a:xfrm>
          <a:prstGeom prst="rect">
            <a:avLst/>
          </a:prstGeom>
          <a:solidFill>
            <a:srgbClr val="4ECDC4"/>
          </a:solidFill>
          <a:ln w="12700">
            <a:solidFill>
              <a:srgbClr val="4ECDC4"/>
            </a:solidFill>
            <a:prstDash val="solid"/>
          </a:ln>
        </p:spPr>
        <p:txBody>
          <a:bodyPr/>
          <a:lstStyle/>
          <a:p>
            <a:endParaRPr lang="en-ID">
              <a:solidFill>
                <a:srgbClr val="4ECDC4"/>
              </a:solidFill>
            </a:endParaRPr>
          </a:p>
        </p:txBody>
      </p:sp>
      <p:sp>
        <p:nvSpPr>
          <p:cNvPr id="16" name="Text 14"/>
          <p:cNvSpPr/>
          <p:nvPr/>
        </p:nvSpPr>
        <p:spPr>
          <a:xfrm>
            <a:off x="429768" y="2606040"/>
            <a:ext cx="457200" cy="365760"/>
          </a:xfrm>
          <a:prstGeom prst="rect">
            <a:avLst/>
          </a:prstGeom>
          <a:noFill/>
          <a:ln>
            <a:noFill/>
          </a:ln>
        </p:spPr>
        <p:txBody>
          <a:bodyPr wrap="square" lIns="0" tIns="0" rIns="0" bIns="0" rtlCol="0" anchor="ctr"/>
          <a:lstStyle/>
          <a:p>
            <a:pPr marL="0" indent="0">
              <a:buNone/>
            </a:pPr>
            <a:r>
              <a:rPr lang="en-US" sz="1800" b="1" dirty="0">
                <a:solidFill>
                  <a:srgbClr val="4ECDC4"/>
                </a:solidFill>
                <a:latin typeface="Courier New" panose="02070309020205020404" pitchFamily="34" charset="0"/>
                <a:ea typeface="Courier New" panose="02070309020205020404" pitchFamily="34" charset="-122"/>
                <a:cs typeface="Courier New" panose="02070309020205020404" pitchFamily="34" charset="-120"/>
              </a:rPr>
              <a:t>03</a:t>
            </a:r>
            <a:endParaRPr lang="en-US" sz="1800" dirty="0">
              <a:solidFill>
                <a:srgbClr val="4ECDC4"/>
              </a:solidFill>
            </a:endParaRPr>
          </a:p>
        </p:txBody>
      </p:sp>
      <p:sp>
        <p:nvSpPr>
          <p:cNvPr id="17" name="Text 15"/>
          <p:cNvSpPr/>
          <p:nvPr/>
        </p:nvSpPr>
        <p:spPr>
          <a:xfrm>
            <a:off x="941832" y="2633472"/>
            <a:ext cx="3520440" cy="868680"/>
          </a:xfrm>
          <a:prstGeom prst="rect">
            <a:avLst/>
          </a:prstGeom>
          <a:noFill/>
        </p:spPr>
        <p:txBody>
          <a:bodyPr wrap="square" lIns="0" tIns="0" rIns="0" bIns="0" rtlCol="0" anchor="ctr"/>
          <a:lstStyle/>
          <a:p>
            <a:pPr marL="0" indent="0">
              <a:buNone/>
            </a:pPr>
            <a:r>
              <a:rPr lang="en-US" sz="1100" dirty="0">
                <a:solidFill>
                  <a:srgbClr val="F0F0F0"/>
                </a:solidFill>
                <a:latin typeface="Calibri" panose="020F0502020204030204" pitchFamily="34" charset="0"/>
                <a:ea typeface="Calibri" panose="020F0502020204030204" pitchFamily="34" charset="-122"/>
                <a:cs typeface="Calibri" panose="020F0502020204030204" pitchFamily="34" charset="-120"/>
              </a:rPr>
              <a:t>Memberikan peringatan berupa bunyi (buzzer) ketika kelembapan tanah sangat rendah / kritis.</a:t>
            </a:r>
            <a:endParaRPr lang="en-US" sz="1100" dirty="0"/>
          </a:p>
        </p:txBody>
      </p:sp>
      <p:sp>
        <p:nvSpPr>
          <p:cNvPr id="18" name="Shape 16"/>
          <p:cNvSpPr/>
          <p:nvPr/>
        </p:nvSpPr>
        <p:spPr>
          <a:xfrm>
            <a:off x="4782312" y="2560320"/>
            <a:ext cx="4251960" cy="1005840"/>
          </a:xfrm>
          <a:prstGeom prst="rect">
            <a:avLst/>
          </a:prstGeom>
          <a:solidFill>
            <a:srgbClr val="1F2040"/>
          </a:solidFill>
          <a:ln w="12700">
            <a:solidFill>
              <a:srgbClr val="7C5CBF"/>
            </a:solidFill>
            <a:prstDash val="solid"/>
          </a:ln>
          <a:effectLst>
            <a:outerShdw blurRad="127000" dist="50800" dir="8100000" algn="bl" rotWithShape="0">
              <a:srgbClr val="000000">
                <a:alpha val="30000"/>
              </a:srgbClr>
            </a:outerShdw>
          </a:effectLst>
        </p:spPr>
        <p:txBody>
          <a:bodyPr/>
          <a:lstStyle/>
          <a:p>
            <a:endParaRPr lang="en-ID"/>
          </a:p>
        </p:txBody>
      </p:sp>
      <p:sp>
        <p:nvSpPr>
          <p:cNvPr id="19" name="Shape 17"/>
          <p:cNvSpPr/>
          <p:nvPr/>
        </p:nvSpPr>
        <p:spPr>
          <a:xfrm>
            <a:off x="4782312" y="2560320"/>
            <a:ext cx="54864" cy="1005840"/>
          </a:xfrm>
          <a:prstGeom prst="rect">
            <a:avLst/>
          </a:prstGeom>
          <a:solidFill>
            <a:srgbClr val="4ECDC4"/>
          </a:solidFill>
          <a:ln w="12700">
            <a:solidFill>
              <a:srgbClr val="4ECDC4"/>
            </a:solidFill>
            <a:prstDash val="solid"/>
          </a:ln>
        </p:spPr>
        <p:txBody>
          <a:bodyPr/>
          <a:lstStyle/>
          <a:p>
            <a:endParaRPr lang="en-ID"/>
          </a:p>
        </p:txBody>
      </p:sp>
      <p:sp>
        <p:nvSpPr>
          <p:cNvPr id="20" name="Text 18"/>
          <p:cNvSpPr/>
          <p:nvPr/>
        </p:nvSpPr>
        <p:spPr>
          <a:xfrm>
            <a:off x="4892040" y="2606040"/>
            <a:ext cx="457200" cy="365760"/>
          </a:xfrm>
          <a:prstGeom prst="rect">
            <a:avLst/>
          </a:prstGeom>
          <a:noFill/>
        </p:spPr>
        <p:txBody>
          <a:bodyPr wrap="square" lIns="0" tIns="0" rIns="0" bIns="0" rtlCol="0" anchor="ctr"/>
          <a:lstStyle/>
          <a:p>
            <a:pPr marL="0" indent="0">
              <a:buNone/>
            </a:pPr>
            <a:r>
              <a:rPr lang="en-US" sz="1800" b="1" dirty="0">
                <a:solidFill>
                  <a:srgbClr val="4ECDC4"/>
                </a:solidFill>
                <a:latin typeface="Courier New" panose="02070309020205020404" pitchFamily="34" charset="0"/>
                <a:ea typeface="Courier New" panose="02070309020205020404" pitchFamily="34" charset="-122"/>
                <a:cs typeface="Courier New" panose="02070309020205020404" pitchFamily="34" charset="-120"/>
              </a:rPr>
              <a:t>04</a:t>
            </a:r>
            <a:endParaRPr lang="en-US" sz="1800" dirty="0"/>
          </a:p>
        </p:txBody>
      </p:sp>
      <p:sp>
        <p:nvSpPr>
          <p:cNvPr id="21" name="Text 19"/>
          <p:cNvSpPr/>
          <p:nvPr/>
        </p:nvSpPr>
        <p:spPr>
          <a:xfrm>
            <a:off x="5404104" y="2633472"/>
            <a:ext cx="3520440" cy="868680"/>
          </a:xfrm>
          <a:prstGeom prst="rect">
            <a:avLst/>
          </a:prstGeom>
          <a:noFill/>
        </p:spPr>
        <p:txBody>
          <a:bodyPr wrap="square" lIns="0" tIns="0" rIns="0" bIns="0" rtlCol="0" anchor="ctr"/>
          <a:lstStyle/>
          <a:p>
            <a:pPr marL="0" indent="0">
              <a:buNone/>
            </a:pPr>
            <a:r>
              <a:rPr lang="en-US" sz="1100" dirty="0">
                <a:solidFill>
                  <a:srgbClr val="F0F0F0"/>
                </a:solidFill>
                <a:latin typeface="Calibri" panose="020F0502020204030204" pitchFamily="34" charset="0"/>
                <a:ea typeface="Calibri" panose="020F0502020204030204" pitchFamily="34" charset="-122"/>
                <a:cs typeface="Calibri" panose="020F0502020204030204" pitchFamily="34" charset="-120"/>
              </a:rPr>
              <a:t>Menampilkan informasi kondisi tanaman secara langsung di layar LCD.</a:t>
            </a:r>
            <a:endParaRPr lang="en-US" sz="1100" dirty="0"/>
          </a:p>
        </p:txBody>
      </p:sp>
      <p:sp>
        <p:nvSpPr>
          <p:cNvPr id="22" name="Shape 20"/>
          <p:cNvSpPr/>
          <p:nvPr/>
        </p:nvSpPr>
        <p:spPr>
          <a:xfrm>
            <a:off x="320040" y="3749040"/>
            <a:ext cx="4251960" cy="1005840"/>
          </a:xfrm>
          <a:prstGeom prst="rect">
            <a:avLst/>
          </a:prstGeom>
          <a:solidFill>
            <a:srgbClr val="1F2040"/>
          </a:solidFill>
          <a:ln w="12700">
            <a:solidFill>
              <a:srgbClr val="7C5CBF"/>
            </a:solidFill>
            <a:prstDash val="solid"/>
          </a:ln>
          <a:effectLst>
            <a:outerShdw blurRad="127000" dist="50800" dir="8100000" algn="bl" rotWithShape="0">
              <a:srgbClr val="000000">
                <a:alpha val="30000"/>
              </a:srgbClr>
            </a:outerShdw>
          </a:effectLst>
        </p:spPr>
        <p:txBody>
          <a:bodyPr/>
          <a:lstStyle/>
          <a:p>
            <a:endParaRPr lang="en-ID"/>
          </a:p>
        </p:txBody>
      </p:sp>
      <p:sp>
        <p:nvSpPr>
          <p:cNvPr id="23" name="Shape 21"/>
          <p:cNvSpPr/>
          <p:nvPr/>
        </p:nvSpPr>
        <p:spPr>
          <a:xfrm>
            <a:off x="320040" y="3749040"/>
            <a:ext cx="54864" cy="1005840"/>
          </a:xfrm>
          <a:prstGeom prst="rect">
            <a:avLst/>
          </a:prstGeom>
          <a:solidFill>
            <a:srgbClr val="00F5D4"/>
          </a:solidFill>
          <a:ln w="12700">
            <a:solidFill>
              <a:srgbClr val="00F5D4"/>
            </a:solidFill>
            <a:prstDash val="solid"/>
          </a:ln>
        </p:spPr>
        <p:txBody>
          <a:bodyPr/>
          <a:lstStyle/>
          <a:p>
            <a:endParaRPr lang="en-ID"/>
          </a:p>
        </p:txBody>
      </p:sp>
      <p:sp>
        <p:nvSpPr>
          <p:cNvPr id="24" name="Text 22"/>
          <p:cNvSpPr/>
          <p:nvPr/>
        </p:nvSpPr>
        <p:spPr>
          <a:xfrm>
            <a:off x="429768" y="3794760"/>
            <a:ext cx="457200" cy="365760"/>
          </a:xfrm>
          <a:prstGeom prst="rect">
            <a:avLst/>
          </a:prstGeom>
          <a:noFill/>
        </p:spPr>
        <p:txBody>
          <a:bodyPr wrap="square" lIns="0" tIns="0" rIns="0" bIns="0" rtlCol="0" anchor="ctr"/>
          <a:lstStyle/>
          <a:p>
            <a:pPr marL="0" indent="0">
              <a:buNone/>
            </a:pPr>
            <a:r>
              <a:rPr lang="en-US" sz="1800" b="1" dirty="0">
                <a:solidFill>
                  <a:srgbClr val="00F5D4"/>
                </a:solidFill>
                <a:latin typeface="Courier New" panose="02070309020205020404" pitchFamily="34" charset="0"/>
                <a:ea typeface="Courier New" panose="02070309020205020404" pitchFamily="34" charset="-122"/>
                <a:cs typeface="Courier New" panose="02070309020205020404" pitchFamily="34" charset="-120"/>
              </a:rPr>
              <a:t>05</a:t>
            </a:r>
            <a:endParaRPr lang="en-US" sz="1800" dirty="0"/>
          </a:p>
        </p:txBody>
      </p:sp>
      <p:sp>
        <p:nvSpPr>
          <p:cNvPr id="25" name="Text 23"/>
          <p:cNvSpPr/>
          <p:nvPr/>
        </p:nvSpPr>
        <p:spPr>
          <a:xfrm>
            <a:off x="941832" y="3822192"/>
            <a:ext cx="3520440" cy="868680"/>
          </a:xfrm>
          <a:prstGeom prst="rect">
            <a:avLst/>
          </a:prstGeom>
          <a:noFill/>
        </p:spPr>
        <p:txBody>
          <a:bodyPr wrap="square" lIns="0" tIns="0" rIns="0" bIns="0" rtlCol="0" anchor="ctr"/>
          <a:lstStyle/>
          <a:p>
            <a:pPr marL="0" indent="0">
              <a:buNone/>
            </a:pPr>
            <a:r>
              <a:rPr lang="en-US" sz="1100" dirty="0">
                <a:solidFill>
                  <a:srgbClr val="F0F0F0"/>
                </a:solidFill>
                <a:latin typeface="Calibri" panose="020F0502020204030204" pitchFamily="34" charset="0"/>
                <a:ea typeface="Calibri" panose="020F0502020204030204" pitchFamily="34" charset="-122"/>
                <a:cs typeface="Calibri" panose="020F0502020204030204" pitchFamily="34" charset="-120"/>
              </a:rPr>
              <a:t>Memungkinkan pemilik menyiram secara manual kapan saja dengan menekan tombol.</a:t>
            </a:r>
            <a:endParaRPr lang="en-US" sz="1100" dirty="0"/>
          </a:p>
        </p:txBody>
      </p:sp>
      <p:sp>
        <p:nvSpPr>
          <p:cNvPr id="26" name="Shape 24"/>
          <p:cNvSpPr/>
          <p:nvPr/>
        </p:nvSpPr>
        <p:spPr>
          <a:xfrm>
            <a:off x="4782312" y="3749040"/>
            <a:ext cx="4251960" cy="1005840"/>
          </a:xfrm>
          <a:prstGeom prst="rect">
            <a:avLst/>
          </a:prstGeom>
          <a:solidFill>
            <a:srgbClr val="1F2040"/>
          </a:solidFill>
          <a:ln w="12700">
            <a:solidFill>
              <a:srgbClr val="7C5CBF"/>
            </a:solidFill>
            <a:prstDash val="solid"/>
          </a:ln>
          <a:effectLst>
            <a:outerShdw blurRad="127000" dist="50800" dir="8100000" algn="bl" rotWithShape="0">
              <a:srgbClr val="000000">
                <a:alpha val="30000"/>
              </a:srgbClr>
            </a:outerShdw>
          </a:effectLst>
        </p:spPr>
        <p:txBody>
          <a:bodyPr/>
          <a:lstStyle/>
          <a:p>
            <a:endParaRPr lang="en-ID"/>
          </a:p>
        </p:txBody>
      </p:sp>
      <p:sp>
        <p:nvSpPr>
          <p:cNvPr id="27" name="Shape 25"/>
          <p:cNvSpPr/>
          <p:nvPr/>
        </p:nvSpPr>
        <p:spPr>
          <a:xfrm>
            <a:off x="4782312" y="3749040"/>
            <a:ext cx="54864" cy="1005840"/>
          </a:xfrm>
          <a:prstGeom prst="rect">
            <a:avLst/>
          </a:prstGeom>
          <a:solidFill>
            <a:srgbClr val="4ECDC4"/>
          </a:solidFill>
          <a:ln w="12700">
            <a:solidFill>
              <a:srgbClr val="4ECDC4"/>
            </a:solidFill>
            <a:prstDash val="solid"/>
          </a:ln>
        </p:spPr>
        <p:txBody>
          <a:bodyPr/>
          <a:lstStyle/>
          <a:p>
            <a:endParaRPr lang="en-ID">
              <a:solidFill>
                <a:srgbClr val="4ECDC4"/>
              </a:solidFill>
            </a:endParaRPr>
          </a:p>
        </p:txBody>
      </p:sp>
      <p:sp>
        <p:nvSpPr>
          <p:cNvPr id="28" name="Text 26"/>
          <p:cNvSpPr/>
          <p:nvPr/>
        </p:nvSpPr>
        <p:spPr>
          <a:xfrm>
            <a:off x="4892040" y="3794760"/>
            <a:ext cx="457200" cy="365760"/>
          </a:xfrm>
          <a:prstGeom prst="rect">
            <a:avLst/>
          </a:prstGeom>
          <a:noFill/>
          <a:ln>
            <a:noFill/>
          </a:ln>
        </p:spPr>
        <p:txBody>
          <a:bodyPr wrap="square" lIns="0" tIns="0" rIns="0" bIns="0" rtlCol="0" anchor="ctr"/>
          <a:lstStyle/>
          <a:p>
            <a:pPr marL="0" indent="0">
              <a:buNone/>
            </a:pPr>
            <a:r>
              <a:rPr lang="en-US" sz="1800" b="1" dirty="0">
                <a:solidFill>
                  <a:srgbClr val="4ECDC4"/>
                </a:solidFill>
                <a:latin typeface="Courier New" panose="02070309020205020404" pitchFamily="34" charset="0"/>
                <a:ea typeface="Courier New" panose="02070309020205020404" pitchFamily="34" charset="-122"/>
                <a:cs typeface="Courier New" panose="02070309020205020404" pitchFamily="34" charset="-120"/>
              </a:rPr>
              <a:t>06</a:t>
            </a:r>
            <a:endParaRPr lang="en-US" sz="1800" dirty="0">
              <a:solidFill>
                <a:srgbClr val="4ECDC4"/>
              </a:solidFill>
            </a:endParaRPr>
          </a:p>
        </p:txBody>
      </p:sp>
      <p:sp>
        <p:nvSpPr>
          <p:cNvPr id="29" name="Text 27"/>
          <p:cNvSpPr/>
          <p:nvPr/>
        </p:nvSpPr>
        <p:spPr>
          <a:xfrm>
            <a:off x="5404104" y="3822192"/>
            <a:ext cx="3520440" cy="868680"/>
          </a:xfrm>
          <a:prstGeom prst="rect">
            <a:avLst/>
          </a:prstGeom>
          <a:noFill/>
        </p:spPr>
        <p:txBody>
          <a:bodyPr wrap="square" lIns="0" tIns="0" rIns="0" bIns="0" rtlCol="0" anchor="ctr"/>
          <a:lstStyle/>
          <a:p>
            <a:pPr marL="0" indent="0">
              <a:buNone/>
            </a:pPr>
            <a:r>
              <a:rPr lang="en-US" sz="1100" dirty="0">
                <a:solidFill>
                  <a:srgbClr val="F0F0F0"/>
                </a:solidFill>
                <a:latin typeface="Calibri" panose="020F0502020204030204" pitchFamily="34" charset="0"/>
                <a:ea typeface="Calibri" panose="020F0502020204030204" pitchFamily="34" charset="-122"/>
                <a:cs typeface="Calibri" panose="020F0502020204030204" pitchFamily="34" charset="-120"/>
              </a:rPr>
              <a:t>Menyimpan pengaturan batas kelembapan agar tidak hilang saat alat dimatikan.</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3131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4ECDC4"/>
          </a:solidFill>
          <a:ln w="12700">
            <a:solidFill>
              <a:srgbClr val="4ECDC4"/>
            </a:solidFill>
            <a:prstDash val="solid"/>
          </a:ln>
        </p:spPr>
        <p:txBody>
          <a:bodyPr/>
          <a:lstStyle/>
          <a:p>
            <a:endParaRPr lang="en-ID"/>
          </a:p>
        </p:txBody>
      </p:sp>
      <p:sp>
        <p:nvSpPr>
          <p:cNvPr id="3" name="Text 1"/>
          <p:cNvSpPr/>
          <p:nvPr/>
        </p:nvSpPr>
        <p:spPr>
          <a:xfrm>
            <a:off x="411480" y="228600"/>
            <a:ext cx="4572000" cy="594360"/>
          </a:xfrm>
          <a:prstGeom prst="rect">
            <a:avLst/>
          </a:prstGeom>
          <a:noFill/>
        </p:spPr>
        <p:txBody>
          <a:bodyPr wrap="square" lIns="0" tIns="0" rIns="0" bIns="0" rtlCol="0" anchor="ctr"/>
          <a:lstStyle/>
          <a:p>
            <a:pPr marL="0" indent="0">
              <a:buNone/>
            </a:pPr>
            <a:r>
              <a:rPr lang="en-US" sz="3200" b="1" dirty="0">
                <a:solidFill>
                  <a:srgbClr val="4ECDC4"/>
                </a:solidFill>
                <a:latin typeface="Courier New" panose="02070309020205020404" pitchFamily="34" charset="0"/>
                <a:ea typeface="Courier New" panose="02070309020205020404" pitchFamily="34" charset="-122"/>
                <a:cs typeface="Courier New" panose="02070309020205020404" pitchFamily="34" charset="-120"/>
              </a:rPr>
              <a:t>EQUIPMENT</a:t>
            </a:r>
            <a:endParaRPr lang="en-US" sz="3200" dirty="0"/>
          </a:p>
        </p:txBody>
      </p:sp>
      <p:sp>
        <p:nvSpPr>
          <p:cNvPr id="4" name="Shape 2"/>
          <p:cNvSpPr/>
          <p:nvPr/>
        </p:nvSpPr>
        <p:spPr>
          <a:xfrm>
            <a:off x="411480" y="868680"/>
            <a:ext cx="1097280" cy="36576"/>
          </a:xfrm>
          <a:prstGeom prst="rect">
            <a:avLst/>
          </a:prstGeom>
          <a:solidFill>
            <a:srgbClr val="4ECDC4"/>
          </a:solidFill>
          <a:ln w="12700">
            <a:solidFill>
              <a:srgbClr val="4ECDC4"/>
            </a:solidFill>
            <a:prstDash val="solid"/>
          </a:ln>
        </p:spPr>
        <p:txBody>
          <a:bodyPr/>
          <a:lstStyle/>
          <a:p>
            <a:endParaRPr lang="en-ID"/>
          </a:p>
        </p:txBody>
      </p:sp>
      <p:sp>
        <p:nvSpPr>
          <p:cNvPr id="5" name="Text 3"/>
          <p:cNvSpPr/>
          <p:nvPr/>
        </p:nvSpPr>
        <p:spPr>
          <a:xfrm>
            <a:off x="411480" y="960120"/>
            <a:ext cx="8229600" cy="329184"/>
          </a:xfrm>
          <a:prstGeom prst="rect">
            <a:avLst/>
          </a:prstGeom>
          <a:noFill/>
        </p:spPr>
        <p:txBody>
          <a:bodyPr wrap="square" lIns="0" tIns="0" rIns="0" bIns="0" rtlCol="0" anchor="ctr"/>
          <a:lstStyle/>
          <a:p>
            <a:pPr marL="0" indent="0">
              <a:buNone/>
            </a:pPr>
            <a:r>
              <a:rPr lang="en-US" sz="1200" b="1" dirty="0">
                <a:solidFill>
                  <a:srgbClr val="A0A0B8"/>
                </a:solidFill>
                <a:latin typeface="Calibri" panose="020F0502020204030204" pitchFamily="34" charset="0"/>
                <a:ea typeface="Calibri" panose="020F0502020204030204" pitchFamily="34" charset="-122"/>
                <a:cs typeface="Calibri" panose="020F0502020204030204" pitchFamily="34" charset="-120"/>
              </a:rPr>
              <a:t>Tools &amp; komponen yang digunakan:</a:t>
            </a:r>
            <a:endParaRPr lang="en-US" sz="1200" dirty="0"/>
          </a:p>
        </p:txBody>
      </p:sp>
      <p:sp>
        <p:nvSpPr>
          <p:cNvPr id="6" name="Shape 4"/>
          <p:cNvSpPr/>
          <p:nvPr/>
        </p:nvSpPr>
        <p:spPr>
          <a:xfrm>
            <a:off x="256032" y="1389888"/>
            <a:ext cx="2788920" cy="1005840"/>
          </a:xfrm>
          <a:prstGeom prst="rect">
            <a:avLst/>
          </a:prstGeom>
          <a:solidFill>
            <a:srgbClr val="1F2040"/>
          </a:solidFill>
          <a:ln w="12700">
            <a:solidFill>
              <a:srgbClr val="7C5CBF"/>
            </a:solidFill>
            <a:prstDash val="solid"/>
          </a:ln>
          <a:effectLst>
            <a:outerShdw blurRad="127000" dist="50800" dir="8100000" algn="bl" rotWithShape="0">
              <a:srgbClr val="000000">
                <a:alpha val="30000"/>
              </a:srgbClr>
            </a:outerShdw>
          </a:effectLst>
        </p:spPr>
        <p:txBody>
          <a:bodyPr/>
          <a:lstStyle/>
          <a:p>
            <a:endParaRPr lang="en-ID" dirty="0"/>
          </a:p>
        </p:txBody>
      </p:sp>
      <p:sp>
        <p:nvSpPr>
          <p:cNvPr id="7" name="Shape 5"/>
          <p:cNvSpPr/>
          <p:nvPr/>
        </p:nvSpPr>
        <p:spPr>
          <a:xfrm>
            <a:off x="256032" y="1389888"/>
            <a:ext cx="2788920" cy="45720"/>
          </a:xfrm>
          <a:prstGeom prst="rect">
            <a:avLst/>
          </a:prstGeom>
          <a:solidFill>
            <a:srgbClr val="7C5CBF"/>
          </a:solidFill>
          <a:ln w="12700">
            <a:solidFill>
              <a:srgbClr val="7C5CBF"/>
            </a:solidFill>
            <a:prstDash val="solid"/>
          </a:ln>
        </p:spPr>
        <p:txBody>
          <a:bodyPr/>
          <a:lstStyle/>
          <a:p>
            <a:endParaRPr lang="en-ID"/>
          </a:p>
        </p:txBody>
      </p:sp>
      <p:sp>
        <p:nvSpPr>
          <p:cNvPr id="8" name="Text 6"/>
          <p:cNvSpPr/>
          <p:nvPr/>
        </p:nvSpPr>
        <p:spPr>
          <a:xfrm>
            <a:off x="256032" y="1444752"/>
            <a:ext cx="640080" cy="868680"/>
          </a:xfrm>
          <a:prstGeom prst="rect">
            <a:avLst/>
          </a:prstGeom>
          <a:noFill/>
        </p:spPr>
        <p:txBody>
          <a:bodyPr wrap="square" rtlCol="0" anchor="ctr"/>
          <a:lstStyle/>
          <a:p>
            <a:pPr marL="0" indent="0" algn="ctr">
              <a:buNone/>
            </a:pPr>
            <a:endParaRPr lang="en-US" sz="2200" dirty="0"/>
          </a:p>
        </p:txBody>
      </p:sp>
      <p:sp>
        <p:nvSpPr>
          <p:cNvPr id="9" name="Text 7"/>
          <p:cNvSpPr/>
          <p:nvPr/>
        </p:nvSpPr>
        <p:spPr>
          <a:xfrm>
            <a:off x="428469" y="1499616"/>
            <a:ext cx="2212849" cy="320040"/>
          </a:xfrm>
          <a:prstGeom prst="rect">
            <a:avLst/>
          </a:prstGeom>
          <a:noFill/>
        </p:spPr>
        <p:txBody>
          <a:bodyPr wrap="square" lIns="0" tIns="0" rIns="0" bIns="0" rtlCol="0" anchor="ctr"/>
          <a:lstStyle/>
          <a:p>
            <a:pPr marL="0" indent="0">
              <a:buNone/>
            </a:pPr>
            <a:r>
              <a:rPr lang="en-US" sz="1100" b="1" dirty="0">
                <a:solidFill>
                  <a:srgbClr val="4ECDC4"/>
                </a:solidFill>
                <a:latin typeface="Courier New" panose="02070309020205020404" pitchFamily="34" charset="0"/>
                <a:ea typeface="Courier New" panose="02070309020205020404" pitchFamily="34" charset="-122"/>
                <a:cs typeface="Courier New" panose="02070309020205020404" pitchFamily="34" charset="-120"/>
              </a:rPr>
              <a:t>1. Arduino Uno</a:t>
            </a:r>
            <a:endParaRPr lang="en-US" sz="1100" dirty="0"/>
          </a:p>
        </p:txBody>
      </p:sp>
      <p:sp>
        <p:nvSpPr>
          <p:cNvPr id="10" name="Text 8"/>
          <p:cNvSpPr/>
          <p:nvPr/>
        </p:nvSpPr>
        <p:spPr>
          <a:xfrm>
            <a:off x="428469" y="1819656"/>
            <a:ext cx="2212849" cy="457200"/>
          </a:xfrm>
          <a:prstGeom prst="rect">
            <a:avLst/>
          </a:prstGeom>
          <a:noFill/>
        </p:spPr>
        <p:txBody>
          <a:bodyPr wrap="square" lIns="0" tIns="0" rIns="0" bIns="0" rtlCol="0" anchor="ctr"/>
          <a:lstStyle/>
          <a:p>
            <a:pPr marL="0" indent="0">
              <a:buNone/>
            </a:pPr>
            <a:r>
              <a:rPr lang="en-US" sz="1000" dirty="0">
                <a:solidFill>
                  <a:srgbClr val="A0A0B8"/>
                </a:solidFill>
                <a:latin typeface="Calibri" panose="020F0502020204030204" pitchFamily="34" charset="0"/>
                <a:ea typeface="Calibri" panose="020F0502020204030204" pitchFamily="34" charset="-122"/>
                <a:cs typeface="Calibri" panose="020F0502020204030204" pitchFamily="34" charset="-120"/>
              </a:rPr>
              <a:t>Otak utama sistem</a:t>
            </a:r>
            <a:endParaRPr lang="en-US" sz="1000" dirty="0"/>
          </a:p>
        </p:txBody>
      </p:sp>
      <p:sp>
        <p:nvSpPr>
          <p:cNvPr id="11" name="Shape 9"/>
          <p:cNvSpPr/>
          <p:nvPr/>
        </p:nvSpPr>
        <p:spPr>
          <a:xfrm>
            <a:off x="3227832" y="1389888"/>
            <a:ext cx="2788920" cy="1005840"/>
          </a:xfrm>
          <a:prstGeom prst="rect">
            <a:avLst/>
          </a:prstGeom>
          <a:solidFill>
            <a:srgbClr val="1F2040"/>
          </a:solidFill>
          <a:ln w="12700">
            <a:solidFill>
              <a:srgbClr val="7C5CBF"/>
            </a:solidFill>
            <a:prstDash val="solid"/>
          </a:ln>
          <a:effectLst>
            <a:outerShdw blurRad="127000" dist="50800" dir="8100000" algn="bl" rotWithShape="0">
              <a:srgbClr val="000000">
                <a:alpha val="30000"/>
              </a:srgbClr>
            </a:outerShdw>
          </a:effectLst>
        </p:spPr>
        <p:txBody>
          <a:bodyPr/>
          <a:lstStyle/>
          <a:p>
            <a:endParaRPr lang="en-ID"/>
          </a:p>
        </p:txBody>
      </p:sp>
      <p:sp>
        <p:nvSpPr>
          <p:cNvPr id="12" name="Shape 10"/>
          <p:cNvSpPr/>
          <p:nvPr/>
        </p:nvSpPr>
        <p:spPr>
          <a:xfrm>
            <a:off x="3227832" y="1389888"/>
            <a:ext cx="2788920" cy="45720"/>
          </a:xfrm>
          <a:prstGeom prst="rect">
            <a:avLst/>
          </a:prstGeom>
          <a:solidFill>
            <a:srgbClr val="7C5CBF"/>
          </a:solidFill>
          <a:ln w="12700">
            <a:solidFill>
              <a:srgbClr val="7C5CBF"/>
            </a:solidFill>
            <a:prstDash val="solid"/>
          </a:ln>
        </p:spPr>
        <p:txBody>
          <a:bodyPr/>
          <a:lstStyle/>
          <a:p>
            <a:endParaRPr lang="en-ID"/>
          </a:p>
        </p:txBody>
      </p:sp>
      <p:sp>
        <p:nvSpPr>
          <p:cNvPr id="13" name="Text 11"/>
          <p:cNvSpPr/>
          <p:nvPr/>
        </p:nvSpPr>
        <p:spPr>
          <a:xfrm>
            <a:off x="3227832" y="1444752"/>
            <a:ext cx="640080" cy="868680"/>
          </a:xfrm>
          <a:prstGeom prst="rect">
            <a:avLst/>
          </a:prstGeom>
          <a:noFill/>
        </p:spPr>
        <p:txBody>
          <a:bodyPr wrap="square" rtlCol="0" anchor="ctr"/>
          <a:lstStyle/>
          <a:p>
            <a:pPr marL="0" indent="0" algn="ctr">
              <a:buNone/>
            </a:pPr>
            <a:endParaRPr lang="en-US" sz="2200" dirty="0"/>
          </a:p>
        </p:txBody>
      </p:sp>
      <p:sp>
        <p:nvSpPr>
          <p:cNvPr id="14" name="Text 12"/>
          <p:cNvSpPr/>
          <p:nvPr/>
        </p:nvSpPr>
        <p:spPr>
          <a:xfrm>
            <a:off x="3400269" y="1499616"/>
            <a:ext cx="2212849" cy="320040"/>
          </a:xfrm>
          <a:prstGeom prst="rect">
            <a:avLst/>
          </a:prstGeom>
          <a:noFill/>
        </p:spPr>
        <p:txBody>
          <a:bodyPr wrap="square" lIns="0" tIns="0" rIns="0" bIns="0" rtlCol="0" anchor="ctr"/>
          <a:lstStyle/>
          <a:p>
            <a:pPr marL="0" indent="0">
              <a:buNone/>
            </a:pPr>
            <a:r>
              <a:rPr lang="en-US" sz="1100" b="1" dirty="0">
                <a:solidFill>
                  <a:srgbClr val="4ECDC4"/>
                </a:solidFill>
                <a:latin typeface="Courier New" panose="02070309020205020404" pitchFamily="34" charset="0"/>
                <a:ea typeface="Courier New" panose="02070309020205020404" pitchFamily="34" charset="-122"/>
                <a:cs typeface="Courier New" panose="02070309020205020404" pitchFamily="34" charset="-120"/>
              </a:rPr>
              <a:t>2. Sensor Tanah</a:t>
            </a:r>
            <a:endParaRPr lang="en-US" sz="1100" dirty="0"/>
          </a:p>
        </p:txBody>
      </p:sp>
      <p:sp>
        <p:nvSpPr>
          <p:cNvPr id="15" name="Text 13"/>
          <p:cNvSpPr/>
          <p:nvPr/>
        </p:nvSpPr>
        <p:spPr>
          <a:xfrm>
            <a:off x="3400269" y="1819656"/>
            <a:ext cx="2212849" cy="457200"/>
          </a:xfrm>
          <a:prstGeom prst="rect">
            <a:avLst/>
          </a:prstGeom>
          <a:noFill/>
        </p:spPr>
        <p:txBody>
          <a:bodyPr wrap="square" lIns="0" tIns="0" rIns="0" bIns="0" rtlCol="0" anchor="ctr"/>
          <a:lstStyle/>
          <a:p>
            <a:pPr marL="0" indent="0">
              <a:buNone/>
            </a:pPr>
            <a:r>
              <a:rPr lang="en-US" sz="1000" dirty="0">
                <a:solidFill>
                  <a:srgbClr val="A0A0B8"/>
                </a:solidFill>
                <a:latin typeface="Calibri" panose="020F0502020204030204" pitchFamily="34" charset="0"/>
                <a:ea typeface="Calibri" panose="020F0502020204030204" pitchFamily="34" charset="-122"/>
                <a:cs typeface="Calibri" panose="020F0502020204030204" pitchFamily="34" charset="-120"/>
              </a:rPr>
              <a:t>Cek basah/kering tanah</a:t>
            </a:r>
            <a:endParaRPr lang="en-US" sz="1000" dirty="0"/>
          </a:p>
        </p:txBody>
      </p:sp>
      <p:sp>
        <p:nvSpPr>
          <p:cNvPr id="16" name="Shape 14"/>
          <p:cNvSpPr/>
          <p:nvPr/>
        </p:nvSpPr>
        <p:spPr>
          <a:xfrm>
            <a:off x="6199632" y="1389888"/>
            <a:ext cx="2788920" cy="1005840"/>
          </a:xfrm>
          <a:prstGeom prst="rect">
            <a:avLst/>
          </a:prstGeom>
          <a:solidFill>
            <a:srgbClr val="1F2040"/>
          </a:solidFill>
          <a:ln w="12700">
            <a:solidFill>
              <a:srgbClr val="7C5CBF"/>
            </a:solidFill>
            <a:prstDash val="solid"/>
          </a:ln>
          <a:effectLst>
            <a:outerShdw blurRad="127000" dist="50800" dir="8100000" algn="bl" rotWithShape="0">
              <a:srgbClr val="000000">
                <a:alpha val="30000"/>
              </a:srgbClr>
            </a:outerShdw>
          </a:effectLst>
        </p:spPr>
        <p:txBody>
          <a:bodyPr/>
          <a:lstStyle/>
          <a:p>
            <a:endParaRPr lang="en-ID"/>
          </a:p>
        </p:txBody>
      </p:sp>
      <p:sp>
        <p:nvSpPr>
          <p:cNvPr id="17" name="Shape 15"/>
          <p:cNvSpPr/>
          <p:nvPr/>
        </p:nvSpPr>
        <p:spPr>
          <a:xfrm>
            <a:off x="6199632" y="1389888"/>
            <a:ext cx="2788920" cy="45720"/>
          </a:xfrm>
          <a:prstGeom prst="rect">
            <a:avLst/>
          </a:prstGeom>
          <a:solidFill>
            <a:srgbClr val="7C5CBF"/>
          </a:solidFill>
          <a:ln w="12700">
            <a:solidFill>
              <a:srgbClr val="7C5CBF"/>
            </a:solidFill>
            <a:prstDash val="solid"/>
          </a:ln>
        </p:spPr>
        <p:txBody>
          <a:bodyPr/>
          <a:lstStyle/>
          <a:p>
            <a:endParaRPr lang="en-ID"/>
          </a:p>
        </p:txBody>
      </p:sp>
      <p:sp>
        <p:nvSpPr>
          <p:cNvPr id="18" name="Text 16"/>
          <p:cNvSpPr/>
          <p:nvPr/>
        </p:nvSpPr>
        <p:spPr>
          <a:xfrm>
            <a:off x="6199632" y="1444752"/>
            <a:ext cx="640080" cy="868680"/>
          </a:xfrm>
          <a:prstGeom prst="rect">
            <a:avLst/>
          </a:prstGeom>
          <a:noFill/>
        </p:spPr>
        <p:txBody>
          <a:bodyPr wrap="square" rtlCol="0" anchor="ctr"/>
          <a:lstStyle/>
          <a:p>
            <a:pPr marL="0" indent="0" algn="ctr">
              <a:buNone/>
            </a:pPr>
            <a:endParaRPr lang="en-US" sz="2200" dirty="0"/>
          </a:p>
        </p:txBody>
      </p:sp>
      <p:sp>
        <p:nvSpPr>
          <p:cNvPr id="19" name="Text 17"/>
          <p:cNvSpPr/>
          <p:nvPr/>
        </p:nvSpPr>
        <p:spPr>
          <a:xfrm>
            <a:off x="6372069" y="1499616"/>
            <a:ext cx="2212849" cy="320040"/>
          </a:xfrm>
          <a:prstGeom prst="rect">
            <a:avLst/>
          </a:prstGeom>
          <a:noFill/>
        </p:spPr>
        <p:txBody>
          <a:bodyPr wrap="square" lIns="0" tIns="0" rIns="0" bIns="0" rtlCol="0" anchor="ctr"/>
          <a:lstStyle/>
          <a:p>
            <a:pPr marL="0" indent="0">
              <a:buNone/>
            </a:pPr>
            <a:r>
              <a:rPr lang="en-US" sz="1100" b="1" dirty="0">
                <a:solidFill>
                  <a:srgbClr val="4ECDC4"/>
                </a:solidFill>
                <a:latin typeface="Courier New" panose="02070309020205020404" pitchFamily="34" charset="0"/>
                <a:ea typeface="Courier New" panose="02070309020205020404" pitchFamily="34" charset="-122"/>
                <a:cs typeface="Courier New" panose="02070309020205020404" pitchFamily="34" charset="-120"/>
              </a:rPr>
              <a:t>3. Sensor BME280</a:t>
            </a:r>
            <a:endParaRPr lang="en-US" sz="1100" dirty="0"/>
          </a:p>
        </p:txBody>
      </p:sp>
      <p:sp>
        <p:nvSpPr>
          <p:cNvPr id="20" name="Text 18"/>
          <p:cNvSpPr/>
          <p:nvPr/>
        </p:nvSpPr>
        <p:spPr>
          <a:xfrm>
            <a:off x="6372069" y="1819656"/>
            <a:ext cx="2212849" cy="457200"/>
          </a:xfrm>
          <a:prstGeom prst="rect">
            <a:avLst/>
          </a:prstGeom>
          <a:noFill/>
        </p:spPr>
        <p:txBody>
          <a:bodyPr wrap="square" lIns="0" tIns="0" rIns="0" bIns="0" rtlCol="0" anchor="ctr"/>
          <a:lstStyle/>
          <a:p>
            <a:pPr marL="0" indent="0">
              <a:buNone/>
            </a:pPr>
            <a:r>
              <a:rPr lang="en-US" sz="1000" dirty="0">
                <a:solidFill>
                  <a:srgbClr val="A0A0B8"/>
                </a:solidFill>
                <a:latin typeface="Calibri" panose="020F0502020204030204" pitchFamily="34" charset="0"/>
                <a:ea typeface="Calibri" panose="020F0502020204030204" pitchFamily="34" charset="-122"/>
                <a:cs typeface="Calibri" panose="020F0502020204030204" pitchFamily="34" charset="-120"/>
              </a:rPr>
              <a:t>Ukur suhu &amp; kelembapan udara</a:t>
            </a:r>
            <a:endParaRPr lang="en-US" sz="1000" dirty="0"/>
          </a:p>
        </p:txBody>
      </p:sp>
      <p:sp>
        <p:nvSpPr>
          <p:cNvPr id="21" name="Shape 19"/>
          <p:cNvSpPr/>
          <p:nvPr/>
        </p:nvSpPr>
        <p:spPr>
          <a:xfrm>
            <a:off x="256032" y="2578608"/>
            <a:ext cx="2788920" cy="1005840"/>
          </a:xfrm>
          <a:prstGeom prst="rect">
            <a:avLst/>
          </a:prstGeom>
          <a:solidFill>
            <a:srgbClr val="1F2040"/>
          </a:solidFill>
          <a:ln w="12700">
            <a:solidFill>
              <a:srgbClr val="7C5CBF"/>
            </a:solidFill>
            <a:prstDash val="solid"/>
          </a:ln>
          <a:effectLst>
            <a:outerShdw blurRad="127000" dist="50800" dir="8100000" algn="bl" rotWithShape="0">
              <a:srgbClr val="000000">
                <a:alpha val="30000"/>
              </a:srgbClr>
            </a:outerShdw>
          </a:effectLst>
        </p:spPr>
        <p:txBody>
          <a:bodyPr/>
          <a:lstStyle/>
          <a:p>
            <a:endParaRPr lang="en-ID"/>
          </a:p>
        </p:txBody>
      </p:sp>
      <p:sp>
        <p:nvSpPr>
          <p:cNvPr id="22" name="Shape 20"/>
          <p:cNvSpPr/>
          <p:nvPr/>
        </p:nvSpPr>
        <p:spPr>
          <a:xfrm>
            <a:off x="256032" y="2578608"/>
            <a:ext cx="2788920" cy="45720"/>
          </a:xfrm>
          <a:prstGeom prst="rect">
            <a:avLst/>
          </a:prstGeom>
          <a:solidFill>
            <a:srgbClr val="7C5CBF"/>
          </a:solidFill>
          <a:ln w="12700">
            <a:solidFill>
              <a:srgbClr val="7C5CBF"/>
            </a:solidFill>
            <a:prstDash val="solid"/>
          </a:ln>
        </p:spPr>
        <p:txBody>
          <a:bodyPr/>
          <a:lstStyle/>
          <a:p>
            <a:endParaRPr lang="en-ID"/>
          </a:p>
        </p:txBody>
      </p:sp>
      <p:sp>
        <p:nvSpPr>
          <p:cNvPr id="23" name="Text 21"/>
          <p:cNvSpPr/>
          <p:nvPr/>
        </p:nvSpPr>
        <p:spPr>
          <a:xfrm>
            <a:off x="256032" y="2633472"/>
            <a:ext cx="640080" cy="868680"/>
          </a:xfrm>
          <a:prstGeom prst="rect">
            <a:avLst/>
          </a:prstGeom>
          <a:noFill/>
        </p:spPr>
        <p:txBody>
          <a:bodyPr wrap="square" rtlCol="0" anchor="ctr"/>
          <a:lstStyle/>
          <a:p>
            <a:pPr marL="0" indent="0" algn="ctr">
              <a:buNone/>
            </a:pPr>
            <a:endParaRPr lang="en-US" sz="2200" dirty="0"/>
          </a:p>
        </p:txBody>
      </p:sp>
      <p:sp>
        <p:nvSpPr>
          <p:cNvPr id="24" name="Text 22"/>
          <p:cNvSpPr/>
          <p:nvPr/>
        </p:nvSpPr>
        <p:spPr>
          <a:xfrm>
            <a:off x="428469" y="2688336"/>
            <a:ext cx="2212849" cy="320040"/>
          </a:xfrm>
          <a:prstGeom prst="rect">
            <a:avLst/>
          </a:prstGeom>
          <a:noFill/>
        </p:spPr>
        <p:txBody>
          <a:bodyPr wrap="square" lIns="0" tIns="0" rIns="0" bIns="0" rtlCol="0" anchor="ctr"/>
          <a:lstStyle/>
          <a:p>
            <a:pPr marL="0" indent="0">
              <a:buNone/>
            </a:pPr>
            <a:r>
              <a:rPr lang="en-US" sz="1100" b="1" dirty="0">
                <a:solidFill>
                  <a:srgbClr val="4ECDC4"/>
                </a:solidFill>
                <a:latin typeface="Courier New" panose="02070309020205020404" pitchFamily="34" charset="0"/>
                <a:ea typeface="Courier New" panose="02070309020205020404" pitchFamily="34" charset="-122"/>
                <a:cs typeface="Courier New" panose="02070309020205020404" pitchFamily="34" charset="-120"/>
              </a:rPr>
              <a:t>4. Pompa Air Mini</a:t>
            </a:r>
            <a:endParaRPr lang="en-US" sz="1100" dirty="0"/>
          </a:p>
        </p:txBody>
      </p:sp>
      <p:sp>
        <p:nvSpPr>
          <p:cNvPr id="25" name="Text 23"/>
          <p:cNvSpPr/>
          <p:nvPr/>
        </p:nvSpPr>
        <p:spPr>
          <a:xfrm>
            <a:off x="428469" y="3008376"/>
            <a:ext cx="2212849" cy="457200"/>
          </a:xfrm>
          <a:prstGeom prst="rect">
            <a:avLst/>
          </a:prstGeom>
          <a:noFill/>
        </p:spPr>
        <p:txBody>
          <a:bodyPr wrap="square" lIns="0" tIns="0" rIns="0" bIns="0" rtlCol="0" anchor="ctr"/>
          <a:lstStyle/>
          <a:p>
            <a:pPr marL="0" indent="0">
              <a:buNone/>
            </a:pPr>
            <a:r>
              <a:rPr lang="en-US" sz="1000" dirty="0">
                <a:solidFill>
                  <a:srgbClr val="A0A0B8"/>
                </a:solidFill>
                <a:latin typeface="Calibri" panose="020F0502020204030204" pitchFamily="34" charset="0"/>
                <a:ea typeface="Calibri" panose="020F0502020204030204" pitchFamily="34" charset="-122"/>
                <a:cs typeface="Calibri" panose="020F0502020204030204" pitchFamily="34" charset="-120"/>
              </a:rPr>
              <a:t>Menyiram secara otomatis</a:t>
            </a:r>
            <a:endParaRPr lang="en-US" sz="1000" dirty="0"/>
          </a:p>
        </p:txBody>
      </p:sp>
      <p:sp>
        <p:nvSpPr>
          <p:cNvPr id="26" name="Shape 24"/>
          <p:cNvSpPr/>
          <p:nvPr/>
        </p:nvSpPr>
        <p:spPr>
          <a:xfrm>
            <a:off x="3227832" y="2578608"/>
            <a:ext cx="2788920" cy="1005840"/>
          </a:xfrm>
          <a:prstGeom prst="rect">
            <a:avLst/>
          </a:prstGeom>
          <a:solidFill>
            <a:srgbClr val="1F2040"/>
          </a:solidFill>
          <a:ln w="12700">
            <a:solidFill>
              <a:srgbClr val="7C5CBF"/>
            </a:solidFill>
            <a:prstDash val="solid"/>
          </a:ln>
          <a:effectLst>
            <a:outerShdw blurRad="127000" dist="50800" dir="8100000" algn="bl" rotWithShape="0">
              <a:srgbClr val="000000">
                <a:alpha val="30000"/>
              </a:srgbClr>
            </a:outerShdw>
          </a:effectLst>
        </p:spPr>
        <p:txBody>
          <a:bodyPr/>
          <a:lstStyle/>
          <a:p>
            <a:endParaRPr lang="en-ID"/>
          </a:p>
        </p:txBody>
      </p:sp>
      <p:sp>
        <p:nvSpPr>
          <p:cNvPr id="27" name="Shape 25"/>
          <p:cNvSpPr/>
          <p:nvPr/>
        </p:nvSpPr>
        <p:spPr>
          <a:xfrm>
            <a:off x="3227832" y="2578608"/>
            <a:ext cx="2788920" cy="45720"/>
          </a:xfrm>
          <a:prstGeom prst="rect">
            <a:avLst/>
          </a:prstGeom>
          <a:solidFill>
            <a:srgbClr val="7C5CBF"/>
          </a:solidFill>
          <a:ln w="12700">
            <a:solidFill>
              <a:srgbClr val="7C5CBF"/>
            </a:solidFill>
            <a:prstDash val="solid"/>
          </a:ln>
        </p:spPr>
        <p:txBody>
          <a:bodyPr/>
          <a:lstStyle/>
          <a:p>
            <a:endParaRPr lang="en-ID"/>
          </a:p>
        </p:txBody>
      </p:sp>
      <p:sp>
        <p:nvSpPr>
          <p:cNvPr id="28" name="Text 26"/>
          <p:cNvSpPr/>
          <p:nvPr/>
        </p:nvSpPr>
        <p:spPr>
          <a:xfrm>
            <a:off x="3227832" y="2633472"/>
            <a:ext cx="640080" cy="868680"/>
          </a:xfrm>
          <a:prstGeom prst="rect">
            <a:avLst/>
          </a:prstGeom>
          <a:noFill/>
        </p:spPr>
        <p:txBody>
          <a:bodyPr wrap="square" rtlCol="0" anchor="ctr"/>
          <a:lstStyle/>
          <a:p>
            <a:pPr marL="0" indent="0" algn="ctr">
              <a:buNone/>
            </a:pPr>
            <a:endParaRPr lang="en-US" sz="2200" dirty="0"/>
          </a:p>
        </p:txBody>
      </p:sp>
      <p:sp>
        <p:nvSpPr>
          <p:cNvPr id="29" name="Text 27"/>
          <p:cNvSpPr/>
          <p:nvPr/>
        </p:nvSpPr>
        <p:spPr>
          <a:xfrm>
            <a:off x="3400269" y="2688336"/>
            <a:ext cx="2212849" cy="320040"/>
          </a:xfrm>
          <a:prstGeom prst="rect">
            <a:avLst/>
          </a:prstGeom>
          <a:noFill/>
        </p:spPr>
        <p:txBody>
          <a:bodyPr wrap="square" lIns="0" tIns="0" rIns="0" bIns="0" rtlCol="0" anchor="ctr"/>
          <a:lstStyle/>
          <a:p>
            <a:pPr marL="0" indent="0">
              <a:buNone/>
            </a:pPr>
            <a:r>
              <a:rPr lang="en-US" sz="1100" b="1" dirty="0">
                <a:solidFill>
                  <a:srgbClr val="4ECDC4"/>
                </a:solidFill>
                <a:latin typeface="Courier New" panose="02070309020205020404" pitchFamily="34" charset="0"/>
                <a:ea typeface="Courier New" panose="02070309020205020404" pitchFamily="34" charset="-122"/>
                <a:cs typeface="Courier New" panose="02070309020205020404" pitchFamily="34" charset="-120"/>
              </a:rPr>
              <a:t>5. LCD 16x2</a:t>
            </a:r>
            <a:endParaRPr lang="en-US" sz="1100" dirty="0"/>
          </a:p>
        </p:txBody>
      </p:sp>
      <p:sp>
        <p:nvSpPr>
          <p:cNvPr id="30" name="Text 28"/>
          <p:cNvSpPr/>
          <p:nvPr/>
        </p:nvSpPr>
        <p:spPr>
          <a:xfrm>
            <a:off x="3400269" y="3008376"/>
            <a:ext cx="2212849" cy="457200"/>
          </a:xfrm>
          <a:prstGeom prst="rect">
            <a:avLst/>
          </a:prstGeom>
          <a:noFill/>
        </p:spPr>
        <p:txBody>
          <a:bodyPr wrap="square" lIns="0" tIns="0" rIns="0" bIns="0" rtlCol="0" anchor="ctr"/>
          <a:lstStyle/>
          <a:p>
            <a:pPr marL="0" indent="0">
              <a:buNone/>
            </a:pPr>
            <a:r>
              <a:rPr lang="en-US" sz="1000" dirty="0">
                <a:solidFill>
                  <a:srgbClr val="A0A0B8"/>
                </a:solidFill>
                <a:latin typeface="Calibri" panose="020F0502020204030204" pitchFamily="34" charset="0"/>
                <a:ea typeface="Calibri" panose="020F0502020204030204" pitchFamily="34" charset="-122"/>
                <a:cs typeface="Calibri" panose="020F0502020204030204" pitchFamily="34" charset="-120"/>
              </a:rPr>
              <a:t>Tampilkan status sistem</a:t>
            </a:r>
            <a:endParaRPr lang="en-US" sz="1000" dirty="0"/>
          </a:p>
        </p:txBody>
      </p:sp>
      <p:sp>
        <p:nvSpPr>
          <p:cNvPr id="31" name="Shape 29"/>
          <p:cNvSpPr/>
          <p:nvPr/>
        </p:nvSpPr>
        <p:spPr>
          <a:xfrm>
            <a:off x="6199632" y="2578608"/>
            <a:ext cx="2788920" cy="1005840"/>
          </a:xfrm>
          <a:prstGeom prst="rect">
            <a:avLst/>
          </a:prstGeom>
          <a:solidFill>
            <a:srgbClr val="1F2040"/>
          </a:solidFill>
          <a:ln w="12700">
            <a:solidFill>
              <a:srgbClr val="7C5CBF"/>
            </a:solidFill>
            <a:prstDash val="solid"/>
          </a:ln>
          <a:effectLst>
            <a:outerShdw blurRad="127000" dist="50800" dir="8100000" algn="bl" rotWithShape="0">
              <a:srgbClr val="000000">
                <a:alpha val="30000"/>
              </a:srgbClr>
            </a:outerShdw>
          </a:effectLst>
        </p:spPr>
        <p:txBody>
          <a:bodyPr/>
          <a:lstStyle/>
          <a:p>
            <a:endParaRPr lang="en-ID"/>
          </a:p>
        </p:txBody>
      </p:sp>
      <p:sp>
        <p:nvSpPr>
          <p:cNvPr id="32" name="Shape 30"/>
          <p:cNvSpPr/>
          <p:nvPr/>
        </p:nvSpPr>
        <p:spPr>
          <a:xfrm>
            <a:off x="6199632" y="2578608"/>
            <a:ext cx="2788920" cy="45720"/>
          </a:xfrm>
          <a:prstGeom prst="rect">
            <a:avLst/>
          </a:prstGeom>
          <a:solidFill>
            <a:srgbClr val="7C5CBF"/>
          </a:solidFill>
          <a:ln w="12700">
            <a:solidFill>
              <a:srgbClr val="7C5CBF"/>
            </a:solidFill>
            <a:prstDash val="solid"/>
          </a:ln>
        </p:spPr>
        <p:txBody>
          <a:bodyPr/>
          <a:lstStyle/>
          <a:p>
            <a:endParaRPr lang="en-ID"/>
          </a:p>
        </p:txBody>
      </p:sp>
      <p:sp>
        <p:nvSpPr>
          <p:cNvPr id="33" name="Text 31"/>
          <p:cNvSpPr/>
          <p:nvPr/>
        </p:nvSpPr>
        <p:spPr>
          <a:xfrm>
            <a:off x="6199632" y="2633472"/>
            <a:ext cx="640080" cy="868680"/>
          </a:xfrm>
          <a:prstGeom prst="rect">
            <a:avLst/>
          </a:prstGeom>
          <a:noFill/>
        </p:spPr>
        <p:txBody>
          <a:bodyPr wrap="square" rtlCol="0" anchor="ctr"/>
          <a:lstStyle/>
          <a:p>
            <a:pPr marL="0" indent="0" algn="ctr">
              <a:buNone/>
            </a:pPr>
            <a:endParaRPr lang="en-US" sz="2200" dirty="0"/>
          </a:p>
        </p:txBody>
      </p:sp>
      <p:sp>
        <p:nvSpPr>
          <p:cNvPr id="34" name="Text 32"/>
          <p:cNvSpPr/>
          <p:nvPr/>
        </p:nvSpPr>
        <p:spPr>
          <a:xfrm>
            <a:off x="6372069" y="2688336"/>
            <a:ext cx="2212849" cy="320040"/>
          </a:xfrm>
          <a:prstGeom prst="rect">
            <a:avLst/>
          </a:prstGeom>
          <a:noFill/>
        </p:spPr>
        <p:txBody>
          <a:bodyPr wrap="square" lIns="0" tIns="0" rIns="0" bIns="0" rtlCol="0" anchor="ctr"/>
          <a:lstStyle/>
          <a:p>
            <a:pPr marL="0" indent="0">
              <a:buNone/>
            </a:pPr>
            <a:r>
              <a:rPr lang="en-US" sz="1100" b="1" dirty="0">
                <a:solidFill>
                  <a:srgbClr val="4ECDC4"/>
                </a:solidFill>
                <a:latin typeface="Courier New" panose="02070309020205020404" pitchFamily="34" charset="0"/>
                <a:ea typeface="Courier New" panose="02070309020205020404" pitchFamily="34" charset="-122"/>
                <a:cs typeface="Courier New" panose="02070309020205020404" pitchFamily="34" charset="-120"/>
              </a:rPr>
              <a:t>6. Buzzer</a:t>
            </a:r>
            <a:endParaRPr lang="en-US" sz="1100" dirty="0"/>
          </a:p>
        </p:txBody>
      </p:sp>
      <p:sp>
        <p:nvSpPr>
          <p:cNvPr id="35" name="Text 33"/>
          <p:cNvSpPr/>
          <p:nvPr/>
        </p:nvSpPr>
        <p:spPr>
          <a:xfrm>
            <a:off x="6372069" y="3008376"/>
            <a:ext cx="2212849" cy="457200"/>
          </a:xfrm>
          <a:prstGeom prst="rect">
            <a:avLst/>
          </a:prstGeom>
          <a:noFill/>
        </p:spPr>
        <p:txBody>
          <a:bodyPr wrap="square" lIns="0" tIns="0" rIns="0" bIns="0" rtlCol="0" anchor="ctr"/>
          <a:lstStyle/>
          <a:p>
            <a:pPr marL="0" indent="0">
              <a:buNone/>
            </a:pPr>
            <a:r>
              <a:rPr lang="en-US" sz="1000" dirty="0">
                <a:solidFill>
                  <a:srgbClr val="A0A0B8"/>
                </a:solidFill>
                <a:latin typeface="Calibri" panose="020F0502020204030204" pitchFamily="34" charset="0"/>
                <a:ea typeface="Calibri" panose="020F0502020204030204" pitchFamily="34" charset="-122"/>
                <a:cs typeface="Calibri" panose="020F0502020204030204" pitchFamily="34" charset="-120"/>
              </a:rPr>
              <a:t>Bunyi saat kondisi kritis</a:t>
            </a:r>
            <a:endParaRPr lang="en-US" sz="1000" dirty="0"/>
          </a:p>
        </p:txBody>
      </p:sp>
      <p:sp>
        <p:nvSpPr>
          <p:cNvPr id="36" name="Shape 34"/>
          <p:cNvSpPr/>
          <p:nvPr/>
        </p:nvSpPr>
        <p:spPr>
          <a:xfrm>
            <a:off x="256032" y="3767328"/>
            <a:ext cx="2788920" cy="1005840"/>
          </a:xfrm>
          <a:prstGeom prst="rect">
            <a:avLst/>
          </a:prstGeom>
          <a:solidFill>
            <a:srgbClr val="1F2040"/>
          </a:solidFill>
          <a:ln w="12700">
            <a:solidFill>
              <a:srgbClr val="7C5CBF"/>
            </a:solidFill>
            <a:prstDash val="solid"/>
          </a:ln>
          <a:effectLst>
            <a:outerShdw blurRad="127000" dist="50800" dir="8100000" algn="bl" rotWithShape="0">
              <a:srgbClr val="000000">
                <a:alpha val="30000"/>
              </a:srgbClr>
            </a:outerShdw>
          </a:effectLst>
        </p:spPr>
        <p:txBody>
          <a:bodyPr/>
          <a:lstStyle/>
          <a:p>
            <a:endParaRPr lang="en-ID"/>
          </a:p>
        </p:txBody>
      </p:sp>
      <p:sp>
        <p:nvSpPr>
          <p:cNvPr id="37" name="Shape 35"/>
          <p:cNvSpPr/>
          <p:nvPr/>
        </p:nvSpPr>
        <p:spPr>
          <a:xfrm>
            <a:off x="256032" y="3767328"/>
            <a:ext cx="2788920" cy="45720"/>
          </a:xfrm>
          <a:prstGeom prst="rect">
            <a:avLst/>
          </a:prstGeom>
          <a:solidFill>
            <a:srgbClr val="7C5CBF"/>
          </a:solidFill>
          <a:ln w="12700">
            <a:solidFill>
              <a:srgbClr val="7C5CBF"/>
            </a:solidFill>
            <a:prstDash val="solid"/>
          </a:ln>
        </p:spPr>
        <p:txBody>
          <a:bodyPr/>
          <a:lstStyle/>
          <a:p>
            <a:endParaRPr lang="en-ID"/>
          </a:p>
        </p:txBody>
      </p:sp>
      <p:sp>
        <p:nvSpPr>
          <p:cNvPr id="38" name="Text 36"/>
          <p:cNvSpPr/>
          <p:nvPr/>
        </p:nvSpPr>
        <p:spPr>
          <a:xfrm>
            <a:off x="256032" y="3822192"/>
            <a:ext cx="640080" cy="868680"/>
          </a:xfrm>
          <a:prstGeom prst="rect">
            <a:avLst/>
          </a:prstGeom>
          <a:noFill/>
        </p:spPr>
        <p:txBody>
          <a:bodyPr wrap="square" rtlCol="0" anchor="ctr"/>
          <a:lstStyle/>
          <a:p>
            <a:pPr marL="0" indent="0" algn="ctr">
              <a:buNone/>
            </a:pPr>
            <a:endParaRPr lang="en-US" sz="2200" dirty="0"/>
          </a:p>
        </p:txBody>
      </p:sp>
      <p:sp>
        <p:nvSpPr>
          <p:cNvPr id="39" name="Text 37"/>
          <p:cNvSpPr/>
          <p:nvPr/>
        </p:nvSpPr>
        <p:spPr>
          <a:xfrm>
            <a:off x="428469" y="3877056"/>
            <a:ext cx="2212849" cy="320040"/>
          </a:xfrm>
          <a:prstGeom prst="rect">
            <a:avLst/>
          </a:prstGeom>
          <a:noFill/>
        </p:spPr>
        <p:txBody>
          <a:bodyPr wrap="square" lIns="0" tIns="0" rIns="0" bIns="0" rtlCol="0" anchor="ctr"/>
          <a:lstStyle/>
          <a:p>
            <a:pPr marL="0" indent="0">
              <a:buNone/>
            </a:pPr>
            <a:r>
              <a:rPr lang="en-US" sz="1100" b="1" dirty="0">
                <a:solidFill>
                  <a:srgbClr val="4ECDC4"/>
                </a:solidFill>
                <a:latin typeface="Courier New" panose="02070309020205020404" pitchFamily="34" charset="0"/>
                <a:ea typeface="Courier New" panose="02070309020205020404" pitchFamily="34" charset="-122"/>
                <a:cs typeface="Courier New" panose="02070309020205020404" pitchFamily="34" charset="-120"/>
              </a:rPr>
              <a:t>7. 2x Tombol</a:t>
            </a:r>
            <a:endParaRPr lang="en-US" sz="1100" dirty="0"/>
          </a:p>
        </p:txBody>
      </p:sp>
      <p:sp>
        <p:nvSpPr>
          <p:cNvPr id="40" name="Text 38"/>
          <p:cNvSpPr/>
          <p:nvPr/>
        </p:nvSpPr>
        <p:spPr>
          <a:xfrm>
            <a:off x="428469" y="4197096"/>
            <a:ext cx="2212849" cy="457200"/>
          </a:xfrm>
          <a:prstGeom prst="rect">
            <a:avLst/>
          </a:prstGeom>
          <a:noFill/>
        </p:spPr>
        <p:txBody>
          <a:bodyPr wrap="square" lIns="0" tIns="0" rIns="0" bIns="0" rtlCol="0" anchor="ctr"/>
          <a:lstStyle/>
          <a:p>
            <a:pPr marL="0" indent="0">
              <a:buNone/>
            </a:pPr>
            <a:r>
              <a:rPr lang="en-US" sz="1000" dirty="0">
                <a:solidFill>
                  <a:srgbClr val="A0A0B8"/>
                </a:solidFill>
                <a:latin typeface="Calibri" panose="020F0502020204030204" pitchFamily="34" charset="0"/>
                <a:ea typeface="Calibri" panose="020F0502020204030204" pitchFamily="34" charset="-122"/>
                <a:cs typeface="Calibri" panose="020F0502020204030204" pitchFamily="34" charset="-120"/>
              </a:rPr>
              <a:t>Kontrol manual &amp; atur batas</a:t>
            </a:r>
            <a:endParaRPr lang="en-US" sz="1000" dirty="0"/>
          </a:p>
        </p:txBody>
      </p:sp>
      <p:sp>
        <p:nvSpPr>
          <p:cNvPr id="41" name="Shape 39"/>
          <p:cNvSpPr/>
          <p:nvPr/>
        </p:nvSpPr>
        <p:spPr>
          <a:xfrm>
            <a:off x="3227832" y="3767328"/>
            <a:ext cx="2788920" cy="1005840"/>
          </a:xfrm>
          <a:prstGeom prst="rect">
            <a:avLst/>
          </a:prstGeom>
          <a:solidFill>
            <a:srgbClr val="1F2040"/>
          </a:solidFill>
          <a:ln w="12700">
            <a:solidFill>
              <a:srgbClr val="7C5CBF"/>
            </a:solidFill>
            <a:prstDash val="solid"/>
          </a:ln>
          <a:effectLst>
            <a:outerShdw blurRad="127000" dist="50800" dir="8100000" algn="bl" rotWithShape="0">
              <a:srgbClr val="000000">
                <a:alpha val="30000"/>
              </a:srgbClr>
            </a:outerShdw>
          </a:effectLst>
        </p:spPr>
        <p:txBody>
          <a:bodyPr/>
          <a:lstStyle/>
          <a:p>
            <a:endParaRPr lang="en-ID"/>
          </a:p>
        </p:txBody>
      </p:sp>
      <p:sp>
        <p:nvSpPr>
          <p:cNvPr id="42" name="Shape 40"/>
          <p:cNvSpPr/>
          <p:nvPr/>
        </p:nvSpPr>
        <p:spPr>
          <a:xfrm>
            <a:off x="3227832" y="3767328"/>
            <a:ext cx="2788920" cy="45720"/>
          </a:xfrm>
          <a:prstGeom prst="rect">
            <a:avLst/>
          </a:prstGeom>
          <a:solidFill>
            <a:srgbClr val="7C5CBF"/>
          </a:solidFill>
          <a:ln w="12700">
            <a:solidFill>
              <a:srgbClr val="7C5CBF"/>
            </a:solidFill>
            <a:prstDash val="solid"/>
          </a:ln>
        </p:spPr>
        <p:txBody>
          <a:bodyPr/>
          <a:lstStyle/>
          <a:p>
            <a:endParaRPr lang="en-ID"/>
          </a:p>
        </p:txBody>
      </p:sp>
      <p:sp>
        <p:nvSpPr>
          <p:cNvPr id="43" name="Text 41"/>
          <p:cNvSpPr/>
          <p:nvPr/>
        </p:nvSpPr>
        <p:spPr>
          <a:xfrm>
            <a:off x="3227832" y="3822192"/>
            <a:ext cx="640080" cy="868680"/>
          </a:xfrm>
          <a:prstGeom prst="rect">
            <a:avLst/>
          </a:prstGeom>
          <a:noFill/>
        </p:spPr>
        <p:txBody>
          <a:bodyPr wrap="square" rtlCol="0" anchor="ctr"/>
          <a:lstStyle/>
          <a:p>
            <a:pPr marL="0" indent="0" algn="ctr">
              <a:buNone/>
            </a:pPr>
            <a:endParaRPr lang="en-US" sz="2200" dirty="0"/>
          </a:p>
        </p:txBody>
      </p:sp>
      <p:sp>
        <p:nvSpPr>
          <p:cNvPr id="44" name="Text 42"/>
          <p:cNvSpPr/>
          <p:nvPr/>
        </p:nvSpPr>
        <p:spPr>
          <a:xfrm>
            <a:off x="3400269" y="3877056"/>
            <a:ext cx="2212849" cy="320040"/>
          </a:xfrm>
          <a:prstGeom prst="rect">
            <a:avLst/>
          </a:prstGeom>
          <a:noFill/>
        </p:spPr>
        <p:txBody>
          <a:bodyPr wrap="square" lIns="0" tIns="0" rIns="0" bIns="0" rtlCol="0" anchor="ctr"/>
          <a:lstStyle/>
          <a:p>
            <a:pPr marL="0" indent="0">
              <a:buNone/>
            </a:pPr>
            <a:r>
              <a:rPr lang="en-US" sz="1100" b="1" dirty="0">
                <a:solidFill>
                  <a:srgbClr val="4ECDC4"/>
                </a:solidFill>
                <a:latin typeface="Courier New" panose="02070309020205020404" pitchFamily="34" charset="0"/>
                <a:ea typeface="Courier New" panose="02070309020205020404" pitchFamily="34" charset="-122"/>
                <a:cs typeface="Courier New" panose="02070309020205020404" pitchFamily="34" charset="-120"/>
              </a:rPr>
              <a:t>8. MOSFET + Dioda</a:t>
            </a:r>
            <a:endParaRPr lang="en-US" sz="1100" dirty="0"/>
          </a:p>
        </p:txBody>
      </p:sp>
      <p:sp>
        <p:nvSpPr>
          <p:cNvPr id="45" name="Text 43"/>
          <p:cNvSpPr/>
          <p:nvPr/>
        </p:nvSpPr>
        <p:spPr>
          <a:xfrm>
            <a:off x="3400269" y="4197096"/>
            <a:ext cx="2212849" cy="457200"/>
          </a:xfrm>
          <a:prstGeom prst="rect">
            <a:avLst/>
          </a:prstGeom>
          <a:noFill/>
        </p:spPr>
        <p:txBody>
          <a:bodyPr wrap="square" lIns="0" tIns="0" rIns="0" bIns="0" rtlCol="0" anchor="ctr"/>
          <a:lstStyle/>
          <a:p>
            <a:pPr marL="0" indent="0">
              <a:buNone/>
            </a:pPr>
            <a:r>
              <a:rPr lang="en-US" sz="1000" dirty="0">
                <a:solidFill>
                  <a:srgbClr val="A0A0B8"/>
                </a:solidFill>
                <a:latin typeface="Calibri" panose="020F0502020204030204" pitchFamily="34" charset="0"/>
                <a:ea typeface="Calibri" panose="020F0502020204030204" pitchFamily="34" charset="-122"/>
                <a:cs typeface="Calibri" panose="020F0502020204030204" pitchFamily="34" charset="-120"/>
              </a:rPr>
              <a:t>Pengaman &amp; kontrol pompa</a:t>
            </a:r>
            <a:endParaRPr lang="en-US" sz="1000" dirty="0"/>
          </a:p>
        </p:txBody>
      </p:sp>
      <p:sp>
        <p:nvSpPr>
          <p:cNvPr id="46" name="Shape 44"/>
          <p:cNvSpPr/>
          <p:nvPr/>
        </p:nvSpPr>
        <p:spPr>
          <a:xfrm>
            <a:off x="6199632" y="3767328"/>
            <a:ext cx="2788920" cy="1005840"/>
          </a:xfrm>
          <a:prstGeom prst="rect">
            <a:avLst/>
          </a:prstGeom>
          <a:solidFill>
            <a:srgbClr val="1F2040"/>
          </a:solidFill>
          <a:ln w="12700">
            <a:solidFill>
              <a:srgbClr val="7C5CBF"/>
            </a:solidFill>
            <a:prstDash val="solid"/>
          </a:ln>
          <a:effectLst>
            <a:outerShdw blurRad="127000" dist="50800" dir="8100000" algn="bl" rotWithShape="0">
              <a:srgbClr val="000000">
                <a:alpha val="30000"/>
              </a:srgbClr>
            </a:outerShdw>
          </a:effectLst>
        </p:spPr>
        <p:txBody>
          <a:bodyPr/>
          <a:lstStyle/>
          <a:p>
            <a:endParaRPr lang="en-ID"/>
          </a:p>
        </p:txBody>
      </p:sp>
      <p:sp>
        <p:nvSpPr>
          <p:cNvPr id="47" name="Shape 45"/>
          <p:cNvSpPr/>
          <p:nvPr/>
        </p:nvSpPr>
        <p:spPr>
          <a:xfrm>
            <a:off x="6199632" y="3767328"/>
            <a:ext cx="2788920" cy="45720"/>
          </a:xfrm>
          <a:prstGeom prst="rect">
            <a:avLst/>
          </a:prstGeom>
          <a:solidFill>
            <a:srgbClr val="7C5CBF"/>
          </a:solidFill>
          <a:ln w="12700">
            <a:solidFill>
              <a:srgbClr val="7C5CBF"/>
            </a:solidFill>
            <a:prstDash val="solid"/>
          </a:ln>
        </p:spPr>
        <p:txBody>
          <a:bodyPr/>
          <a:lstStyle/>
          <a:p>
            <a:endParaRPr lang="en-ID"/>
          </a:p>
        </p:txBody>
      </p:sp>
      <p:sp>
        <p:nvSpPr>
          <p:cNvPr id="48" name="Text 46"/>
          <p:cNvSpPr/>
          <p:nvPr/>
        </p:nvSpPr>
        <p:spPr>
          <a:xfrm>
            <a:off x="6199632" y="3822192"/>
            <a:ext cx="640080" cy="868680"/>
          </a:xfrm>
          <a:prstGeom prst="rect">
            <a:avLst/>
          </a:prstGeom>
          <a:noFill/>
        </p:spPr>
        <p:txBody>
          <a:bodyPr wrap="square" rtlCol="0" anchor="ctr"/>
          <a:lstStyle/>
          <a:p>
            <a:pPr marL="0" indent="0" algn="ctr">
              <a:buNone/>
            </a:pPr>
            <a:endParaRPr lang="en-US" sz="2200" dirty="0"/>
          </a:p>
        </p:txBody>
      </p:sp>
      <p:sp>
        <p:nvSpPr>
          <p:cNvPr id="49" name="Text 47"/>
          <p:cNvSpPr/>
          <p:nvPr/>
        </p:nvSpPr>
        <p:spPr>
          <a:xfrm>
            <a:off x="6372069" y="3877056"/>
            <a:ext cx="2212849" cy="320040"/>
          </a:xfrm>
          <a:prstGeom prst="rect">
            <a:avLst/>
          </a:prstGeom>
          <a:noFill/>
        </p:spPr>
        <p:txBody>
          <a:bodyPr wrap="square" lIns="0" tIns="0" rIns="0" bIns="0" rtlCol="0" anchor="ctr"/>
          <a:lstStyle/>
          <a:p>
            <a:pPr marL="0" indent="0">
              <a:buNone/>
            </a:pPr>
            <a:r>
              <a:rPr lang="en-US" sz="1100" b="1" dirty="0">
                <a:solidFill>
                  <a:srgbClr val="4ECDC4"/>
                </a:solidFill>
                <a:latin typeface="Courier New" panose="02070309020205020404" pitchFamily="34" charset="0"/>
                <a:ea typeface="Courier New" panose="02070309020205020404" pitchFamily="34" charset="-122"/>
                <a:cs typeface="Courier New" panose="02070309020205020404" pitchFamily="34" charset="-120"/>
              </a:rPr>
              <a:t>9. Proteus / Arduino IDE</a:t>
            </a:r>
            <a:endParaRPr lang="en-US" sz="1100" dirty="0"/>
          </a:p>
        </p:txBody>
      </p:sp>
      <p:sp>
        <p:nvSpPr>
          <p:cNvPr id="50" name="Text 48"/>
          <p:cNvSpPr/>
          <p:nvPr/>
        </p:nvSpPr>
        <p:spPr>
          <a:xfrm>
            <a:off x="6372069" y="4197096"/>
            <a:ext cx="2212849" cy="457200"/>
          </a:xfrm>
          <a:prstGeom prst="rect">
            <a:avLst/>
          </a:prstGeom>
          <a:noFill/>
        </p:spPr>
        <p:txBody>
          <a:bodyPr wrap="square" lIns="0" tIns="0" rIns="0" bIns="0" rtlCol="0" anchor="ctr"/>
          <a:lstStyle/>
          <a:p>
            <a:pPr marL="0" indent="0">
              <a:buNone/>
            </a:pPr>
            <a:r>
              <a:rPr lang="en-US" sz="1000" dirty="0">
                <a:solidFill>
                  <a:srgbClr val="A0A0B8"/>
                </a:solidFill>
                <a:latin typeface="Calibri" panose="020F0502020204030204" pitchFamily="34" charset="0"/>
                <a:ea typeface="Calibri" panose="020F0502020204030204" pitchFamily="34" charset="-122"/>
                <a:cs typeface="Calibri" panose="020F0502020204030204" pitchFamily="34" charset="-120"/>
              </a:rPr>
              <a:t>Simulasi &amp; upload program</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3131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4ECDC4"/>
          </a:solidFill>
          <a:ln w="12700">
            <a:solidFill>
              <a:srgbClr val="4ECDC4"/>
            </a:solidFill>
            <a:prstDash val="solid"/>
          </a:ln>
        </p:spPr>
        <p:txBody>
          <a:bodyPr/>
          <a:lstStyle/>
          <a:p>
            <a:endParaRPr lang="en-ID"/>
          </a:p>
        </p:txBody>
      </p:sp>
      <p:sp>
        <p:nvSpPr>
          <p:cNvPr id="3" name="Text 1"/>
          <p:cNvSpPr/>
          <p:nvPr/>
        </p:nvSpPr>
        <p:spPr>
          <a:xfrm>
            <a:off x="411480" y="228600"/>
            <a:ext cx="6400800" cy="594360"/>
          </a:xfrm>
          <a:prstGeom prst="rect">
            <a:avLst/>
          </a:prstGeom>
          <a:noFill/>
        </p:spPr>
        <p:txBody>
          <a:bodyPr wrap="square" lIns="0" tIns="0" rIns="0" bIns="0" rtlCol="0" anchor="ctr"/>
          <a:lstStyle/>
          <a:p>
            <a:pPr marL="0" indent="0">
              <a:buNone/>
            </a:pPr>
            <a:r>
              <a:rPr lang="en-US" sz="3200" b="1" dirty="0">
                <a:solidFill>
                  <a:srgbClr val="4ECDC4"/>
                </a:solidFill>
                <a:latin typeface="Courier New" panose="02070309020205020404" pitchFamily="34" charset="0"/>
                <a:ea typeface="Courier New" panose="02070309020205020404" pitchFamily="34" charset="-122"/>
                <a:cs typeface="Courier New" panose="02070309020205020404" pitchFamily="34" charset="-120"/>
              </a:rPr>
              <a:t>IMPLEMENTATION</a:t>
            </a:r>
            <a:endParaRPr lang="en-US" sz="3200" dirty="0"/>
          </a:p>
        </p:txBody>
      </p:sp>
      <p:sp>
        <p:nvSpPr>
          <p:cNvPr id="4" name="Shape 2"/>
          <p:cNvSpPr/>
          <p:nvPr/>
        </p:nvSpPr>
        <p:spPr>
          <a:xfrm>
            <a:off x="411480" y="868680"/>
            <a:ext cx="1645920" cy="36576"/>
          </a:xfrm>
          <a:prstGeom prst="rect">
            <a:avLst/>
          </a:prstGeom>
          <a:solidFill>
            <a:srgbClr val="4ECDC4"/>
          </a:solidFill>
          <a:ln w="12700">
            <a:solidFill>
              <a:srgbClr val="4ECDC4"/>
            </a:solidFill>
            <a:prstDash val="solid"/>
          </a:ln>
        </p:spPr>
        <p:txBody>
          <a:bodyPr/>
          <a:lstStyle/>
          <a:p>
            <a:endParaRPr lang="en-ID"/>
          </a:p>
        </p:txBody>
      </p:sp>
      <p:sp>
        <p:nvSpPr>
          <p:cNvPr id="5" name="Text 3"/>
          <p:cNvSpPr/>
          <p:nvPr/>
        </p:nvSpPr>
        <p:spPr>
          <a:xfrm>
            <a:off x="411480" y="960120"/>
            <a:ext cx="8229600" cy="329184"/>
          </a:xfrm>
          <a:prstGeom prst="rect">
            <a:avLst/>
          </a:prstGeom>
          <a:noFill/>
        </p:spPr>
        <p:txBody>
          <a:bodyPr wrap="square" lIns="0" tIns="0" rIns="0" bIns="0" rtlCol="0" anchor="ctr"/>
          <a:lstStyle/>
          <a:p>
            <a:pPr marL="0" indent="0">
              <a:buNone/>
            </a:pPr>
            <a:r>
              <a:rPr lang="en-US" sz="1200" b="1" dirty="0">
                <a:solidFill>
                  <a:srgbClr val="A0A0B8"/>
                </a:solidFill>
                <a:latin typeface="Calibri" panose="020F0502020204030204" pitchFamily="34" charset="0"/>
                <a:ea typeface="Calibri" panose="020F0502020204030204" pitchFamily="34" charset="-122"/>
                <a:cs typeface="Calibri" panose="020F0502020204030204" pitchFamily="34" charset="-120"/>
              </a:rPr>
              <a:t>Cara kerja sistem secara sederhana:</a:t>
            </a:r>
            <a:endParaRPr lang="en-US" sz="1200" dirty="0"/>
          </a:p>
        </p:txBody>
      </p:sp>
      <p:sp>
        <p:nvSpPr>
          <p:cNvPr id="6" name="Shape 4"/>
          <p:cNvSpPr/>
          <p:nvPr/>
        </p:nvSpPr>
        <p:spPr>
          <a:xfrm>
            <a:off x="274320" y="1389888"/>
            <a:ext cx="4160520" cy="1005840"/>
          </a:xfrm>
          <a:prstGeom prst="rect">
            <a:avLst/>
          </a:prstGeom>
          <a:solidFill>
            <a:srgbClr val="1F2040"/>
          </a:solidFill>
          <a:ln w="12700">
            <a:solidFill>
              <a:srgbClr val="7C5CBF"/>
            </a:solidFill>
            <a:prstDash val="solid"/>
          </a:ln>
          <a:effectLst>
            <a:outerShdw blurRad="127000" dist="50800" dir="8100000" algn="bl" rotWithShape="0">
              <a:srgbClr val="000000">
                <a:alpha val="30000"/>
              </a:srgbClr>
            </a:outerShdw>
          </a:effectLst>
        </p:spPr>
        <p:txBody>
          <a:bodyPr/>
          <a:lstStyle/>
          <a:p>
            <a:endParaRPr lang="en-ID"/>
          </a:p>
        </p:txBody>
      </p:sp>
      <p:sp>
        <p:nvSpPr>
          <p:cNvPr id="7" name="Shape 5"/>
          <p:cNvSpPr/>
          <p:nvPr/>
        </p:nvSpPr>
        <p:spPr>
          <a:xfrm>
            <a:off x="274320" y="1389888"/>
            <a:ext cx="54864" cy="1005840"/>
          </a:xfrm>
          <a:prstGeom prst="rect">
            <a:avLst/>
          </a:prstGeom>
          <a:solidFill>
            <a:srgbClr val="4ECDC4"/>
          </a:solidFill>
          <a:ln w="12700">
            <a:solidFill>
              <a:srgbClr val="4ECDC4"/>
            </a:solidFill>
            <a:prstDash val="solid"/>
          </a:ln>
        </p:spPr>
        <p:txBody>
          <a:bodyPr/>
          <a:lstStyle/>
          <a:p>
            <a:endParaRPr lang="en-ID"/>
          </a:p>
        </p:txBody>
      </p:sp>
      <p:sp>
        <p:nvSpPr>
          <p:cNvPr id="8" name="Text 6"/>
          <p:cNvSpPr/>
          <p:nvPr/>
        </p:nvSpPr>
        <p:spPr>
          <a:xfrm>
            <a:off x="329184" y="1389888"/>
            <a:ext cx="731520" cy="1005840"/>
          </a:xfrm>
          <a:prstGeom prst="rect">
            <a:avLst/>
          </a:prstGeom>
          <a:noFill/>
        </p:spPr>
        <p:txBody>
          <a:bodyPr wrap="square" rtlCol="0" anchor="ctr"/>
          <a:lstStyle/>
          <a:p>
            <a:pPr marL="0" indent="0" algn="ctr">
              <a:buNone/>
            </a:pPr>
            <a:endParaRPr lang="en-US" sz="2200" dirty="0"/>
          </a:p>
        </p:txBody>
      </p:sp>
      <p:sp>
        <p:nvSpPr>
          <p:cNvPr id="9" name="Text 7"/>
          <p:cNvSpPr/>
          <p:nvPr/>
        </p:nvSpPr>
        <p:spPr>
          <a:xfrm>
            <a:off x="589132" y="1481328"/>
            <a:ext cx="3246120" cy="320040"/>
          </a:xfrm>
          <a:prstGeom prst="rect">
            <a:avLst/>
          </a:prstGeom>
          <a:noFill/>
        </p:spPr>
        <p:txBody>
          <a:bodyPr wrap="square" lIns="0" tIns="0" rIns="0" bIns="0" rtlCol="0" anchor="ctr"/>
          <a:lstStyle/>
          <a:p>
            <a:pPr marL="0" indent="0">
              <a:buNone/>
            </a:pPr>
            <a:r>
              <a:rPr lang="en-US" sz="1100" b="1" dirty="0">
                <a:solidFill>
                  <a:srgbClr val="4ECDC4"/>
                </a:solidFill>
                <a:latin typeface="Courier New" panose="02070309020205020404" pitchFamily="34" charset="0"/>
                <a:ea typeface="Courier New" panose="02070309020205020404" pitchFamily="34" charset="-122"/>
                <a:cs typeface="Courier New" panose="02070309020205020404" pitchFamily="34" charset="-120"/>
              </a:rPr>
              <a:t>Baca Sensor</a:t>
            </a:r>
            <a:endParaRPr lang="en-US" sz="1100" dirty="0"/>
          </a:p>
        </p:txBody>
      </p:sp>
      <p:sp>
        <p:nvSpPr>
          <p:cNvPr id="10" name="Text 8"/>
          <p:cNvSpPr/>
          <p:nvPr/>
        </p:nvSpPr>
        <p:spPr>
          <a:xfrm>
            <a:off x="589132" y="1801368"/>
            <a:ext cx="3246120" cy="530352"/>
          </a:xfrm>
          <a:prstGeom prst="rect">
            <a:avLst/>
          </a:prstGeom>
          <a:noFill/>
        </p:spPr>
        <p:txBody>
          <a:bodyPr wrap="square" lIns="0" tIns="0" rIns="0" bIns="0" rtlCol="0" anchor="ctr"/>
          <a:lstStyle/>
          <a:p>
            <a:pPr marL="0" indent="0">
              <a:buNone/>
            </a:pPr>
            <a:r>
              <a:rPr lang="en-US" sz="1050" dirty="0">
                <a:solidFill>
                  <a:srgbClr val="F0F0F0"/>
                </a:solidFill>
                <a:latin typeface="Calibri" panose="020F0502020204030204" pitchFamily="34" charset="0"/>
                <a:ea typeface="Calibri" panose="020F0502020204030204" pitchFamily="34" charset="-122"/>
                <a:cs typeface="Calibri" panose="020F0502020204030204" pitchFamily="34" charset="-120"/>
              </a:rPr>
              <a:t>Setiap 1 detik, Arduino membaca kadar air di tanah dan suhu udara sekitar.</a:t>
            </a:r>
            <a:endParaRPr lang="en-US" sz="1050" dirty="0"/>
          </a:p>
        </p:txBody>
      </p:sp>
      <p:sp>
        <p:nvSpPr>
          <p:cNvPr id="11" name="Shape 9"/>
          <p:cNvSpPr/>
          <p:nvPr/>
        </p:nvSpPr>
        <p:spPr>
          <a:xfrm>
            <a:off x="274320" y="2578608"/>
            <a:ext cx="4160520" cy="1005840"/>
          </a:xfrm>
          <a:prstGeom prst="rect">
            <a:avLst/>
          </a:prstGeom>
          <a:solidFill>
            <a:srgbClr val="1F2040"/>
          </a:solidFill>
          <a:ln w="12700">
            <a:solidFill>
              <a:srgbClr val="7C5CBF"/>
            </a:solidFill>
            <a:prstDash val="solid"/>
          </a:ln>
          <a:effectLst>
            <a:outerShdw blurRad="127000" dist="50800" dir="8100000" algn="bl" rotWithShape="0">
              <a:srgbClr val="000000">
                <a:alpha val="30000"/>
              </a:srgbClr>
            </a:outerShdw>
          </a:effectLst>
        </p:spPr>
        <p:txBody>
          <a:bodyPr/>
          <a:lstStyle/>
          <a:p>
            <a:endParaRPr lang="en-ID"/>
          </a:p>
        </p:txBody>
      </p:sp>
      <p:sp>
        <p:nvSpPr>
          <p:cNvPr id="12" name="Shape 10"/>
          <p:cNvSpPr/>
          <p:nvPr/>
        </p:nvSpPr>
        <p:spPr>
          <a:xfrm>
            <a:off x="274320" y="2578608"/>
            <a:ext cx="54864" cy="1005840"/>
          </a:xfrm>
          <a:prstGeom prst="rect">
            <a:avLst/>
          </a:prstGeom>
          <a:solidFill>
            <a:srgbClr val="4ECDC4"/>
          </a:solidFill>
          <a:ln w="12700">
            <a:solidFill>
              <a:srgbClr val="4ECDC4"/>
            </a:solidFill>
            <a:prstDash val="solid"/>
          </a:ln>
        </p:spPr>
        <p:txBody>
          <a:bodyPr/>
          <a:lstStyle/>
          <a:p>
            <a:endParaRPr lang="en-ID"/>
          </a:p>
        </p:txBody>
      </p:sp>
      <p:sp>
        <p:nvSpPr>
          <p:cNvPr id="13" name="Text 11"/>
          <p:cNvSpPr/>
          <p:nvPr/>
        </p:nvSpPr>
        <p:spPr>
          <a:xfrm>
            <a:off x="329184" y="2578608"/>
            <a:ext cx="731520" cy="1005840"/>
          </a:xfrm>
          <a:prstGeom prst="rect">
            <a:avLst/>
          </a:prstGeom>
          <a:noFill/>
        </p:spPr>
        <p:txBody>
          <a:bodyPr wrap="square" rtlCol="0" anchor="ctr"/>
          <a:lstStyle/>
          <a:p>
            <a:pPr marL="0" indent="0" algn="ctr">
              <a:buNone/>
            </a:pPr>
            <a:endParaRPr lang="en-US" sz="2200" dirty="0"/>
          </a:p>
        </p:txBody>
      </p:sp>
      <p:sp>
        <p:nvSpPr>
          <p:cNvPr id="14" name="Text 12"/>
          <p:cNvSpPr/>
          <p:nvPr/>
        </p:nvSpPr>
        <p:spPr>
          <a:xfrm>
            <a:off x="589132" y="2670048"/>
            <a:ext cx="3246120" cy="320040"/>
          </a:xfrm>
          <a:prstGeom prst="rect">
            <a:avLst/>
          </a:prstGeom>
          <a:noFill/>
        </p:spPr>
        <p:txBody>
          <a:bodyPr wrap="square" lIns="0" tIns="0" rIns="0" bIns="0" rtlCol="0" anchor="ctr"/>
          <a:lstStyle/>
          <a:p>
            <a:pPr marL="0" indent="0">
              <a:buNone/>
            </a:pPr>
            <a:r>
              <a:rPr lang="en-US" sz="1100" b="1" dirty="0">
                <a:solidFill>
                  <a:srgbClr val="4ECDC4"/>
                </a:solidFill>
                <a:latin typeface="Courier New" panose="02070309020205020404" pitchFamily="34" charset="0"/>
                <a:ea typeface="Courier New" panose="02070309020205020404" pitchFamily="34" charset="-122"/>
                <a:cs typeface="Courier New" panose="02070309020205020404" pitchFamily="34" charset="-120"/>
              </a:rPr>
              <a:t>Ambil Keputusan</a:t>
            </a:r>
            <a:endParaRPr lang="en-US" sz="1100" dirty="0"/>
          </a:p>
        </p:txBody>
      </p:sp>
      <p:sp>
        <p:nvSpPr>
          <p:cNvPr id="15" name="Text 13"/>
          <p:cNvSpPr/>
          <p:nvPr/>
        </p:nvSpPr>
        <p:spPr>
          <a:xfrm>
            <a:off x="589132" y="2990088"/>
            <a:ext cx="3246120" cy="530352"/>
          </a:xfrm>
          <a:prstGeom prst="rect">
            <a:avLst/>
          </a:prstGeom>
          <a:noFill/>
        </p:spPr>
        <p:txBody>
          <a:bodyPr wrap="square" lIns="0" tIns="0" rIns="0" bIns="0" rtlCol="0" anchor="ctr"/>
          <a:lstStyle/>
          <a:p>
            <a:pPr marL="0" indent="0">
              <a:buNone/>
            </a:pPr>
            <a:r>
              <a:rPr lang="en-US" sz="1050" dirty="0">
                <a:solidFill>
                  <a:srgbClr val="F0F0F0"/>
                </a:solidFill>
                <a:latin typeface="Calibri" panose="020F0502020204030204" pitchFamily="34" charset="0"/>
                <a:ea typeface="Calibri" panose="020F0502020204030204" pitchFamily="34" charset="-122"/>
                <a:cs typeface="Calibri" panose="020F0502020204030204" pitchFamily="34" charset="-120"/>
              </a:rPr>
              <a:t>Sistem memutuskan apakah tanah perlu disiram atau tidak berdasarkan batas yang sudah diatur.</a:t>
            </a:r>
            <a:endParaRPr lang="en-US" sz="1050" dirty="0"/>
          </a:p>
        </p:txBody>
      </p:sp>
      <p:sp>
        <p:nvSpPr>
          <p:cNvPr id="16" name="Shape 14"/>
          <p:cNvSpPr/>
          <p:nvPr/>
        </p:nvSpPr>
        <p:spPr>
          <a:xfrm>
            <a:off x="274320" y="3767328"/>
            <a:ext cx="4160520" cy="1005840"/>
          </a:xfrm>
          <a:prstGeom prst="rect">
            <a:avLst/>
          </a:prstGeom>
          <a:solidFill>
            <a:srgbClr val="1F2040"/>
          </a:solidFill>
          <a:ln w="12700">
            <a:solidFill>
              <a:srgbClr val="7C5CBF"/>
            </a:solidFill>
            <a:prstDash val="solid"/>
          </a:ln>
          <a:effectLst>
            <a:outerShdw blurRad="127000" dist="50800" dir="8100000" algn="bl" rotWithShape="0">
              <a:srgbClr val="000000">
                <a:alpha val="30000"/>
              </a:srgbClr>
            </a:outerShdw>
          </a:effectLst>
        </p:spPr>
        <p:txBody>
          <a:bodyPr/>
          <a:lstStyle/>
          <a:p>
            <a:endParaRPr lang="en-ID"/>
          </a:p>
        </p:txBody>
      </p:sp>
      <p:sp>
        <p:nvSpPr>
          <p:cNvPr id="17" name="Shape 15"/>
          <p:cNvSpPr/>
          <p:nvPr/>
        </p:nvSpPr>
        <p:spPr>
          <a:xfrm>
            <a:off x="274320" y="3767328"/>
            <a:ext cx="54864" cy="1005840"/>
          </a:xfrm>
          <a:prstGeom prst="rect">
            <a:avLst/>
          </a:prstGeom>
          <a:solidFill>
            <a:srgbClr val="4ECDC4"/>
          </a:solidFill>
          <a:ln w="12700">
            <a:solidFill>
              <a:srgbClr val="4ECDC4"/>
            </a:solidFill>
            <a:prstDash val="solid"/>
          </a:ln>
        </p:spPr>
        <p:txBody>
          <a:bodyPr/>
          <a:lstStyle/>
          <a:p>
            <a:endParaRPr lang="en-ID"/>
          </a:p>
        </p:txBody>
      </p:sp>
      <p:sp>
        <p:nvSpPr>
          <p:cNvPr id="18" name="Text 16"/>
          <p:cNvSpPr/>
          <p:nvPr/>
        </p:nvSpPr>
        <p:spPr>
          <a:xfrm>
            <a:off x="329184" y="3767328"/>
            <a:ext cx="731520" cy="1005840"/>
          </a:xfrm>
          <a:prstGeom prst="rect">
            <a:avLst/>
          </a:prstGeom>
          <a:noFill/>
        </p:spPr>
        <p:txBody>
          <a:bodyPr wrap="square" rtlCol="0" anchor="ctr"/>
          <a:lstStyle/>
          <a:p>
            <a:pPr marL="0" indent="0" algn="ctr">
              <a:buNone/>
            </a:pPr>
            <a:endParaRPr lang="en-US" sz="2200" dirty="0"/>
          </a:p>
        </p:txBody>
      </p:sp>
      <p:sp>
        <p:nvSpPr>
          <p:cNvPr id="19" name="Text 17"/>
          <p:cNvSpPr/>
          <p:nvPr/>
        </p:nvSpPr>
        <p:spPr>
          <a:xfrm>
            <a:off x="589132" y="3858768"/>
            <a:ext cx="3246120" cy="320040"/>
          </a:xfrm>
          <a:prstGeom prst="rect">
            <a:avLst/>
          </a:prstGeom>
          <a:noFill/>
        </p:spPr>
        <p:txBody>
          <a:bodyPr wrap="square" lIns="0" tIns="0" rIns="0" bIns="0" rtlCol="0" anchor="ctr"/>
          <a:lstStyle/>
          <a:p>
            <a:pPr marL="0" indent="0">
              <a:buNone/>
            </a:pPr>
            <a:r>
              <a:rPr lang="en-US" sz="1100" b="1" dirty="0">
                <a:solidFill>
                  <a:srgbClr val="4ECDC4"/>
                </a:solidFill>
                <a:latin typeface="Courier New" panose="02070309020205020404" pitchFamily="34" charset="0"/>
                <a:ea typeface="Courier New" panose="02070309020205020404" pitchFamily="34" charset="-122"/>
                <a:cs typeface="Courier New" panose="02070309020205020404" pitchFamily="34" charset="-120"/>
              </a:rPr>
              <a:t>Nyalakan Pompa</a:t>
            </a:r>
            <a:endParaRPr lang="en-US" sz="1100" dirty="0"/>
          </a:p>
        </p:txBody>
      </p:sp>
      <p:sp>
        <p:nvSpPr>
          <p:cNvPr id="20" name="Text 18"/>
          <p:cNvSpPr/>
          <p:nvPr/>
        </p:nvSpPr>
        <p:spPr>
          <a:xfrm>
            <a:off x="589132" y="4178808"/>
            <a:ext cx="3246120" cy="530352"/>
          </a:xfrm>
          <a:prstGeom prst="rect">
            <a:avLst/>
          </a:prstGeom>
          <a:noFill/>
        </p:spPr>
        <p:txBody>
          <a:bodyPr wrap="square" lIns="0" tIns="0" rIns="0" bIns="0" rtlCol="0" anchor="ctr"/>
          <a:lstStyle/>
          <a:p>
            <a:pPr marL="0" indent="0">
              <a:buNone/>
            </a:pPr>
            <a:r>
              <a:rPr lang="en-US" sz="1050" dirty="0">
                <a:solidFill>
                  <a:srgbClr val="F0F0F0"/>
                </a:solidFill>
                <a:latin typeface="Calibri" panose="020F0502020204030204" pitchFamily="34" charset="0"/>
                <a:ea typeface="Calibri" panose="020F0502020204030204" pitchFamily="34" charset="-122"/>
                <a:cs typeface="Calibri" panose="020F0502020204030204" pitchFamily="34" charset="-120"/>
              </a:rPr>
              <a:t>Kalau tanah kering, pompa air otomatis menyala. Makin kering tanahnya, makin kencang pompanya.</a:t>
            </a:r>
            <a:endParaRPr lang="en-US" sz="1050" dirty="0"/>
          </a:p>
        </p:txBody>
      </p:sp>
      <p:sp>
        <p:nvSpPr>
          <p:cNvPr id="21" name="Shape 19"/>
          <p:cNvSpPr/>
          <p:nvPr/>
        </p:nvSpPr>
        <p:spPr>
          <a:xfrm>
            <a:off x="4709160" y="1389888"/>
            <a:ext cx="4160321" cy="1005840"/>
          </a:xfrm>
          <a:prstGeom prst="rect">
            <a:avLst/>
          </a:prstGeom>
          <a:solidFill>
            <a:srgbClr val="1F2040"/>
          </a:solidFill>
          <a:ln w="12700">
            <a:solidFill>
              <a:srgbClr val="7C5CBF"/>
            </a:solidFill>
            <a:prstDash val="solid"/>
          </a:ln>
          <a:effectLst>
            <a:outerShdw blurRad="127000" dist="50800" dir="8100000" algn="bl" rotWithShape="0">
              <a:srgbClr val="000000">
                <a:alpha val="30000"/>
              </a:srgbClr>
            </a:outerShdw>
          </a:effectLst>
        </p:spPr>
        <p:txBody>
          <a:bodyPr/>
          <a:lstStyle/>
          <a:p>
            <a:endParaRPr lang="en-ID" dirty="0"/>
          </a:p>
        </p:txBody>
      </p:sp>
      <p:sp>
        <p:nvSpPr>
          <p:cNvPr id="22" name="Shape 20"/>
          <p:cNvSpPr/>
          <p:nvPr/>
        </p:nvSpPr>
        <p:spPr>
          <a:xfrm>
            <a:off x="4709160" y="1389888"/>
            <a:ext cx="54864" cy="1005840"/>
          </a:xfrm>
          <a:prstGeom prst="rect">
            <a:avLst/>
          </a:prstGeom>
          <a:solidFill>
            <a:srgbClr val="00F5D4"/>
          </a:solidFill>
          <a:ln w="12700">
            <a:solidFill>
              <a:srgbClr val="00F5D4"/>
            </a:solidFill>
            <a:prstDash val="solid"/>
          </a:ln>
        </p:spPr>
        <p:txBody>
          <a:bodyPr/>
          <a:lstStyle/>
          <a:p>
            <a:endParaRPr lang="en-ID"/>
          </a:p>
        </p:txBody>
      </p:sp>
      <p:sp>
        <p:nvSpPr>
          <p:cNvPr id="23" name="Text 21"/>
          <p:cNvSpPr/>
          <p:nvPr/>
        </p:nvSpPr>
        <p:spPr>
          <a:xfrm>
            <a:off x="4764024" y="1389888"/>
            <a:ext cx="731520" cy="1005840"/>
          </a:xfrm>
          <a:prstGeom prst="rect">
            <a:avLst/>
          </a:prstGeom>
          <a:noFill/>
        </p:spPr>
        <p:txBody>
          <a:bodyPr wrap="square" rtlCol="0" anchor="ctr"/>
          <a:lstStyle/>
          <a:p>
            <a:pPr marL="0" indent="0" algn="ctr">
              <a:buNone/>
            </a:pPr>
            <a:endParaRPr lang="en-US" sz="2200" dirty="0"/>
          </a:p>
        </p:txBody>
      </p:sp>
      <p:sp>
        <p:nvSpPr>
          <p:cNvPr id="24" name="Text 22"/>
          <p:cNvSpPr/>
          <p:nvPr/>
        </p:nvSpPr>
        <p:spPr>
          <a:xfrm>
            <a:off x="5042260" y="1481328"/>
            <a:ext cx="3218688" cy="320040"/>
          </a:xfrm>
          <a:prstGeom prst="rect">
            <a:avLst/>
          </a:prstGeom>
          <a:noFill/>
        </p:spPr>
        <p:txBody>
          <a:bodyPr wrap="square" lIns="0" tIns="0" rIns="0" bIns="0" rtlCol="0" anchor="ctr"/>
          <a:lstStyle/>
          <a:p>
            <a:pPr marL="0" indent="0">
              <a:buNone/>
            </a:pPr>
            <a:r>
              <a:rPr lang="en-US" sz="1100" b="1" dirty="0">
                <a:solidFill>
                  <a:srgbClr val="00F5D4"/>
                </a:solidFill>
                <a:latin typeface="Courier New" panose="02070309020205020404" pitchFamily="34" charset="0"/>
                <a:ea typeface="Courier New" panose="02070309020205020404" pitchFamily="34" charset="-122"/>
                <a:cs typeface="Courier New" panose="02070309020205020404" pitchFamily="34" charset="-120"/>
              </a:rPr>
              <a:t>Tampilkan Info</a:t>
            </a:r>
            <a:endParaRPr lang="en-US" sz="1100" dirty="0"/>
          </a:p>
        </p:txBody>
      </p:sp>
      <p:sp>
        <p:nvSpPr>
          <p:cNvPr id="25" name="Text 23"/>
          <p:cNvSpPr/>
          <p:nvPr/>
        </p:nvSpPr>
        <p:spPr>
          <a:xfrm>
            <a:off x="5042260" y="1801368"/>
            <a:ext cx="3218688" cy="530352"/>
          </a:xfrm>
          <a:prstGeom prst="rect">
            <a:avLst/>
          </a:prstGeom>
          <a:noFill/>
        </p:spPr>
        <p:txBody>
          <a:bodyPr wrap="square" lIns="0" tIns="0" rIns="0" bIns="0" rtlCol="0" anchor="ctr"/>
          <a:lstStyle/>
          <a:p>
            <a:pPr marL="0" indent="0">
              <a:buNone/>
            </a:pPr>
            <a:r>
              <a:rPr lang="en-US" sz="1050" dirty="0">
                <a:solidFill>
                  <a:srgbClr val="F0F0F0"/>
                </a:solidFill>
                <a:latin typeface="Calibri" panose="020F0502020204030204" pitchFamily="34" charset="0"/>
                <a:ea typeface="Calibri" panose="020F0502020204030204" pitchFamily="34" charset="-122"/>
                <a:cs typeface="Calibri" panose="020F0502020204030204" pitchFamily="34" charset="-120"/>
              </a:rPr>
              <a:t>LCD langsung menampilkan kelembapan, suhu, dan status pompa supaya pemilik bisa memantau.</a:t>
            </a:r>
            <a:endParaRPr lang="en-US" sz="1050" dirty="0"/>
          </a:p>
        </p:txBody>
      </p:sp>
      <p:sp>
        <p:nvSpPr>
          <p:cNvPr id="26" name="Shape 24"/>
          <p:cNvSpPr/>
          <p:nvPr/>
        </p:nvSpPr>
        <p:spPr>
          <a:xfrm>
            <a:off x="4709160" y="2578608"/>
            <a:ext cx="4160520" cy="1005840"/>
          </a:xfrm>
          <a:prstGeom prst="rect">
            <a:avLst/>
          </a:prstGeom>
          <a:solidFill>
            <a:srgbClr val="1F2040"/>
          </a:solidFill>
          <a:ln w="12700">
            <a:solidFill>
              <a:srgbClr val="7C5CBF"/>
            </a:solidFill>
            <a:prstDash val="solid"/>
          </a:ln>
          <a:effectLst>
            <a:outerShdw blurRad="127000" dist="50800" dir="8100000" algn="bl" rotWithShape="0">
              <a:srgbClr val="000000">
                <a:alpha val="30000"/>
              </a:srgbClr>
            </a:outerShdw>
          </a:effectLst>
        </p:spPr>
        <p:txBody>
          <a:bodyPr/>
          <a:lstStyle/>
          <a:p>
            <a:endParaRPr lang="en-ID"/>
          </a:p>
        </p:txBody>
      </p:sp>
      <p:sp>
        <p:nvSpPr>
          <p:cNvPr id="27" name="Shape 25"/>
          <p:cNvSpPr/>
          <p:nvPr/>
        </p:nvSpPr>
        <p:spPr>
          <a:xfrm>
            <a:off x="4709160" y="2578608"/>
            <a:ext cx="54864" cy="1005840"/>
          </a:xfrm>
          <a:prstGeom prst="rect">
            <a:avLst/>
          </a:prstGeom>
          <a:solidFill>
            <a:srgbClr val="00F5D4"/>
          </a:solidFill>
          <a:ln w="12700">
            <a:solidFill>
              <a:srgbClr val="00F5D4"/>
            </a:solidFill>
            <a:prstDash val="solid"/>
          </a:ln>
        </p:spPr>
        <p:txBody>
          <a:bodyPr/>
          <a:lstStyle/>
          <a:p>
            <a:endParaRPr lang="en-ID"/>
          </a:p>
        </p:txBody>
      </p:sp>
      <p:sp>
        <p:nvSpPr>
          <p:cNvPr id="28" name="Text 26"/>
          <p:cNvSpPr/>
          <p:nvPr/>
        </p:nvSpPr>
        <p:spPr>
          <a:xfrm>
            <a:off x="4764024" y="2578608"/>
            <a:ext cx="731520" cy="1005840"/>
          </a:xfrm>
          <a:prstGeom prst="rect">
            <a:avLst/>
          </a:prstGeom>
          <a:noFill/>
        </p:spPr>
        <p:txBody>
          <a:bodyPr wrap="square" rtlCol="0" anchor="ctr"/>
          <a:lstStyle/>
          <a:p>
            <a:pPr marL="0" indent="0" algn="ctr">
              <a:buNone/>
            </a:pPr>
            <a:endParaRPr lang="en-US" sz="2200" dirty="0"/>
          </a:p>
        </p:txBody>
      </p:sp>
      <p:sp>
        <p:nvSpPr>
          <p:cNvPr id="29" name="Text 27"/>
          <p:cNvSpPr/>
          <p:nvPr/>
        </p:nvSpPr>
        <p:spPr>
          <a:xfrm>
            <a:off x="5042260" y="2670048"/>
            <a:ext cx="3218688" cy="320040"/>
          </a:xfrm>
          <a:prstGeom prst="rect">
            <a:avLst/>
          </a:prstGeom>
          <a:noFill/>
        </p:spPr>
        <p:txBody>
          <a:bodyPr wrap="square" lIns="0" tIns="0" rIns="0" bIns="0" rtlCol="0" anchor="ctr"/>
          <a:lstStyle/>
          <a:p>
            <a:pPr marL="0" indent="0">
              <a:buNone/>
            </a:pPr>
            <a:r>
              <a:rPr lang="en-US" sz="1100" b="1" dirty="0">
                <a:solidFill>
                  <a:srgbClr val="00F5D4"/>
                </a:solidFill>
                <a:latin typeface="Courier New" panose="02070309020205020404" pitchFamily="34" charset="0"/>
                <a:ea typeface="Courier New" panose="02070309020205020404" pitchFamily="34" charset="-122"/>
                <a:cs typeface="Courier New" panose="02070309020205020404" pitchFamily="34" charset="-120"/>
              </a:rPr>
              <a:t>Beri Peringatan</a:t>
            </a:r>
            <a:endParaRPr lang="en-US" sz="1100" dirty="0"/>
          </a:p>
        </p:txBody>
      </p:sp>
      <p:sp>
        <p:nvSpPr>
          <p:cNvPr id="30" name="Text 28"/>
          <p:cNvSpPr/>
          <p:nvPr/>
        </p:nvSpPr>
        <p:spPr>
          <a:xfrm>
            <a:off x="5042260" y="2990088"/>
            <a:ext cx="3218688" cy="530352"/>
          </a:xfrm>
          <a:prstGeom prst="rect">
            <a:avLst/>
          </a:prstGeom>
          <a:noFill/>
        </p:spPr>
        <p:txBody>
          <a:bodyPr wrap="square" lIns="0" tIns="0" rIns="0" bIns="0" rtlCol="0" anchor="ctr"/>
          <a:lstStyle/>
          <a:p>
            <a:pPr marL="0" indent="0">
              <a:buNone/>
            </a:pPr>
            <a:r>
              <a:rPr lang="en-US" sz="1050" dirty="0">
                <a:solidFill>
                  <a:srgbClr val="F0F0F0"/>
                </a:solidFill>
                <a:latin typeface="Calibri" panose="020F0502020204030204" pitchFamily="34" charset="0"/>
                <a:ea typeface="Calibri" panose="020F0502020204030204" pitchFamily="34" charset="-122"/>
                <a:cs typeface="Calibri" panose="020F0502020204030204" pitchFamily="34" charset="-120"/>
              </a:rPr>
              <a:t>Kalau tanah sangat kering (kondisi kritis), buzzer berbunyi sebagai alarm tanda bahaya.</a:t>
            </a:r>
            <a:endParaRPr lang="en-US" sz="1050" dirty="0"/>
          </a:p>
        </p:txBody>
      </p:sp>
      <p:sp>
        <p:nvSpPr>
          <p:cNvPr id="31" name="Shape 29"/>
          <p:cNvSpPr/>
          <p:nvPr/>
        </p:nvSpPr>
        <p:spPr>
          <a:xfrm>
            <a:off x="4709160" y="3767328"/>
            <a:ext cx="4160520" cy="1005840"/>
          </a:xfrm>
          <a:prstGeom prst="rect">
            <a:avLst/>
          </a:prstGeom>
          <a:solidFill>
            <a:srgbClr val="1F2040"/>
          </a:solidFill>
          <a:ln w="12700">
            <a:solidFill>
              <a:srgbClr val="7C5CBF"/>
            </a:solidFill>
            <a:prstDash val="solid"/>
          </a:ln>
          <a:effectLst>
            <a:outerShdw blurRad="127000" dist="50800" dir="8100000" algn="bl" rotWithShape="0">
              <a:srgbClr val="000000">
                <a:alpha val="30000"/>
              </a:srgbClr>
            </a:outerShdw>
          </a:effectLst>
        </p:spPr>
        <p:txBody>
          <a:bodyPr/>
          <a:lstStyle/>
          <a:p>
            <a:endParaRPr lang="en-ID"/>
          </a:p>
        </p:txBody>
      </p:sp>
      <p:sp>
        <p:nvSpPr>
          <p:cNvPr id="32" name="Shape 30"/>
          <p:cNvSpPr/>
          <p:nvPr/>
        </p:nvSpPr>
        <p:spPr>
          <a:xfrm>
            <a:off x="4709160" y="3767328"/>
            <a:ext cx="54864" cy="1005840"/>
          </a:xfrm>
          <a:prstGeom prst="rect">
            <a:avLst/>
          </a:prstGeom>
          <a:solidFill>
            <a:srgbClr val="00F5D4"/>
          </a:solidFill>
          <a:ln w="12700">
            <a:solidFill>
              <a:srgbClr val="00F5D4"/>
            </a:solidFill>
            <a:prstDash val="solid"/>
          </a:ln>
        </p:spPr>
        <p:txBody>
          <a:bodyPr/>
          <a:lstStyle/>
          <a:p>
            <a:endParaRPr lang="en-ID"/>
          </a:p>
        </p:txBody>
      </p:sp>
      <p:sp>
        <p:nvSpPr>
          <p:cNvPr id="33" name="Text 31"/>
          <p:cNvSpPr/>
          <p:nvPr/>
        </p:nvSpPr>
        <p:spPr>
          <a:xfrm>
            <a:off x="4764024" y="3767328"/>
            <a:ext cx="731520" cy="1005840"/>
          </a:xfrm>
          <a:prstGeom prst="rect">
            <a:avLst/>
          </a:prstGeom>
          <a:noFill/>
        </p:spPr>
        <p:txBody>
          <a:bodyPr wrap="square" rtlCol="0" anchor="ctr"/>
          <a:lstStyle/>
          <a:p>
            <a:pPr marL="0" indent="0" algn="ctr">
              <a:buNone/>
            </a:pPr>
            <a:endParaRPr lang="en-US" sz="2200" dirty="0"/>
          </a:p>
        </p:txBody>
      </p:sp>
      <p:sp>
        <p:nvSpPr>
          <p:cNvPr id="34" name="Text 32"/>
          <p:cNvSpPr/>
          <p:nvPr/>
        </p:nvSpPr>
        <p:spPr>
          <a:xfrm>
            <a:off x="5042260" y="3858768"/>
            <a:ext cx="3218688" cy="320040"/>
          </a:xfrm>
          <a:prstGeom prst="rect">
            <a:avLst/>
          </a:prstGeom>
          <a:noFill/>
        </p:spPr>
        <p:txBody>
          <a:bodyPr wrap="square" lIns="0" tIns="0" rIns="0" bIns="0" rtlCol="0" anchor="ctr"/>
          <a:lstStyle/>
          <a:p>
            <a:pPr marL="0" indent="0">
              <a:buNone/>
            </a:pPr>
            <a:r>
              <a:rPr lang="en-US" sz="1100" b="1" dirty="0">
                <a:solidFill>
                  <a:srgbClr val="00F5D4"/>
                </a:solidFill>
                <a:latin typeface="Courier New" panose="02070309020205020404" pitchFamily="34" charset="0"/>
                <a:ea typeface="Courier New" panose="02070309020205020404" pitchFamily="34" charset="-122"/>
                <a:cs typeface="Courier New" panose="02070309020205020404" pitchFamily="34" charset="-120"/>
              </a:rPr>
              <a:t>Kontrol Manual</a:t>
            </a:r>
            <a:endParaRPr lang="en-US" sz="1100" dirty="0"/>
          </a:p>
        </p:txBody>
      </p:sp>
      <p:sp>
        <p:nvSpPr>
          <p:cNvPr id="35" name="Text 33"/>
          <p:cNvSpPr/>
          <p:nvPr/>
        </p:nvSpPr>
        <p:spPr>
          <a:xfrm>
            <a:off x="5042260" y="4178808"/>
            <a:ext cx="3218688" cy="530352"/>
          </a:xfrm>
          <a:prstGeom prst="rect">
            <a:avLst/>
          </a:prstGeom>
          <a:noFill/>
        </p:spPr>
        <p:txBody>
          <a:bodyPr wrap="square" lIns="0" tIns="0" rIns="0" bIns="0" rtlCol="0" anchor="ctr"/>
          <a:lstStyle/>
          <a:p>
            <a:pPr marL="0" indent="0">
              <a:buNone/>
            </a:pPr>
            <a:r>
              <a:rPr lang="en-US" sz="1050" dirty="0">
                <a:solidFill>
                  <a:srgbClr val="F0F0F0"/>
                </a:solidFill>
                <a:latin typeface="Calibri" panose="020F0502020204030204" pitchFamily="34" charset="0"/>
                <a:ea typeface="Calibri" panose="020F0502020204030204" pitchFamily="34" charset="-122"/>
                <a:cs typeface="Calibri" panose="020F0502020204030204" pitchFamily="34" charset="-120"/>
              </a:rPr>
              <a:t>Tombol manual memungkinkan pemilik menyiram kapan saja, dan tombol kedua untuk atur batas kelembapan.</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3131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4ECDC4"/>
          </a:solidFill>
          <a:ln w="12700">
            <a:solidFill>
              <a:srgbClr val="4ECDC4"/>
            </a:solidFill>
            <a:prstDash val="solid"/>
          </a:ln>
        </p:spPr>
        <p:txBody>
          <a:bodyPr/>
          <a:lstStyle/>
          <a:p>
            <a:endParaRPr lang="en-ID"/>
          </a:p>
        </p:txBody>
      </p:sp>
      <p:sp>
        <p:nvSpPr>
          <p:cNvPr id="3" name="Text 1"/>
          <p:cNvSpPr/>
          <p:nvPr/>
        </p:nvSpPr>
        <p:spPr>
          <a:xfrm>
            <a:off x="411480" y="228600"/>
            <a:ext cx="4572000" cy="594360"/>
          </a:xfrm>
          <a:prstGeom prst="rect">
            <a:avLst/>
          </a:prstGeom>
          <a:noFill/>
        </p:spPr>
        <p:txBody>
          <a:bodyPr wrap="square" lIns="0" tIns="0" rIns="0" bIns="0" rtlCol="0" anchor="ctr"/>
          <a:lstStyle/>
          <a:p>
            <a:pPr marL="0" indent="0">
              <a:buNone/>
            </a:pPr>
            <a:r>
              <a:rPr lang="en-US" sz="3200" b="1" dirty="0">
                <a:solidFill>
                  <a:srgbClr val="4ECDC4"/>
                </a:solidFill>
                <a:latin typeface="Courier New" panose="02070309020205020404" pitchFamily="34" charset="0"/>
                <a:ea typeface="Courier New" panose="02070309020205020404" pitchFamily="34" charset="-122"/>
                <a:cs typeface="Courier New" panose="02070309020205020404" pitchFamily="34" charset="-120"/>
              </a:rPr>
              <a:t>TESTING</a:t>
            </a:r>
            <a:endParaRPr lang="en-US" sz="3200" dirty="0"/>
          </a:p>
        </p:txBody>
      </p:sp>
      <p:sp>
        <p:nvSpPr>
          <p:cNvPr id="4" name="Shape 2"/>
          <p:cNvSpPr/>
          <p:nvPr/>
        </p:nvSpPr>
        <p:spPr>
          <a:xfrm>
            <a:off x="411480" y="868680"/>
            <a:ext cx="822960" cy="36576"/>
          </a:xfrm>
          <a:prstGeom prst="rect">
            <a:avLst/>
          </a:prstGeom>
          <a:solidFill>
            <a:srgbClr val="4ECDC4"/>
          </a:solidFill>
          <a:ln w="12700">
            <a:solidFill>
              <a:srgbClr val="4ECDC4"/>
            </a:solidFill>
            <a:prstDash val="solid"/>
          </a:ln>
        </p:spPr>
        <p:txBody>
          <a:bodyPr/>
          <a:lstStyle/>
          <a:p>
            <a:endParaRPr lang="en-ID"/>
          </a:p>
        </p:txBody>
      </p:sp>
      <p:sp>
        <p:nvSpPr>
          <p:cNvPr id="5" name="Shape 3"/>
          <p:cNvSpPr/>
          <p:nvPr>
            <p:custDataLst>
              <p:tags r:id="rId1"/>
            </p:custDataLst>
          </p:nvPr>
        </p:nvSpPr>
        <p:spPr>
          <a:xfrm>
            <a:off x="374904" y="1157997"/>
            <a:ext cx="7790864" cy="660700"/>
          </a:xfrm>
          <a:prstGeom prst="rect">
            <a:avLst/>
          </a:prstGeom>
          <a:solidFill>
            <a:srgbClr val="1F2040"/>
          </a:solidFill>
          <a:ln w="12700">
            <a:solidFill>
              <a:srgbClr val="7C5CBF"/>
            </a:solidFill>
            <a:prstDash val="solid"/>
          </a:ln>
          <a:effectLst>
            <a:outerShdw blurRad="127000" dist="50800" dir="8100000" algn="bl" rotWithShape="0">
              <a:srgbClr val="000000">
                <a:alpha val="30000"/>
              </a:srgbClr>
            </a:outerShdw>
          </a:effectLst>
        </p:spPr>
        <p:txBody>
          <a:bodyPr/>
          <a:lstStyle/>
          <a:p>
            <a:endParaRPr lang="en-ID"/>
          </a:p>
        </p:txBody>
      </p:sp>
      <p:sp>
        <p:nvSpPr>
          <p:cNvPr id="6" name="Shape 4"/>
          <p:cNvSpPr/>
          <p:nvPr>
            <p:custDataLst>
              <p:tags r:id="rId2"/>
            </p:custDataLst>
          </p:nvPr>
        </p:nvSpPr>
        <p:spPr>
          <a:xfrm>
            <a:off x="320040" y="1157997"/>
            <a:ext cx="54864" cy="660700"/>
          </a:xfrm>
          <a:prstGeom prst="rect">
            <a:avLst/>
          </a:prstGeom>
          <a:solidFill>
            <a:srgbClr val="4ECDC4"/>
          </a:solidFill>
          <a:ln w="12700">
            <a:solidFill>
              <a:srgbClr val="4ECDC4"/>
            </a:solidFill>
            <a:prstDash val="solid"/>
          </a:ln>
        </p:spPr>
        <p:txBody>
          <a:bodyPr/>
          <a:lstStyle/>
          <a:p>
            <a:endParaRPr lang="en-ID"/>
          </a:p>
        </p:txBody>
      </p:sp>
      <p:sp>
        <p:nvSpPr>
          <p:cNvPr id="7" name="Text 5"/>
          <p:cNvSpPr/>
          <p:nvPr/>
        </p:nvSpPr>
        <p:spPr>
          <a:xfrm>
            <a:off x="384048" y="1157997"/>
            <a:ext cx="685800" cy="660700"/>
          </a:xfrm>
          <a:prstGeom prst="rect">
            <a:avLst/>
          </a:prstGeom>
          <a:noFill/>
        </p:spPr>
        <p:txBody>
          <a:bodyPr wrap="square" rtlCol="0" anchor="ctr"/>
          <a:lstStyle/>
          <a:p>
            <a:pPr marL="0" indent="0" algn="ctr">
              <a:buNone/>
            </a:pPr>
            <a:endParaRPr lang="en-US" sz="2400" dirty="0"/>
          </a:p>
        </p:txBody>
      </p:sp>
      <p:sp>
        <p:nvSpPr>
          <p:cNvPr id="8" name="Text 6"/>
          <p:cNvSpPr/>
          <p:nvPr>
            <p:custDataLst>
              <p:tags r:id="rId3"/>
            </p:custDataLst>
          </p:nvPr>
        </p:nvSpPr>
        <p:spPr>
          <a:xfrm>
            <a:off x="510929" y="1254660"/>
            <a:ext cx="2011680" cy="222552"/>
          </a:xfrm>
          <a:prstGeom prst="rect">
            <a:avLst/>
          </a:prstGeom>
          <a:noFill/>
        </p:spPr>
        <p:txBody>
          <a:bodyPr wrap="square" lIns="0" tIns="0" rIns="0" bIns="0" rtlCol="0" anchor="ctr"/>
          <a:lstStyle/>
          <a:p>
            <a:pPr marL="0" indent="0">
              <a:buNone/>
            </a:pPr>
            <a:r>
              <a:rPr lang="en-US" sz="1200" b="1" dirty="0">
                <a:solidFill>
                  <a:srgbClr val="4ECDC4"/>
                </a:solidFill>
                <a:latin typeface="Courier New" panose="02070309020205020404" pitchFamily="34" charset="0"/>
                <a:ea typeface="Courier New" panose="02070309020205020404" pitchFamily="34" charset="-122"/>
                <a:cs typeface="Courier New" panose="02070309020205020404" pitchFamily="34" charset="-120"/>
              </a:rPr>
              <a:t>Uji Timer</a:t>
            </a:r>
            <a:endParaRPr lang="en-US" sz="1200" dirty="0"/>
          </a:p>
        </p:txBody>
      </p:sp>
      <p:sp>
        <p:nvSpPr>
          <p:cNvPr id="9" name="Shape 7"/>
          <p:cNvSpPr/>
          <p:nvPr>
            <p:custDataLst>
              <p:tags r:id="rId4"/>
            </p:custDataLst>
          </p:nvPr>
        </p:nvSpPr>
        <p:spPr>
          <a:xfrm>
            <a:off x="2266578" y="1270341"/>
            <a:ext cx="914400" cy="194732"/>
          </a:xfrm>
          <a:prstGeom prst="roundRect">
            <a:avLst>
              <a:gd name="adj" fmla="val 21429"/>
            </a:avLst>
          </a:prstGeom>
          <a:solidFill>
            <a:srgbClr val="1A4A2A"/>
          </a:solidFill>
          <a:ln w="12700">
            <a:solidFill>
              <a:srgbClr val="3FB950"/>
            </a:solidFill>
            <a:prstDash val="solid"/>
          </a:ln>
        </p:spPr>
        <p:txBody>
          <a:bodyPr/>
          <a:lstStyle/>
          <a:p>
            <a:endParaRPr lang="en-ID"/>
          </a:p>
        </p:txBody>
      </p:sp>
      <p:sp>
        <p:nvSpPr>
          <p:cNvPr id="10" name="Text 8"/>
          <p:cNvSpPr/>
          <p:nvPr>
            <p:custDataLst>
              <p:tags r:id="rId5"/>
            </p:custDataLst>
          </p:nvPr>
        </p:nvSpPr>
        <p:spPr>
          <a:xfrm>
            <a:off x="2266578" y="1279193"/>
            <a:ext cx="914400" cy="177029"/>
          </a:xfrm>
          <a:prstGeom prst="rect">
            <a:avLst/>
          </a:prstGeom>
          <a:noFill/>
        </p:spPr>
        <p:txBody>
          <a:bodyPr wrap="square" rtlCol="0" anchor="ctr"/>
          <a:lstStyle/>
          <a:p>
            <a:pPr marL="0" indent="0" algn="ctr">
              <a:buNone/>
            </a:pPr>
            <a:r>
              <a:rPr lang="en-US" sz="850" b="1" dirty="0">
                <a:solidFill>
                  <a:srgbClr val="3FB950"/>
                </a:solidFill>
                <a:latin typeface="Calibri" panose="020F0502020204030204" pitchFamily="34" charset="0"/>
                <a:ea typeface="Calibri" panose="020F0502020204030204" pitchFamily="34" charset="-122"/>
                <a:cs typeface="Calibri" panose="020F0502020204030204" pitchFamily="34" charset="-120"/>
              </a:rPr>
              <a:t>Berhasil</a:t>
            </a:r>
            <a:endParaRPr lang="en-US" sz="850" dirty="0"/>
          </a:p>
        </p:txBody>
      </p:sp>
      <p:sp>
        <p:nvSpPr>
          <p:cNvPr id="11" name="Text 9"/>
          <p:cNvSpPr/>
          <p:nvPr>
            <p:custDataLst>
              <p:tags r:id="rId6"/>
            </p:custDataLst>
          </p:nvPr>
        </p:nvSpPr>
        <p:spPr>
          <a:xfrm>
            <a:off x="517466" y="1445383"/>
            <a:ext cx="7589520" cy="299053"/>
          </a:xfrm>
          <a:prstGeom prst="rect">
            <a:avLst/>
          </a:prstGeom>
          <a:noFill/>
        </p:spPr>
        <p:txBody>
          <a:bodyPr wrap="square" lIns="0" tIns="0" rIns="0" bIns="0" rtlCol="0" anchor="ctr"/>
          <a:lstStyle/>
          <a:p>
            <a:pPr marL="0" indent="0">
              <a:buNone/>
            </a:pPr>
            <a:r>
              <a:rPr lang="en-US" sz="1050" dirty="0">
                <a:solidFill>
                  <a:srgbClr val="A0A0B8"/>
                </a:solidFill>
                <a:latin typeface="Calibri" panose="020F0502020204030204" pitchFamily="34" charset="0"/>
                <a:ea typeface="Calibri" panose="020F0502020204030204" pitchFamily="34" charset="-122"/>
                <a:cs typeface="Calibri" panose="020F0502020204030204" pitchFamily="34" charset="-120"/>
              </a:rPr>
              <a:t>Pompa menyala otomatis tepat waktu sesuai interval yang diatur. LCD dan buzzer aktif bersamaan.</a:t>
            </a:r>
            <a:endParaRPr lang="en-US" sz="1050" dirty="0"/>
          </a:p>
        </p:txBody>
      </p:sp>
      <p:sp>
        <p:nvSpPr>
          <p:cNvPr id="12" name="Shape 10"/>
          <p:cNvSpPr/>
          <p:nvPr>
            <p:custDataLst>
              <p:tags r:id="rId7"/>
            </p:custDataLst>
          </p:nvPr>
        </p:nvSpPr>
        <p:spPr>
          <a:xfrm>
            <a:off x="374904" y="1920297"/>
            <a:ext cx="7790864" cy="660700"/>
          </a:xfrm>
          <a:prstGeom prst="rect">
            <a:avLst/>
          </a:prstGeom>
          <a:solidFill>
            <a:srgbClr val="1F2040"/>
          </a:solidFill>
          <a:ln w="12700">
            <a:solidFill>
              <a:srgbClr val="7C5CBF"/>
            </a:solidFill>
            <a:prstDash val="solid"/>
          </a:ln>
          <a:effectLst>
            <a:outerShdw blurRad="127000" dist="50800" dir="8100000" algn="bl" rotWithShape="0">
              <a:srgbClr val="000000">
                <a:alpha val="30000"/>
              </a:srgbClr>
            </a:outerShdw>
          </a:effectLst>
        </p:spPr>
        <p:txBody>
          <a:bodyPr/>
          <a:lstStyle/>
          <a:p>
            <a:endParaRPr lang="en-ID"/>
          </a:p>
        </p:txBody>
      </p:sp>
      <p:sp>
        <p:nvSpPr>
          <p:cNvPr id="13" name="Shape 11"/>
          <p:cNvSpPr/>
          <p:nvPr>
            <p:custDataLst>
              <p:tags r:id="rId8"/>
            </p:custDataLst>
          </p:nvPr>
        </p:nvSpPr>
        <p:spPr>
          <a:xfrm>
            <a:off x="320040" y="1920297"/>
            <a:ext cx="54864" cy="660700"/>
          </a:xfrm>
          <a:prstGeom prst="rect">
            <a:avLst/>
          </a:prstGeom>
          <a:solidFill>
            <a:srgbClr val="4ECDC4"/>
          </a:solidFill>
          <a:ln w="12700">
            <a:solidFill>
              <a:srgbClr val="4ECDC4"/>
            </a:solidFill>
            <a:prstDash val="solid"/>
          </a:ln>
        </p:spPr>
        <p:txBody>
          <a:bodyPr/>
          <a:lstStyle/>
          <a:p>
            <a:endParaRPr lang="en-ID"/>
          </a:p>
        </p:txBody>
      </p:sp>
      <p:sp>
        <p:nvSpPr>
          <p:cNvPr id="14" name="Text 12"/>
          <p:cNvSpPr/>
          <p:nvPr/>
        </p:nvSpPr>
        <p:spPr>
          <a:xfrm>
            <a:off x="384048" y="1920297"/>
            <a:ext cx="685800" cy="660700"/>
          </a:xfrm>
          <a:prstGeom prst="rect">
            <a:avLst/>
          </a:prstGeom>
          <a:noFill/>
        </p:spPr>
        <p:txBody>
          <a:bodyPr wrap="square" rtlCol="0" anchor="ctr"/>
          <a:lstStyle/>
          <a:p>
            <a:pPr marL="0" indent="0" algn="ctr">
              <a:buNone/>
            </a:pPr>
            <a:endParaRPr lang="en-US" sz="2400" dirty="0"/>
          </a:p>
        </p:txBody>
      </p:sp>
      <p:sp>
        <p:nvSpPr>
          <p:cNvPr id="15" name="Text 13"/>
          <p:cNvSpPr/>
          <p:nvPr>
            <p:custDataLst>
              <p:tags r:id="rId9"/>
            </p:custDataLst>
          </p:nvPr>
        </p:nvSpPr>
        <p:spPr>
          <a:xfrm>
            <a:off x="510929" y="2016960"/>
            <a:ext cx="2011680" cy="222552"/>
          </a:xfrm>
          <a:prstGeom prst="rect">
            <a:avLst/>
          </a:prstGeom>
          <a:noFill/>
        </p:spPr>
        <p:txBody>
          <a:bodyPr wrap="square" lIns="0" tIns="0" rIns="0" bIns="0" rtlCol="0" anchor="ctr"/>
          <a:lstStyle/>
          <a:p>
            <a:pPr marL="0" indent="0">
              <a:buNone/>
            </a:pPr>
            <a:r>
              <a:rPr lang="en-US" sz="1200" b="1" dirty="0">
                <a:solidFill>
                  <a:srgbClr val="4ECDC4"/>
                </a:solidFill>
                <a:latin typeface="Courier New" panose="02070309020205020404" pitchFamily="34" charset="0"/>
                <a:ea typeface="Courier New" panose="02070309020205020404" pitchFamily="34" charset="-122"/>
                <a:cs typeface="Courier New" panose="02070309020205020404" pitchFamily="34" charset="-120"/>
              </a:rPr>
              <a:t>Uji Tombol Manual</a:t>
            </a:r>
            <a:endParaRPr lang="en-US" sz="1200" dirty="0"/>
          </a:p>
        </p:txBody>
      </p:sp>
      <p:sp>
        <p:nvSpPr>
          <p:cNvPr id="16" name="Shape 14"/>
          <p:cNvSpPr/>
          <p:nvPr>
            <p:custDataLst>
              <p:tags r:id="rId10"/>
            </p:custDataLst>
          </p:nvPr>
        </p:nvSpPr>
        <p:spPr>
          <a:xfrm>
            <a:off x="2266578" y="2032641"/>
            <a:ext cx="914400" cy="194732"/>
          </a:xfrm>
          <a:prstGeom prst="roundRect">
            <a:avLst>
              <a:gd name="adj" fmla="val 21429"/>
            </a:avLst>
          </a:prstGeom>
          <a:solidFill>
            <a:srgbClr val="1A4A2A"/>
          </a:solidFill>
          <a:ln w="12700">
            <a:solidFill>
              <a:srgbClr val="3FB950"/>
            </a:solidFill>
            <a:prstDash val="solid"/>
          </a:ln>
        </p:spPr>
        <p:txBody>
          <a:bodyPr/>
          <a:lstStyle/>
          <a:p>
            <a:endParaRPr lang="en-ID"/>
          </a:p>
        </p:txBody>
      </p:sp>
      <p:sp>
        <p:nvSpPr>
          <p:cNvPr id="17" name="Text 15"/>
          <p:cNvSpPr/>
          <p:nvPr>
            <p:custDataLst>
              <p:tags r:id="rId11"/>
            </p:custDataLst>
          </p:nvPr>
        </p:nvSpPr>
        <p:spPr>
          <a:xfrm>
            <a:off x="2266578" y="2041493"/>
            <a:ext cx="914400" cy="177029"/>
          </a:xfrm>
          <a:prstGeom prst="rect">
            <a:avLst/>
          </a:prstGeom>
          <a:noFill/>
        </p:spPr>
        <p:txBody>
          <a:bodyPr wrap="square" rtlCol="0" anchor="ctr"/>
          <a:lstStyle/>
          <a:p>
            <a:pPr marL="0" indent="0" algn="ctr">
              <a:buNone/>
            </a:pPr>
            <a:r>
              <a:rPr lang="en-US" sz="850" b="1" dirty="0">
                <a:solidFill>
                  <a:srgbClr val="3FB950"/>
                </a:solidFill>
                <a:latin typeface="Calibri" panose="020F0502020204030204" pitchFamily="34" charset="0"/>
                <a:ea typeface="Calibri" panose="020F0502020204030204" pitchFamily="34" charset="-122"/>
                <a:cs typeface="Calibri" panose="020F0502020204030204" pitchFamily="34" charset="-120"/>
              </a:rPr>
              <a:t> Berhasil</a:t>
            </a:r>
            <a:endParaRPr lang="en-US" sz="850" dirty="0"/>
          </a:p>
        </p:txBody>
      </p:sp>
      <p:sp>
        <p:nvSpPr>
          <p:cNvPr id="18" name="Text 16"/>
          <p:cNvSpPr/>
          <p:nvPr>
            <p:custDataLst>
              <p:tags r:id="rId12"/>
            </p:custDataLst>
          </p:nvPr>
        </p:nvSpPr>
        <p:spPr>
          <a:xfrm>
            <a:off x="517466" y="2207683"/>
            <a:ext cx="7589520" cy="299053"/>
          </a:xfrm>
          <a:prstGeom prst="rect">
            <a:avLst/>
          </a:prstGeom>
          <a:noFill/>
        </p:spPr>
        <p:txBody>
          <a:bodyPr wrap="square" lIns="0" tIns="0" rIns="0" bIns="0" rtlCol="0" anchor="ctr"/>
          <a:lstStyle/>
          <a:p>
            <a:pPr marL="0" indent="0">
              <a:buNone/>
            </a:pPr>
            <a:r>
              <a:rPr lang="en-US" sz="1050" dirty="0">
                <a:solidFill>
                  <a:srgbClr val="A0A0B8"/>
                </a:solidFill>
                <a:latin typeface="Calibri" panose="020F0502020204030204" pitchFamily="34" charset="0"/>
                <a:ea typeface="Calibri" panose="020F0502020204030204" pitchFamily="34" charset="-122"/>
                <a:cs typeface="Calibri" panose="020F0502020204030204" pitchFamily="34" charset="-120"/>
              </a:rPr>
              <a:t>Saat tombol ditekan, pompa langsung menyala tanpa menunggu sensor. Respon instan.</a:t>
            </a:r>
            <a:endParaRPr lang="en-US" sz="1050" dirty="0"/>
          </a:p>
        </p:txBody>
      </p:sp>
      <p:sp>
        <p:nvSpPr>
          <p:cNvPr id="19" name="Shape 17"/>
          <p:cNvSpPr/>
          <p:nvPr>
            <p:custDataLst>
              <p:tags r:id="rId13"/>
            </p:custDataLst>
          </p:nvPr>
        </p:nvSpPr>
        <p:spPr>
          <a:xfrm>
            <a:off x="374904" y="2676917"/>
            <a:ext cx="7790864" cy="660700"/>
          </a:xfrm>
          <a:prstGeom prst="rect">
            <a:avLst/>
          </a:prstGeom>
          <a:solidFill>
            <a:srgbClr val="1F2040"/>
          </a:solidFill>
          <a:ln w="12700">
            <a:solidFill>
              <a:srgbClr val="7C5CBF"/>
            </a:solidFill>
            <a:prstDash val="solid"/>
          </a:ln>
          <a:effectLst>
            <a:outerShdw blurRad="127000" dist="50800" dir="8100000" algn="bl" rotWithShape="0">
              <a:srgbClr val="000000">
                <a:alpha val="30000"/>
              </a:srgbClr>
            </a:outerShdw>
          </a:effectLst>
        </p:spPr>
        <p:txBody>
          <a:bodyPr/>
          <a:lstStyle/>
          <a:p>
            <a:endParaRPr lang="en-ID"/>
          </a:p>
        </p:txBody>
      </p:sp>
      <p:sp>
        <p:nvSpPr>
          <p:cNvPr id="20" name="Shape 18"/>
          <p:cNvSpPr/>
          <p:nvPr>
            <p:custDataLst>
              <p:tags r:id="rId14"/>
            </p:custDataLst>
          </p:nvPr>
        </p:nvSpPr>
        <p:spPr>
          <a:xfrm>
            <a:off x="320040" y="2676917"/>
            <a:ext cx="54864" cy="660700"/>
          </a:xfrm>
          <a:prstGeom prst="rect">
            <a:avLst/>
          </a:prstGeom>
          <a:solidFill>
            <a:srgbClr val="4ECDC4"/>
          </a:solidFill>
          <a:ln w="12700">
            <a:solidFill>
              <a:srgbClr val="4ECDC4"/>
            </a:solidFill>
            <a:prstDash val="solid"/>
          </a:ln>
        </p:spPr>
        <p:txBody>
          <a:bodyPr/>
          <a:lstStyle/>
          <a:p>
            <a:endParaRPr lang="en-ID"/>
          </a:p>
        </p:txBody>
      </p:sp>
      <p:sp>
        <p:nvSpPr>
          <p:cNvPr id="21" name="Text 19"/>
          <p:cNvSpPr/>
          <p:nvPr/>
        </p:nvSpPr>
        <p:spPr>
          <a:xfrm>
            <a:off x="384048" y="2676917"/>
            <a:ext cx="685800" cy="660700"/>
          </a:xfrm>
          <a:prstGeom prst="rect">
            <a:avLst/>
          </a:prstGeom>
          <a:noFill/>
        </p:spPr>
        <p:txBody>
          <a:bodyPr wrap="square" rtlCol="0" anchor="ctr"/>
          <a:lstStyle/>
          <a:p>
            <a:pPr marL="0" indent="0" algn="ctr">
              <a:buNone/>
            </a:pPr>
            <a:endParaRPr lang="en-US" sz="2400" dirty="0"/>
          </a:p>
        </p:txBody>
      </p:sp>
      <p:sp>
        <p:nvSpPr>
          <p:cNvPr id="22" name="Text 20"/>
          <p:cNvSpPr/>
          <p:nvPr>
            <p:custDataLst>
              <p:tags r:id="rId15"/>
            </p:custDataLst>
          </p:nvPr>
        </p:nvSpPr>
        <p:spPr>
          <a:xfrm>
            <a:off x="510929" y="2773580"/>
            <a:ext cx="2011680" cy="222552"/>
          </a:xfrm>
          <a:prstGeom prst="rect">
            <a:avLst/>
          </a:prstGeom>
          <a:noFill/>
        </p:spPr>
        <p:txBody>
          <a:bodyPr wrap="square" lIns="0" tIns="0" rIns="0" bIns="0" rtlCol="0" anchor="ctr"/>
          <a:lstStyle/>
          <a:p>
            <a:pPr marL="0" indent="0">
              <a:buNone/>
            </a:pPr>
            <a:r>
              <a:rPr lang="en-US" sz="1200" b="1" dirty="0">
                <a:solidFill>
                  <a:srgbClr val="4ECDC4"/>
                </a:solidFill>
                <a:latin typeface="Courier New" panose="02070309020205020404" pitchFamily="34" charset="0"/>
                <a:ea typeface="Courier New" panose="02070309020205020404" pitchFamily="34" charset="-122"/>
                <a:cs typeface="Courier New" panose="02070309020205020404" pitchFamily="34" charset="-120"/>
              </a:rPr>
              <a:t>Uji Sensor Tanah</a:t>
            </a:r>
            <a:endParaRPr lang="en-US" sz="1200" dirty="0"/>
          </a:p>
        </p:txBody>
      </p:sp>
      <p:sp>
        <p:nvSpPr>
          <p:cNvPr id="23" name="Shape 21"/>
          <p:cNvSpPr/>
          <p:nvPr>
            <p:custDataLst>
              <p:tags r:id="rId16"/>
            </p:custDataLst>
          </p:nvPr>
        </p:nvSpPr>
        <p:spPr>
          <a:xfrm>
            <a:off x="2266578" y="2789261"/>
            <a:ext cx="914400" cy="194732"/>
          </a:xfrm>
          <a:prstGeom prst="roundRect">
            <a:avLst>
              <a:gd name="adj" fmla="val 21429"/>
            </a:avLst>
          </a:prstGeom>
          <a:solidFill>
            <a:srgbClr val="1A4A2A"/>
          </a:solidFill>
          <a:ln w="12700">
            <a:solidFill>
              <a:srgbClr val="3FB950"/>
            </a:solidFill>
            <a:prstDash val="solid"/>
          </a:ln>
        </p:spPr>
        <p:txBody>
          <a:bodyPr/>
          <a:lstStyle/>
          <a:p>
            <a:endParaRPr lang="en-ID"/>
          </a:p>
        </p:txBody>
      </p:sp>
      <p:sp>
        <p:nvSpPr>
          <p:cNvPr id="24" name="Text 22"/>
          <p:cNvSpPr/>
          <p:nvPr>
            <p:custDataLst>
              <p:tags r:id="rId17"/>
            </p:custDataLst>
          </p:nvPr>
        </p:nvSpPr>
        <p:spPr>
          <a:xfrm>
            <a:off x="2266578" y="2798113"/>
            <a:ext cx="914400" cy="177029"/>
          </a:xfrm>
          <a:prstGeom prst="rect">
            <a:avLst/>
          </a:prstGeom>
          <a:noFill/>
        </p:spPr>
        <p:txBody>
          <a:bodyPr wrap="square" rtlCol="0" anchor="ctr"/>
          <a:lstStyle/>
          <a:p>
            <a:pPr marL="0" indent="0" algn="ctr">
              <a:buNone/>
            </a:pPr>
            <a:r>
              <a:rPr lang="en-US" sz="850" b="1" dirty="0">
                <a:solidFill>
                  <a:srgbClr val="3FB950"/>
                </a:solidFill>
                <a:latin typeface="Calibri" panose="020F0502020204030204" pitchFamily="34" charset="0"/>
                <a:ea typeface="Calibri" panose="020F0502020204030204" pitchFamily="34" charset="-122"/>
                <a:cs typeface="Calibri" panose="020F0502020204030204" pitchFamily="34" charset="-120"/>
              </a:rPr>
              <a:t> Berhasil</a:t>
            </a:r>
            <a:endParaRPr lang="en-US" sz="850" dirty="0"/>
          </a:p>
        </p:txBody>
      </p:sp>
      <p:sp>
        <p:nvSpPr>
          <p:cNvPr id="25" name="Text 23"/>
          <p:cNvSpPr/>
          <p:nvPr>
            <p:custDataLst>
              <p:tags r:id="rId18"/>
            </p:custDataLst>
          </p:nvPr>
        </p:nvSpPr>
        <p:spPr>
          <a:xfrm>
            <a:off x="517466" y="2964303"/>
            <a:ext cx="7589520" cy="299053"/>
          </a:xfrm>
          <a:prstGeom prst="rect">
            <a:avLst/>
          </a:prstGeom>
          <a:noFill/>
        </p:spPr>
        <p:txBody>
          <a:bodyPr wrap="square" lIns="0" tIns="0" rIns="0" bIns="0" rtlCol="0" anchor="ctr"/>
          <a:lstStyle/>
          <a:p>
            <a:pPr marL="0" indent="0">
              <a:buNone/>
            </a:pPr>
            <a:r>
              <a:rPr lang="en-US" sz="1050" dirty="0">
                <a:solidFill>
                  <a:srgbClr val="A0A0B8"/>
                </a:solidFill>
                <a:latin typeface="Calibri" panose="020F0502020204030204" pitchFamily="34" charset="0"/>
                <a:ea typeface="Calibri" panose="020F0502020204030204" pitchFamily="34" charset="-122"/>
                <a:cs typeface="Calibri" panose="020F0502020204030204" pitchFamily="34" charset="-120"/>
              </a:rPr>
              <a:t>Sensor berhasil membedakan kondisi tanah basah dan kering. Pompa menyala hanya saat tanah kering.</a:t>
            </a:r>
            <a:endParaRPr lang="en-US" sz="1050" dirty="0"/>
          </a:p>
        </p:txBody>
      </p:sp>
      <p:sp>
        <p:nvSpPr>
          <p:cNvPr id="26" name="Shape 24"/>
          <p:cNvSpPr/>
          <p:nvPr>
            <p:custDataLst>
              <p:tags r:id="rId19"/>
            </p:custDataLst>
          </p:nvPr>
        </p:nvSpPr>
        <p:spPr>
          <a:xfrm>
            <a:off x="374904" y="3421084"/>
            <a:ext cx="7790864" cy="660700"/>
          </a:xfrm>
          <a:prstGeom prst="rect">
            <a:avLst/>
          </a:prstGeom>
          <a:solidFill>
            <a:srgbClr val="1F2040"/>
          </a:solidFill>
          <a:ln w="12700">
            <a:solidFill>
              <a:srgbClr val="7C5CBF"/>
            </a:solidFill>
            <a:prstDash val="solid"/>
          </a:ln>
          <a:effectLst>
            <a:outerShdw blurRad="127000" dist="50800" dir="8100000" algn="bl" rotWithShape="0">
              <a:srgbClr val="000000">
                <a:alpha val="30000"/>
              </a:srgbClr>
            </a:outerShdw>
          </a:effectLst>
        </p:spPr>
        <p:txBody>
          <a:bodyPr/>
          <a:lstStyle/>
          <a:p>
            <a:endParaRPr lang="en-ID"/>
          </a:p>
        </p:txBody>
      </p:sp>
      <p:sp>
        <p:nvSpPr>
          <p:cNvPr id="27" name="Shape 25"/>
          <p:cNvSpPr/>
          <p:nvPr>
            <p:custDataLst>
              <p:tags r:id="rId20"/>
            </p:custDataLst>
          </p:nvPr>
        </p:nvSpPr>
        <p:spPr>
          <a:xfrm>
            <a:off x="320040" y="3421084"/>
            <a:ext cx="54864" cy="660700"/>
          </a:xfrm>
          <a:prstGeom prst="rect">
            <a:avLst/>
          </a:prstGeom>
          <a:solidFill>
            <a:srgbClr val="4ECDC4"/>
          </a:solidFill>
          <a:ln w="12700">
            <a:solidFill>
              <a:srgbClr val="4ECDC4"/>
            </a:solidFill>
            <a:prstDash val="solid"/>
          </a:ln>
        </p:spPr>
        <p:txBody>
          <a:bodyPr/>
          <a:lstStyle/>
          <a:p>
            <a:endParaRPr lang="en-ID"/>
          </a:p>
        </p:txBody>
      </p:sp>
      <p:sp>
        <p:nvSpPr>
          <p:cNvPr id="28" name="Text 26"/>
          <p:cNvSpPr/>
          <p:nvPr/>
        </p:nvSpPr>
        <p:spPr>
          <a:xfrm>
            <a:off x="384048" y="3421084"/>
            <a:ext cx="685800" cy="660700"/>
          </a:xfrm>
          <a:prstGeom prst="rect">
            <a:avLst/>
          </a:prstGeom>
          <a:noFill/>
        </p:spPr>
        <p:txBody>
          <a:bodyPr wrap="square" rtlCol="0" anchor="ctr"/>
          <a:lstStyle/>
          <a:p>
            <a:pPr marL="0" indent="0" algn="ctr">
              <a:buNone/>
            </a:pPr>
            <a:endParaRPr lang="en-US" sz="2400" dirty="0"/>
          </a:p>
        </p:txBody>
      </p:sp>
      <p:sp>
        <p:nvSpPr>
          <p:cNvPr id="29" name="Text 27"/>
          <p:cNvSpPr/>
          <p:nvPr>
            <p:custDataLst>
              <p:tags r:id="rId21"/>
            </p:custDataLst>
          </p:nvPr>
        </p:nvSpPr>
        <p:spPr>
          <a:xfrm>
            <a:off x="510929" y="3517747"/>
            <a:ext cx="2011680" cy="222552"/>
          </a:xfrm>
          <a:prstGeom prst="rect">
            <a:avLst/>
          </a:prstGeom>
          <a:noFill/>
        </p:spPr>
        <p:txBody>
          <a:bodyPr wrap="square" lIns="0" tIns="0" rIns="0" bIns="0" rtlCol="0" anchor="ctr"/>
          <a:lstStyle/>
          <a:p>
            <a:pPr marL="0" indent="0">
              <a:buNone/>
            </a:pPr>
            <a:r>
              <a:rPr lang="en-US" sz="1200" b="1" dirty="0">
                <a:solidFill>
                  <a:srgbClr val="4ECDC4"/>
                </a:solidFill>
                <a:latin typeface="Courier New" panose="02070309020205020404" pitchFamily="34" charset="0"/>
                <a:ea typeface="Courier New" panose="02070309020205020404" pitchFamily="34" charset="-122"/>
                <a:cs typeface="Courier New" panose="02070309020205020404" pitchFamily="34" charset="-120"/>
              </a:rPr>
              <a:t>Uji Buzzer &amp; LCD</a:t>
            </a:r>
            <a:endParaRPr lang="en-US" sz="1200" dirty="0"/>
          </a:p>
        </p:txBody>
      </p:sp>
      <p:sp>
        <p:nvSpPr>
          <p:cNvPr id="30" name="Shape 28"/>
          <p:cNvSpPr/>
          <p:nvPr>
            <p:custDataLst>
              <p:tags r:id="rId22"/>
            </p:custDataLst>
          </p:nvPr>
        </p:nvSpPr>
        <p:spPr>
          <a:xfrm>
            <a:off x="2266578" y="3533428"/>
            <a:ext cx="914400" cy="194732"/>
          </a:xfrm>
          <a:prstGeom prst="roundRect">
            <a:avLst>
              <a:gd name="adj" fmla="val 21429"/>
            </a:avLst>
          </a:prstGeom>
          <a:solidFill>
            <a:srgbClr val="1A4A2A"/>
          </a:solidFill>
          <a:ln w="12700">
            <a:solidFill>
              <a:srgbClr val="3FB950"/>
            </a:solidFill>
            <a:prstDash val="solid"/>
          </a:ln>
        </p:spPr>
        <p:txBody>
          <a:bodyPr/>
          <a:lstStyle/>
          <a:p>
            <a:endParaRPr lang="en-ID"/>
          </a:p>
        </p:txBody>
      </p:sp>
      <p:sp>
        <p:nvSpPr>
          <p:cNvPr id="31" name="Text 29"/>
          <p:cNvSpPr/>
          <p:nvPr>
            <p:custDataLst>
              <p:tags r:id="rId23"/>
            </p:custDataLst>
          </p:nvPr>
        </p:nvSpPr>
        <p:spPr>
          <a:xfrm>
            <a:off x="2266578" y="3542280"/>
            <a:ext cx="914400" cy="177029"/>
          </a:xfrm>
          <a:prstGeom prst="rect">
            <a:avLst/>
          </a:prstGeom>
          <a:noFill/>
        </p:spPr>
        <p:txBody>
          <a:bodyPr wrap="square" rtlCol="0" anchor="ctr"/>
          <a:lstStyle/>
          <a:p>
            <a:pPr marL="0" indent="0" algn="ctr">
              <a:buNone/>
            </a:pPr>
            <a:r>
              <a:rPr lang="en-US" sz="850" b="1" dirty="0">
                <a:solidFill>
                  <a:srgbClr val="3FB950"/>
                </a:solidFill>
                <a:latin typeface="Calibri" panose="020F0502020204030204" pitchFamily="34" charset="0"/>
                <a:ea typeface="Calibri" panose="020F0502020204030204" pitchFamily="34" charset="-122"/>
                <a:cs typeface="Calibri" panose="020F0502020204030204" pitchFamily="34" charset="-120"/>
              </a:rPr>
              <a:t> Berhasil</a:t>
            </a:r>
            <a:endParaRPr lang="en-US" sz="850" dirty="0"/>
          </a:p>
        </p:txBody>
      </p:sp>
      <p:sp>
        <p:nvSpPr>
          <p:cNvPr id="32" name="Text 30"/>
          <p:cNvSpPr/>
          <p:nvPr>
            <p:custDataLst>
              <p:tags r:id="rId24"/>
            </p:custDataLst>
          </p:nvPr>
        </p:nvSpPr>
        <p:spPr>
          <a:xfrm>
            <a:off x="517466" y="3708470"/>
            <a:ext cx="7589520" cy="299053"/>
          </a:xfrm>
          <a:prstGeom prst="rect">
            <a:avLst/>
          </a:prstGeom>
          <a:noFill/>
        </p:spPr>
        <p:txBody>
          <a:bodyPr wrap="square" lIns="0" tIns="0" rIns="0" bIns="0" rtlCol="0" anchor="ctr"/>
          <a:lstStyle/>
          <a:p>
            <a:pPr marL="0" indent="0">
              <a:buNone/>
            </a:pPr>
            <a:r>
              <a:rPr lang="en-US" sz="1050" dirty="0">
                <a:solidFill>
                  <a:srgbClr val="A0A0B8"/>
                </a:solidFill>
                <a:latin typeface="Calibri" panose="020F0502020204030204" pitchFamily="34" charset="0"/>
                <a:ea typeface="Calibri" panose="020F0502020204030204" pitchFamily="34" charset="-122"/>
                <a:cs typeface="Calibri" panose="020F0502020204030204" pitchFamily="34" charset="-120"/>
              </a:rPr>
              <a:t>Buzzer berbunyi dan LCD menampilkan pesan sesuai kondisi  dan semuanya berjalan normal.</a:t>
            </a:r>
            <a:endParaRPr lang="en-US" sz="1050" dirty="0"/>
          </a:p>
        </p:txBody>
      </p:sp>
      <p:sp>
        <p:nvSpPr>
          <p:cNvPr id="33" name="Shape 31"/>
          <p:cNvSpPr/>
          <p:nvPr/>
        </p:nvSpPr>
        <p:spPr>
          <a:xfrm>
            <a:off x="320040" y="4165251"/>
            <a:ext cx="7845728" cy="417284"/>
          </a:xfrm>
          <a:prstGeom prst="rect">
            <a:avLst/>
          </a:prstGeom>
          <a:solidFill>
            <a:srgbClr val="252545"/>
          </a:solidFill>
          <a:ln w="12700">
            <a:solidFill>
              <a:srgbClr val="7C5CBF"/>
            </a:solidFill>
            <a:prstDash val="solid"/>
          </a:ln>
          <a:effectLst>
            <a:outerShdw blurRad="127000" dist="50800" dir="8100000" algn="bl" rotWithShape="0">
              <a:srgbClr val="000000">
                <a:alpha val="30000"/>
              </a:srgbClr>
            </a:outerShdw>
          </a:effectLst>
        </p:spPr>
        <p:txBody>
          <a:bodyPr/>
          <a:lstStyle/>
          <a:p>
            <a:endParaRPr lang="en-ID"/>
          </a:p>
        </p:txBody>
      </p:sp>
      <p:sp>
        <p:nvSpPr>
          <p:cNvPr id="34" name="Text 32"/>
          <p:cNvSpPr/>
          <p:nvPr/>
        </p:nvSpPr>
        <p:spPr>
          <a:xfrm>
            <a:off x="411480" y="4165251"/>
            <a:ext cx="8321040" cy="417284"/>
          </a:xfrm>
          <a:prstGeom prst="rect">
            <a:avLst/>
          </a:prstGeom>
          <a:noFill/>
        </p:spPr>
        <p:txBody>
          <a:bodyPr wrap="square" lIns="101600" tIns="101600" rIns="101600" bIns="101600" rtlCol="0" anchor="ctr"/>
          <a:lstStyle/>
          <a:p>
            <a:pPr marL="0" indent="0">
              <a:buNone/>
            </a:pPr>
            <a:r>
              <a:rPr lang="en-US" sz="1200" dirty="0">
                <a:solidFill>
                  <a:srgbClr val="00F5D4"/>
                </a:solidFill>
                <a:latin typeface="Calibri" panose="020F0502020204030204" pitchFamily="34" charset="0"/>
                <a:ea typeface="Calibri" panose="020F0502020204030204" pitchFamily="34" charset="-122"/>
                <a:cs typeface="Calibri" panose="020F0502020204030204" pitchFamily="34" charset="-120"/>
              </a:rPr>
              <a:t>  Semua pengujian berhasil dan sistem berjalan sesuai harapan tanpa error yang berarti.</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3131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4ECDC4"/>
          </a:solidFill>
          <a:ln w="12700">
            <a:solidFill>
              <a:srgbClr val="4ECDC4"/>
            </a:solidFill>
            <a:prstDash val="solid"/>
          </a:ln>
        </p:spPr>
        <p:txBody>
          <a:bodyPr/>
          <a:lstStyle/>
          <a:p>
            <a:endParaRPr lang="en-ID"/>
          </a:p>
        </p:txBody>
      </p:sp>
      <p:sp>
        <p:nvSpPr>
          <p:cNvPr id="3" name="Text 1"/>
          <p:cNvSpPr/>
          <p:nvPr/>
        </p:nvSpPr>
        <p:spPr>
          <a:xfrm>
            <a:off x="411480" y="228600"/>
            <a:ext cx="4572000" cy="594360"/>
          </a:xfrm>
          <a:prstGeom prst="rect">
            <a:avLst/>
          </a:prstGeom>
          <a:noFill/>
        </p:spPr>
        <p:txBody>
          <a:bodyPr wrap="square" lIns="0" tIns="0" rIns="0" bIns="0" rtlCol="0" anchor="ctr"/>
          <a:lstStyle/>
          <a:p>
            <a:pPr marL="0" indent="0">
              <a:buNone/>
            </a:pPr>
            <a:r>
              <a:rPr lang="en-US" sz="3200" b="1" dirty="0">
                <a:solidFill>
                  <a:srgbClr val="4ECDC4"/>
                </a:solidFill>
                <a:latin typeface="Courier New" panose="02070309020205020404" pitchFamily="34" charset="0"/>
                <a:ea typeface="Courier New" panose="02070309020205020404" pitchFamily="34" charset="-122"/>
                <a:cs typeface="Courier New" panose="02070309020205020404" pitchFamily="34" charset="-120"/>
              </a:rPr>
              <a:t>ANALYSIS</a:t>
            </a:r>
            <a:endParaRPr lang="en-US" sz="3200" dirty="0"/>
          </a:p>
        </p:txBody>
      </p:sp>
      <p:sp>
        <p:nvSpPr>
          <p:cNvPr id="4" name="Shape 2"/>
          <p:cNvSpPr/>
          <p:nvPr/>
        </p:nvSpPr>
        <p:spPr>
          <a:xfrm>
            <a:off x="411480" y="868680"/>
            <a:ext cx="822960" cy="36576"/>
          </a:xfrm>
          <a:prstGeom prst="rect">
            <a:avLst/>
          </a:prstGeom>
          <a:solidFill>
            <a:srgbClr val="4ECDC4"/>
          </a:solidFill>
          <a:ln w="12700">
            <a:solidFill>
              <a:srgbClr val="4ECDC4"/>
            </a:solidFill>
            <a:prstDash val="solid"/>
          </a:ln>
        </p:spPr>
        <p:txBody>
          <a:bodyPr/>
          <a:lstStyle/>
          <a:p>
            <a:endParaRPr lang="en-ID"/>
          </a:p>
        </p:txBody>
      </p:sp>
      <p:sp>
        <p:nvSpPr>
          <p:cNvPr id="5" name="Text 3"/>
          <p:cNvSpPr/>
          <p:nvPr/>
        </p:nvSpPr>
        <p:spPr>
          <a:xfrm>
            <a:off x="411480" y="960120"/>
            <a:ext cx="8229600" cy="329184"/>
          </a:xfrm>
          <a:prstGeom prst="rect">
            <a:avLst/>
          </a:prstGeom>
          <a:noFill/>
        </p:spPr>
        <p:txBody>
          <a:bodyPr wrap="square" lIns="0" tIns="0" rIns="0" bIns="0" rtlCol="0" anchor="ctr"/>
          <a:lstStyle/>
          <a:p>
            <a:pPr marL="0" indent="0">
              <a:buNone/>
            </a:pPr>
            <a:r>
              <a:rPr lang="en-US" sz="1300" b="1" dirty="0">
                <a:solidFill>
                  <a:srgbClr val="F0F0F0"/>
                </a:solidFill>
                <a:latin typeface="Calibri" panose="020F0502020204030204" pitchFamily="34" charset="0"/>
                <a:ea typeface="Calibri" panose="020F0502020204030204" pitchFamily="34" charset="-122"/>
                <a:cs typeface="Calibri" panose="020F0502020204030204" pitchFamily="34" charset="-120"/>
              </a:rPr>
              <a:t>Smart Plant Guardian telah berjalan sesuai tujuan.</a:t>
            </a:r>
            <a:endParaRPr lang="en-US" sz="1300" dirty="0"/>
          </a:p>
        </p:txBody>
      </p:sp>
      <p:sp>
        <p:nvSpPr>
          <p:cNvPr id="6" name="Shape 4"/>
          <p:cNvSpPr/>
          <p:nvPr/>
        </p:nvSpPr>
        <p:spPr>
          <a:xfrm>
            <a:off x="320040" y="1371600"/>
            <a:ext cx="5303520" cy="2651760"/>
          </a:xfrm>
          <a:prstGeom prst="rect">
            <a:avLst/>
          </a:prstGeom>
          <a:solidFill>
            <a:srgbClr val="1F2040"/>
          </a:solidFill>
          <a:ln w="12700">
            <a:solidFill>
              <a:srgbClr val="7C5CBF"/>
            </a:solidFill>
            <a:prstDash val="solid"/>
          </a:ln>
          <a:effectLst>
            <a:outerShdw blurRad="127000" dist="50800" dir="8100000" algn="bl" rotWithShape="0">
              <a:srgbClr val="000000">
                <a:alpha val="30000"/>
              </a:srgbClr>
            </a:outerShdw>
          </a:effectLst>
        </p:spPr>
        <p:txBody>
          <a:bodyPr/>
          <a:lstStyle/>
          <a:p>
            <a:endParaRPr lang="en-ID"/>
          </a:p>
        </p:txBody>
      </p:sp>
      <p:sp>
        <p:nvSpPr>
          <p:cNvPr id="7" name="Shape 5"/>
          <p:cNvSpPr/>
          <p:nvPr/>
        </p:nvSpPr>
        <p:spPr>
          <a:xfrm>
            <a:off x="320040" y="1371600"/>
            <a:ext cx="5303520" cy="347472"/>
          </a:xfrm>
          <a:prstGeom prst="rect">
            <a:avLst/>
          </a:prstGeom>
          <a:solidFill>
            <a:srgbClr val="252545"/>
          </a:solidFill>
          <a:ln w="12700">
            <a:solidFill>
              <a:srgbClr val="252545"/>
            </a:solidFill>
            <a:prstDash val="solid"/>
          </a:ln>
        </p:spPr>
        <p:txBody>
          <a:bodyPr/>
          <a:lstStyle/>
          <a:p>
            <a:endParaRPr lang="en-ID"/>
          </a:p>
        </p:txBody>
      </p:sp>
      <p:sp>
        <p:nvSpPr>
          <p:cNvPr id="8" name="Text 6"/>
          <p:cNvSpPr/>
          <p:nvPr/>
        </p:nvSpPr>
        <p:spPr>
          <a:xfrm>
            <a:off x="411480" y="1371600"/>
            <a:ext cx="5120640" cy="347472"/>
          </a:xfrm>
          <a:prstGeom prst="rect">
            <a:avLst/>
          </a:prstGeom>
          <a:noFill/>
        </p:spPr>
        <p:txBody>
          <a:bodyPr wrap="square" lIns="0" tIns="0" rIns="0" bIns="0" rtlCol="0" anchor="ctr"/>
          <a:lstStyle/>
          <a:p>
            <a:pPr marL="0" indent="0">
              <a:buNone/>
            </a:pPr>
            <a:r>
              <a:rPr lang="en-US" sz="1200" b="1" dirty="0">
                <a:solidFill>
                  <a:srgbClr val="4ECDC4"/>
                </a:solidFill>
                <a:latin typeface="Courier New" panose="02070309020205020404" pitchFamily="34" charset="0"/>
                <a:ea typeface="Courier New" panose="02070309020205020404" pitchFamily="34" charset="-122"/>
                <a:cs typeface="Courier New" panose="02070309020205020404" pitchFamily="34" charset="-120"/>
              </a:rPr>
              <a:t>Yang Berjalan Baik</a:t>
            </a:r>
            <a:endParaRPr lang="en-US" sz="1200" dirty="0"/>
          </a:p>
        </p:txBody>
      </p:sp>
      <p:sp>
        <p:nvSpPr>
          <p:cNvPr id="9" name="Text 7"/>
          <p:cNvSpPr/>
          <p:nvPr/>
        </p:nvSpPr>
        <p:spPr>
          <a:xfrm>
            <a:off x="438912" y="1801368"/>
            <a:ext cx="5074920" cy="365760"/>
          </a:xfrm>
          <a:prstGeom prst="rect">
            <a:avLst/>
          </a:prstGeom>
          <a:noFill/>
        </p:spPr>
        <p:txBody>
          <a:bodyPr wrap="square" lIns="0" tIns="0" rIns="0" bIns="0" rtlCol="0" anchor="ctr"/>
          <a:lstStyle/>
          <a:p>
            <a:pPr marL="0" indent="0">
              <a:buNone/>
            </a:pPr>
            <a:r>
              <a:rPr lang="en-US" sz="1100" dirty="0">
                <a:solidFill>
                  <a:srgbClr val="F0F0F0"/>
                </a:solidFill>
                <a:latin typeface="Calibri" panose="020F0502020204030204" pitchFamily="34" charset="0"/>
                <a:ea typeface="Calibri" panose="020F0502020204030204" pitchFamily="34" charset="-122"/>
                <a:cs typeface="Calibri" panose="020F0502020204030204" pitchFamily="34" charset="-120"/>
              </a:rPr>
              <a:t>▸  Pompa menyiram otomatis dan berhenti sendiri saat tanah cukup basah</a:t>
            </a:r>
            <a:endParaRPr lang="en-US" sz="1100" dirty="0"/>
          </a:p>
        </p:txBody>
      </p:sp>
      <p:sp>
        <p:nvSpPr>
          <p:cNvPr id="10" name="Text 8"/>
          <p:cNvSpPr/>
          <p:nvPr/>
        </p:nvSpPr>
        <p:spPr>
          <a:xfrm>
            <a:off x="438912" y="2221992"/>
            <a:ext cx="5074920" cy="365760"/>
          </a:xfrm>
          <a:prstGeom prst="rect">
            <a:avLst/>
          </a:prstGeom>
          <a:noFill/>
        </p:spPr>
        <p:txBody>
          <a:bodyPr wrap="square" lIns="0" tIns="0" rIns="0" bIns="0" rtlCol="0" anchor="ctr"/>
          <a:lstStyle/>
          <a:p>
            <a:pPr marL="0" indent="0">
              <a:buNone/>
            </a:pPr>
            <a:r>
              <a:rPr lang="en-US" sz="1100" dirty="0">
                <a:solidFill>
                  <a:srgbClr val="F0F0F0"/>
                </a:solidFill>
                <a:latin typeface="Calibri" panose="020F0502020204030204" pitchFamily="34" charset="0"/>
                <a:ea typeface="Calibri" panose="020F0502020204030204" pitchFamily="34" charset="-122"/>
                <a:cs typeface="Calibri" panose="020F0502020204030204" pitchFamily="34" charset="-120"/>
              </a:rPr>
              <a:t>▸  Tombol manual berfungsi sempurna dan bisa menyiram kapan saja</a:t>
            </a:r>
            <a:endParaRPr lang="en-US" sz="1100" dirty="0"/>
          </a:p>
        </p:txBody>
      </p:sp>
      <p:sp>
        <p:nvSpPr>
          <p:cNvPr id="11" name="Text 9"/>
          <p:cNvSpPr/>
          <p:nvPr/>
        </p:nvSpPr>
        <p:spPr>
          <a:xfrm>
            <a:off x="438912" y="2642616"/>
            <a:ext cx="5074920" cy="365760"/>
          </a:xfrm>
          <a:prstGeom prst="rect">
            <a:avLst/>
          </a:prstGeom>
          <a:noFill/>
        </p:spPr>
        <p:txBody>
          <a:bodyPr wrap="square" lIns="0" tIns="0" rIns="0" bIns="0" rtlCol="0" anchor="ctr"/>
          <a:lstStyle/>
          <a:p>
            <a:pPr marL="0" indent="0">
              <a:buNone/>
            </a:pPr>
            <a:r>
              <a:rPr lang="en-US" sz="1100" dirty="0">
                <a:solidFill>
                  <a:srgbClr val="F0F0F0"/>
                </a:solidFill>
                <a:latin typeface="Calibri" panose="020F0502020204030204" pitchFamily="34" charset="0"/>
                <a:ea typeface="Calibri" panose="020F0502020204030204" pitchFamily="34" charset="-122"/>
                <a:cs typeface="Calibri" panose="020F0502020204030204" pitchFamily="34" charset="-120"/>
              </a:rPr>
              <a:t>▸  Sensor berhasil membedakan kondisi kering dan basah dengan akurat</a:t>
            </a:r>
            <a:endParaRPr lang="en-US" sz="1100" dirty="0"/>
          </a:p>
        </p:txBody>
      </p:sp>
      <p:sp>
        <p:nvSpPr>
          <p:cNvPr id="12" name="Text 10"/>
          <p:cNvSpPr/>
          <p:nvPr/>
        </p:nvSpPr>
        <p:spPr>
          <a:xfrm>
            <a:off x="438912" y="3063240"/>
            <a:ext cx="5074920" cy="365760"/>
          </a:xfrm>
          <a:prstGeom prst="rect">
            <a:avLst/>
          </a:prstGeom>
          <a:noFill/>
        </p:spPr>
        <p:txBody>
          <a:bodyPr wrap="square" lIns="0" tIns="0" rIns="0" bIns="0" rtlCol="0" anchor="ctr"/>
          <a:lstStyle/>
          <a:p>
            <a:pPr marL="0" indent="0">
              <a:buNone/>
            </a:pPr>
            <a:r>
              <a:rPr lang="en-US" sz="1100" dirty="0">
                <a:solidFill>
                  <a:srgbClr val="F0F0F0"/>
                </a:solidFill>
                <a:latin typeface="Calibri" panose="020F0502020204030204" pitchFamily="34" charset="0"/>
                <a:ea typeface="Calibri" panose="020F0502020204030204" pitchFamily="34" charset="-122"/>
                <a:cs typeface="Calibri" panose="020F0502020204030204" pitchFamily="34" charset="-120"/>
              </a:rPr>
              <a:t>▸  LCD menampilkan informasi yang mudah dibaca</a:t>
            </a:r>
            <a:endParaRPr lang="en-US" sz="1100" dirty="0"/>
          </a:p>
        </p:txBody>
      </p:sp>
      <p:sp>
        <p:nvSpPr>
          <p:cNvPr id="13" name="Text 11"/>
          <p:cNvSpPr/>
          <p:nvPr/>
        </p:nvSpPr>
        <p:spPr>
          <a:xfrm>
            <a:off x="438912" y="3483864"/>
            <a:ext cx="5074920" cy="365760"/>
          </a:xfrm>
          <a:prstGeom prst="rect">
            <a:avLst/>
          </a:prstGeom>
          <a:noFill/>
        </p:spPr>
        <p:txBody>
          <a:bodyPr wrap="square" lIns="0" tIns="0" rIns="0" bIns="0" rtlCol="0" anchor="ctr"/>
          <a:lstStyle/>
          <a:p>
            <a:pPr marL="0" indent="0">
              <a:buNone/>
            </a:pPr>
            <a:r>
              <a:rPr lang="en-US" sz="1100" dirty="0">
                <a:solidFill>
                  <a:srgbClr val="F0F0F0"/>
                </a:solidFill>
                <a:latin typeface="Calibri" panose="020F0502020204030204" pitchFamily="34" charset="0"/>
                <a:ea typeface="Calibri" panose="020F0502020204030204" pitchFamily="34" charset="-122"/>
                <a:cs typeface="Calibri" panose="020F0502020204030204" pitchFamily="34" charset="-120"/>
              </a:rPr>
              <a:t>▸  Pengaturan batas kelembapan tersimpan meski alat dimatikan</a:t>
            </a:r>
            <a:endParaRPr lang="en-US" sz="1100" dirty="0"/>
          </a:p>
        </p:txBody>
      </p:sp>
      <p:sp>
        <p:nvSpPr>
          <p:cNvPr id="14" name="Shape 12"/>
          <p:cNvSpPr/>
          <p:nvPr/>
        </p:nvSpPr>
        <p:spPr>
          <a:xfrm>
            <a:off x="5897880" y="1371600"/>
            <a:ext cx="2926080" cy="2651760"/>
          </a:xfrm>
          <a:prstGeom prst="rect">
            <a:avLst/>
          </a:prstGeom>
          <a:solidFill>
            <a:srgbClr val="1F2040"/>
          </a:solidFill>
          <a:ln w="12700">
            <a:solidFill>
              <a:srgbClr val="7C5CBF"/>
            </a:solidFill>
            <a:prstDash val="solid"/>
          </a:ln>
          <a:effectLst>
            <a:outerShdw blurRad="127000" dist="50800" dir="8100000" algn="bl" rotWithShape="0">
              <a:srgbClr val="000000">
                <a:alpha val="30000"/>
              </a:srgbClr>
            </a:outerShdw>
          </a:effectLst>
        </p:spPr>
        <p:txBody>
          <a:bodyPr/>
          <a:lstStyle/>
          <a:p>
            <a:endParaRPr lang="en-ID"/>
          </a:p>
        </p:txBody>
      </p:sp>
      <p:sp>
        <p:nvSpPr>
          <p:cNvPr id="15" name="Shape 13"/>
          <p:cNvSpPr/>
          <p:nvPr/>
        </p:nvSpPr>
        <p:spPr>
          <a:xfrm>
            <a:off x="5897880" y="1371600"/>
            <a:ext cx="2926080" cy="347472"/>
          </a:xfrm>
          <a:prstGeom prst="rect">
            <a:avLst/>
          </a:prstGeom>
          <a:solidFill>
            <a:srgbClr val="252545"/>
          </a:solidFill>
          <a:ln w="12700">
            <a:solidFill>
              <a:srgbClr val="252545"/>
            </a:solidFill>
            <a:prstDash val="solid"/>
          </a:ln>
        </p:spPr>
        <p:txBody>
          <a:bodyPr/>
          <a:lstStyle/>
          <a:p>
            <a:endParaRPr lang="en-ID"/>
          </a:p>
        </p:txBody>
      </p:sp>
      <p:sp>
        <p:nvSpPr>
          <p:cNvPr id="16" name="Text 14"/>
          <p:cNvSpPr/>
          <p:nvPr/>
        </p:nvSpPr>
        <p:spPr>
          <a:xfrm>
            <a:off x="5989320" y="1371600"/>
            <a:ext cx="2743200" cy="347472"/>
          </a:xfrm>
          <a:prstGeom prst="rect">
            <a:avLst/>
          </a:prstGeom>
          <a:noFill/>
        </p:spPr>
        <p:txBody>
          <a:bodyPr wrap="square" lIns="0" tIns="0" rIns="0" bIns="0" rtlCol="0" anchor="ctr"/>
          <a:lstStyle/>
          <a:p>
            <a:pPr marL="0" indent="0">
              <a:buNone/>
            </a:pPr>
            <a:r>
              <a:rPr lang="en-US" sz="1100" b="1" dirty="0">
                <a:solidFill>
                  <a:srgbClr val="F78C8C"/>
                </a:solidFill>
                <a:latin typeface="Courier New" panose="02070309020205020404" pitchFamily="34" charset="0"/>
                <a:ea typeface="Courier New" panose="02070309020205020404" pitchFamily="34" charset="-122"/>
                <a:cs typeface="Courier New" panose="02070309020205020404" pitchFamily="34" charset="-120"/>
              </a:rPr>
              <a:t>Bisa Dikembangkan</a:t>
            </a:r>
            <a:endParaRPr lang="en-US" sz="1100" dirty="0"/>
          </a:p>
        </p:txBody>
      </p:sp>
      <p:sp>
        <p:nvSpPr>
          <p:cNvPr id="17" name="Text 15"/>
          <p:cNvSpPr/>
          <p:nvPr/>
        </p:nvSpPr>
        <p:spPr>
          <a:xfrm>
            <a:off x="5989320" y="1801368"/>
            <a:ext cx="2743200" cy="411480"/>
          </a:xfrm>
          <a:prstGeom prst="rect">
            <a:avLst/>
          </a:prstGeom>
          <a:noFill/>
        </p:spPr>
        <p:txBody>
          <a:bodyPr wrap="square" lIns="0" tIns="0" rIns="0" bIns="0" rtlCol="0" anchor="ctr"/>
          <a:lstStyle/>
          <a:p>
            <a:pPr marL="0" indent="0">
              <a:buNone/>
            </a:pPr>
            <a:r>
              <a:rPr lang="en-US" sz="1100" dirty="0">
                <a:solidFill>
                  <a:srgbClr val="F0F0F0"/>
                </a:solidFill>
                <a:latin typeface="Calibri" panose="020F0502020204030204" pitchFamily="34" charset="0"/>
                <a:ea typeface="Calibri" panose="020F0502020204030204" pitchFamily="34" charset="-122"/>
                <a:cs typeface="Calibri" panose="020F0502020204030204" pitchFamily="34" charset="-120"/>
              </a:rPr>
              <a:t>▸  Tambah notifikasi ke smartphone</a:t>
            </a:r>
            <a:endParaRPr lang="en-US" sz="1100" dirty="0"/>
          </a:p>
        </p:txBody>
      </p:sp>
      <p:sp>
        <p:nvSpPr>
          <p:cNvPr id="18" name="Text 16"/>
          <p:cNvSpPr/>
          <p:nvPr/>
        </p:nvSpPr>
        <p:spPr>
          <a:xfrm>
            <a:off x="5989320" y="2304288"/>
            <a:ext cx="2743200" cy="411480"/>
          </a:xfrm>
          <a:prstGeom prst="rect">
            <a:avLst/>
          </a:prstGeom>
          <a:noFill/>
        </p:spPr>
        <p:txBody>
          <a:bodyPr wrap="square" lIns="0" tIns="0" rIns="0" bIns="0" rtlCol="0" anchor="ctr"/>
          <a:lstStyle/>
          <a:p>
            <a:pPr marL="0" indent="0">
              <a:buNone/>
            </a:pPr>
            <a:r>
              <a:rPr lang="en-US" sz="1100" dirty="0">
                <a:solidFill>
                  <a:srgbClr val="F0F0F0"/>
                </a:solidFill>
                <a:latin typeface="Calibri" panose="020F0502020204030204" pitchFamily="34" charset="0"/>
                <a:ea typeface="Calibri" panose="020F0502020204030204" pitchFamily="34" charset="-122"/>
                <a:cs typeface="Calibri" panose="020F0502020204030204" pitchFamily="34" charset="-120"/>
              </a:rPr>
              <a:t>▸  Riwayat data penyiraman</a:t>
            </a:r>
            <a:endParaRPr lang="en-US" sz="1100" dirty="0"/>
          </a:p>
        </p:txBody>
      </p:sp>
      <p:sp>
        <p:nvSpPr>
          <p:cNvPr id="19" name="Text 17"/>
          <p:cNvSpPr/>
          <p:nvPr/>
        </p:nvSpPr>
        <p:spPr>
          <a:xfrm>
            <a:off x="5989320" y="2807208"/>
            <a:ext cx="2743200" cy="411480"/>
          </a:xfrm>
          <a:prstGeom prst="rect">
            <a:avLst/>
          </a:prstGeom>
          <a:noFill/>
        </p:spPr>
        <p:txBody>
          <a:bodyPr wrap="square" lIns="0" tIns="0" rIns="0" bIns="0" rtlCol="0" anchor="ctr"/>
          <a:lstStyle/>
          <a:p>
            <a:pPr marL="0" indent="0">
              <a:buNone/>
            </a:pPr>
            <a:r>
              <a:rPr lang="en-US" sz="1100" dirty="0">
                <a:solidFill>
                  <a:srgbClr val="F0F0F0"/>
                </a:solidFill>
                <a:latin typeface="Calibri" panose="020F0502020204030204" pitchFamily="34" charset="0"/>
                <a:ea typeface="Calibri" panose="020F0502020204030204" pitchFamily="34" charset="-122"/>
                <a:cs typeface="Calibri" panose="020F0502020204030204" pitchFamily="34" charset="-120"/>
              </a:rPr>
              <a:t>▸  Kontrol jarak jauh via WiFi</a:t>
            </a:r>
            <a:endParaRPr lang="en-US" sz="1100" dirty="0"/>
          </a:p>
        </p:txBody>
      </p:sp>
      <p:sp>
        <p:nvSpPr>
          <p:cNvPr id="20" name="Text 18"/>
          <p:cNvSpPr/>
          <p:nvPr/>
        </p:nvSpPr>
        <p:spPr>
          <a:xfrm>
            <a:off x="5989320" y="3310128"/>
            <a:ext cx="2743200" cy="411480"/>
          </a:xfrm>
          <a:prstGeom prst="rect">
            <a:avLst/>
          </a:prstGeom>
          <a:noFill/>
        </p:spPr>
        <p:txBody>
          <a:bodyPr wrap="square" lIns="0" tIns="0" rIns="0" bIns="0" rtlCol="0" anchor="ctr"/>
          <a:lstStyle/>
          <a:p>
            <a:pPr marL="0" indent="0">
              <a:buNone/>
            </a:pPr>
            <a:r>
              <a:rPr lang="en-US" sz="1100" dirty="0">
                <a:solidFill>
                  <a:srgbClr val="F0F0F0"/>
                </a:solidFill>
                <a:latin typeface="Calibri" panose="020F0502020204030204" pitchFamily="34" charset="0"/>
                <a:ea typeface="Calibri" panose="020F0502020204030204" pitchFamily="34" charset="-122"/>
                <a:cs typeface="Calibri" panose="020F0502020204030204" pitchFamily="34" charset="-120"/>
              </a:rPr>
              <a:t>▸  Deteksi jenis tanaman berbeda</a:t>
            </a:r>
            <a:endParaRPr lang="en-US" sz="1100" dirty="0"/>
          </a:p>
        </p:txBody>
      </p:sp>
      <p:sp>
        <p:nvSpPr>
          <p:cNvPr id="21" name="Shape 19"/>
          <p:cNvSpPr/>
          <p:nvPr/>
        </p:nvSpPr>
        <p:spPr>
          <a:xfrm>
            <a:off x="320040" y="4160520"/>
            <a:ext cx="8503920" cy="777240"/>
          </a:xfrm>
          <a:prstGeom prst="rect">
            <a:avLst/>
          </a:prstGeom>
          <a:solidFill>
            <a:srgbClr val="252545"/>
          </a:solidFill>
          <a:ln w="12700">
            <a:solidFill>
              <a:srgbClr val="7C5CBF"/>
            </a:solidFill>
            <a:prstDash val="solid"/>
          </a:ln>
          <a:effectLst>
            <a:outerShdw blurRad="127000" dist="50800" dir="8100000" algn="bl" rotWithShape="0">
              <a:srgbClr val="000000">
                <a:alpha val="30000"/>
              </a:srgbClr>
            </a:outerShdw>
          </a:effectLst>
        </p:spPr>
        <p:txBody>
          <a:bodyPr/>
          <a:lstStyle/>
          <a:p>
            <a:endParaRPr lang="en-ID"/>
          </a:p>
        </p:txBody>
      </p:sp>
      <p:sp>
        <p:nvSpPr>
          <p:cNvPr id="22" name="Text 20"/>
          <p:cNvSpPr/>
          <p:nvPr/>
        </p:nvSpPr>
        <p:spPr>
          <a:xfrm>
            <a:off x="411480" y="4160520"/>
            <a:ext cx="8321040" cy="777240"/>
          </a:xfrm>
          <a:prstGeom prst="rect">
            <a:avLst/>
          </a:prstGeom>
          <a:noFill/>
        </p:spPr>
        <p:txBody>
          <a:bodyPr wrap="square" lIns="101600" tIns="101600" rIns="101600" bIns="101600" rtlCol="0" anchor="ctr"/>
          <a:lstStyle/>
          <a:p>
            <a:pPr marL="0" indent="0">
              <a:buNone/>
            </a:pPr>
            <a:r>
              <a:rPr lang="en-US" sz="1150" dirty="0" err="1">
                <a:solidFill>
                  <a:srgbClr val="00F5D4"/>
                </a:solidFill>
                <a:latin typeface="Calibri" panose="020F0502020204030204" pitchFamily="34" charset="0"/>
                <a:ea typeface="Calibri" panose="020F0502020204030204" pitchFamily="34" charset="-122"/>
                <a:cs typeface="Calibri" panose="020F0502020204030204" pitchFamily="34" charset="-120"/>
              </a:rPr>
              <a:t>Sistem</a:t>
            </a:r>
            <a:r>
              <a:rPr lang="en-US" sz="1150" dirty="0">
                <a:solidFill>
                  <a:srgbClr val="00F5D4"/>
                </a:solidFill>
                <a:latin typeface="Calibri" panose="020F0502020204030204" pitchFamily="34" charset="0"/>
                <a:ea typeface="Calibri" panose="020F0502020204030204" pitchFamily="34" charset="-122"/>
                <a:cs typeface="Calibri" panose="020F0502020204030204" pitchFamily="34" charset="-120"/>
              </a:rPr>
              <a:t> ini efektif dan efisien untuk menjaga tanaman tetap sehat. Cocok untuk rumahan maupun skala kecil. Pengembangan ke depan bisa difokuskan pada konektivitas jarak jauh.</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3131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4ECDC4"/>
          </a:solidFill>
          <a:ln w="12700">
            <a:solidFill>
              <a:srgbClr val="4ECDC4"/>
            </a:solidFill>
            <a:prstDash val="solid"/>
          </a:ln>
        </p:spPr>
        <p:txBody>
          <a:bodyPr/>
          <a:lstStyle/>
          <a:p>
            <a:endParaRPr lang="en-ID"/>
          </a:p>
        </p:txBody>
      </p:sp>
      <p:sp>
        <p:nvSpPr>
          <p:cNvPr id="3" name="Shape 1"/>
          <p:cNvSpPr/>
          <p:nvPr/>
        </p:nvSpPr>
        <p:spPr>
          <a:xfrm>
            <a:off x="0" y="5074920"/>
            <a:ext cx="9144000" cy="73152"/>
          </a:xfrm>
          <a:prstGeom prst="rect">
            <a:avLst/>
          </a:prstGeom>
          <a:solidFill>
            <a:srgbClr val="4ECDC4"/>
          </a:solidFill>
          <a:ln w="12700">
            <a:solidFill>
              <a:srgbClr val="4ECDC4"/>
            </a:solidFill>
            <a:prstDash val="solid"/>
          </a:ln>
        </p:spPr>
        <p:txBody>
          <a:bodyPr/>
          <a:lstStyle/>
          <a:p>
            <a:endParaRPr lang="en-ID"/>
          </a:p>
        </p:txBody>
      </p:sp>
      <p:sp>
        <p:nvSpPr>
          <p:cNvPr id="4" name="Text 2"/>
          <p:cNvSpPr/>
          <p:nvPr/>
        </p:nvSpPr>
        <p:spPr>
          <a:xfrm>
            <a:off x="411480" y="228600"/>
            <a:ext cx="4572000" cy="594360"/>
          </a:xfrm>
          <a:prstGeom prst="rect">
            <a:avLst/>
          </a:prstGeom>
          <a:noFill/>
        </p:spPr>
        <p:txBody>
          <a:bodyPr wrap="square" lIns="0" tIns="0" rIns="0" bIns="0" rtlCol="0" anchor="ctr"/>
          <a:lstStyle/>
          <a:p>
            <a:pPr marL="0" indent="0">
              <a:buNone/>
            </a:pPr>
            <a:r>
              <a:rPr lang="en-US" sz="3200" b="1" dirty="0">
                <a:solidFill>
                  <a:srgbClr val="4ECDC4"/>
                </a:solidFill>
                <a:latin typeface="Courier New" panose="02070309020205020404" pitchFamily="34" charset="0"/>
                <a:ea typeface="Courier New" panose="02070309020205020404" pitchFamily="34" charset="-122"/>
                <a:cs typeface="Courier New" panose="02070309020205020404" pitchFamily="34" charset="-120"/>
              </a:rPr>
              <a:t>CONCLUSION</a:t>
            </a:r>
            <a:endParaRPr lang="en-US" sz="3200" dirty="0"/>
          </a:p>
        </p:txBody>
      </p:sp>
      <p:sp>
        <p:nvSpPr>
          <p:cNvPr id="5" name="Shape 3"/>
          <p:cNvSpPr/>
          <p:nvPr/>
        </p:nvSpPr>
        <p:spPr>
          <a:xfrm>
            <a:off x="411480" y="868680"/>
            <a:ext cx="1234440" cy="36576"/>
          </a:xfrm>
          <a:prstGeom prst="rect">
            <a:avLst/>
          </a:prstGeom>
          <a:solidFill>
            <a:srgbClr val="4ECDC4"/>
          </a:solidFill>
          <a:ln w="12700">
            <a:solidFill>
              <a:srgbClr val="4ECDC4"/>
            </a:solidFill>
            <a:prstDash val="solid"/>
          </a:ln>
        </p:spPr>
        <p:txBody>
          <a:bodyPr/>
          <a:lstStyle/>
          <a:p>
            <a:endParaRPr lang="en-ID"/>
          </a:p>
        </p:txBody>
      </p:sp>
      <p:sp>
        <p:nvSpPr>
          <p:cNvPr id="6" name="Shape 4"/>
          <p:cNvSpPr/>
          <p:nvPr/>
        </p:nvSpPr>
        <p:spPr>
          <a:xfrm>
            <a:off x="320040" y="1005840"/>
            <a:ext cx="8677656" cy="1828800"/>
          </a:xfrm>
          <a:prstGeom prst="rect">
            <a:avLst/>
          </a:prstGeom>
          <a:solidFill>
            <a:srgbClr val="1F2040"/>
          </a:solidFill>
          <a:ln w="12700">
            <a:solidFill>
              <a:srgbClr val="7C5CBF"/>
            </a:solidFill>
            <a:prstDash val="solid"/>
          </a:ln>
          <a:effectLst>
            <a:outerShdw blurRad="127000" dist="50800" dir="8100000" algn="bl" rotWithShape="0">
              <a:srgbClr val="000000">
                <a:alpha val="30000"/>
              </a:srgbClr>
            </a:outerShdw>
          </a:effectLst>
        </p:spPr>
        <p:txBody>
          <a:bodyPr/>
          <a:lstStyle/>
          <a:p>
            <a:endParaRPr lang="en-ID"/>
          </a:p>
        </p:txBody>
      </p:sp>
      <p:sp>
        <p:nvSpPr>
          <p:cNvPr id="7" name="Text 5"/>
          <p:cNvSpPr/>
          <p:nvPr/>
        </p:nvSpPr>
        <p:spPr>
          <a:xfrm>
            <a:off x="411480" y="1051560"/>
            <a:ext cx="8467344" cy="1719072"/>
          </a:xfrm>
          <a:prstGeom prst="rect">
            <a:avLst/>
          </a:prstGeom>
          <a:noFill/>
        </p:spPr>
        <p:txBody>
          <a:bodyPr wrap="square" lIns="101600" tIns="101600" rIns="101600" bIns="101600" rtlCol="0" anchor="ctr"/>
          <a:lstStyle/>
          <a:p>
            <a:pPr marL="0" indent="0">
              <a:buNone/>
            </a:pPr>
            <a:r>
              <a:rPr lang="en-US" sz="1200" dirty="0">
                <a:solidFill>
                  <a:srgbClr val="F0F0F0"/>
                </a:solidFill>
                <a:latin typeface="Calibri" panose="020F0502020204030204" pitchFamily="34" charset="0"/>
                <a:ea typeface="Calibri" panose="020F0502020204030204" pitchFamily="34" charset="-122"/>
                <a:cs typeface="Calibri" panose="020F0502020204030204" pitchFamily="34" charset="-120"/>
              </a:rPr>
              <a:t>Smart Plant Guardian berhasil menjadi solusi nyata untuk masalah lupa menyiram tanaman. Dengan menggabungkan sensor, pompa, dan tampilan LCD dalam satu sistem otomatis yang mudah digunakan, proyek ini membuktikan bahwa teknologi sederhana bisa memberi dampak nyata dalam kehidupan sehari-hari.</a:t>
            </a:r>
            <a:endParaRPr lang="en-US" sz="1200" dirty="0"/>
          </a:p>
        </p:txBody>
      </p:sp>
      <p:sp>
        <p:nvSpPr>
          <p:cNvPr id="20" name="Shape 18"/>
          <p:cNvSpPr/>
          <p:nvPr/>
        </p:nvSpPr>
        <p:spPr>
          <a:xfrm>
            <a:off x="320040" y="2944368"/>
            <a:ext cx="2788920" cy="1444752"/>
          </a:xfrm>
          <a:prstGeom prst="rect">
            <a:avLst/>
          </a:prstGeom>
          <a:solidFill>
            <a:srgbClr val="1F2040"/>
          </a:solidFill>
          <a:ln w="12700">
            <a:solidFill>
              <a:srgbClr val="7C5CBF"/>
            </a:solidFill>
            <a:prstDash val="solid"/>
          </a:ln>
          <a:effectLst>
            <a:outerShdw blurRad="127000" dist="50800" dir="8100000" algn="bl" rotWithShape="0">
              <a:srgbClr val="000000">
                <a:alpha val="30000"/>
              </a:srgbClr>
            </a:outerShdw>
          </a:effectLst>
        </p:spPr>
        <p:txBody>
          <a:bodyPr/>
          <a:lstStyle/>
          <a:p>
            <a:endParaRPr lang="en-ID"/>
          </a:p>
        </p:txBody>
      </p:sp>
      <p:sp>
        <p:nvSpPr>
          <p:cNvPr id="21" name="Shape 19"/>
          <p:cNvSpPr/>
          <p:nvPr/>
        </p:nvSpPr>
        <p:spPr>
          <a:xfrm>
            <a:off x="320040" y="2944368"/>
            <a:ext cx="2788920" cy="45720"/>
          </a:xfrm>
          <a:prstGeom prst="rect">
            <a:avLst/>
          </a:prstGeom>
          <a:solidFill>
            <a:srgbClr val="4ECDC4"/>
          </a:solidFill>
          <a:ln w="12700">
            <a:solidFill>
              <a:srgbClr val="4ECDC4"/>
            </a:solidFill>
            <a:prstDash val="solid"/>
          </a:ln>
        </p:spPr>
        <p:txBody>
          <a:bodyPr/>
          <a:lstStyle/>
          <a:p>
            <a:endParaRPr lang="en-ID"/>
          </a:p>
        </p:txBody>
      </p:sp>
      <p:sp>
        <p:nvSpPr>
          <p:cNvPr id="22" name="Text 20"/>
          <p:cNvSpPr/>
          <p:nvPr/>
        </p:nvSpPr>
        <p:spPr>
          <a:xfrm>
            <a:off x="476792" y="3109347"/>
            <a:ext cx="457200" cy="302281"/>
          </a:xfrm>
          <a:prstGeom prst="rect">
            <a:avLst/>
          </a:prstGeom>
          <a:noFill/>
        </p:spPr>
        <p:txBody>
          <a:bodyPr wrap="square" lIns="0" tIns="0" rIns="0" bIns="0" rtlCol="0" anchor="ctr"/>
          <a:lstStyle/>
          <a:p>
            <a:pPr marL="0" indent="0">
              <a:buNone/>
            </a:pPr>
            <a:r>
              <a:rPr lang="en-US" sz="1800" b="1" dirty="0">
                <a:solidFill>
                  <a:srgbClr val="4ECDC4"/>
                </a:solidFill>
                <a:latin typeface="Courier New" panose="02070309020205020404" pitchFamily="34" charset="0"/>
                <a:ea typeface="Courier New" panose="02070309020205020404" pitchFamily="34" charset="-122"/>
                <a:cs typeface="Courier New" panose="02070309020205020404" pitchFamily="34" charset="-120"/>
              </a:rPr>
              <a:t>01</a:t>
            </a:r>
            <a:endParaRPr lang="en-US" sz="1800" dirty="0"/>
          </a:p>
        </p:txBody>
      </p:sp>
      <p:sp>
        <p:nvSpPr>
          <p:cNvPr id="23" name="Text 21"/>
          <p:cNvSpPr/>
          <p:nvPr/>
        </p:nvSpPr>
        <p:spPr>
          <a:xfrm>
            <a:off x="476792" y="3468759"/>
            <a:ext cx="2560320" cy="241825"/>
          </a:xfrm>
          <a:prstGeom prst="rect">
            <a:avLst/>
          </a:prstGeom>
          <a:noFill/>
        </p:spPr>
        <p:txBody>
          <a:bodyPr wrap="square" lIns="0" tIns="0" rIns="0" bIns="0" rtlCol="0" anchor="ctr"/>
          <a:lstStyle/>
          <a:p>
            <a:pPr marL="0" indent="0">
              <a:buNone/>
            </a:pPr>
            <a:r>
              <a:rPr lang="en-US" sz="1200" b="1" dirty="0">
                <a:solidFill>
                  <a:srgbClr val="F0F0F0"/>
                </a:solidFill>
                <a:latin typeface="Calibri" panose="020F0502020204030204" pitchFamily="34" charset="0"/>
                <a:ea typeface="Calibri" panose="020F0502020204030204" pitchFamily="34" charset="-122"/>
                <a:cs typeface="Calibri" panose="020F0502020204030204" pitchFamily="34" charset="-120"/>
              </a:rPr>
              <a:t>Otomatis Penuh</a:t>
            </a:r>
            <a:endParaRPr lang="en-US" sz="1200" dirty="0"/>
          </a:p>
        </p:txBody>
      </p:sp>
      <p:sp>
        <p:nvSpPr>
          <p:cNvPr id="24" name="Text 22"/>
          <p:cNvSpPr/>
          <p:nvPr/>
        </p:nvSpPr>
        <p:spPr>
          <a:xfrm>
            <a:off x="483326" y="3584448"/>
            <a:ext cx="2578608" cy="640080"/>
          </a:xfrm>
          <a:prstGeom prst="rect">
            <a:avLst/>
          </a:prstGeom>
          <a:noFill/>
        </p:spPr>
        <p:txBody>
          <a:bodyPr wrap="square" lIns="0" tIns="0" rIns="0" bIns="0" rtlCol="0" anchor="ctr"/>
          <a:lstStyle/>
          <a:p>
            <a:pPr marL="0" indent="0">
              <a:buNone/>
            </a:pPr>
            <a:r>
              <a:rPr lang="en-US" sz="1050" dirty="0">
                <a:solidFill>
                  <a:srgbClr val="A0A0B8"/>
                </a:solidFill>
                <a:latin typeface="Calibri" panose="020F0502020204030204" pitchFamily="34" charset="0"/>
                <a:ea typeface="Calibri" panose="020F0502020204030204" pitchFamily="34" charset="-122"/>
                <a:cs typeface="Calibri" panose="020F0502020204030204" pitchFamily="34" charset="-120"/>
              </a:rPr>
              <a:t>Menyiram sendiri tanpa harus diingat atau diawasi terus-menerus.</a:t>
            </a:r>
            <a:endParaRPr lang="en-US" sz="1050" dirty="0"/>
          </a:p>
        </p:txBody>
      </p:sp>
      <p:sp>
        <p:nvSpPr>
          <p:cNvPr id="25" name="Shape 23"/>
          <p:cNvSpPr/>
          <p:nvPr/>
        </p:nvSpPr>
        <p:spPr>
          <a:xfrm>
            <a:off x="3264408" y="2944368"/>
            <a:ext cx="2788920" cy="1444752"/>
          </a:xfrm>
          <a:prstGeom prst="rect">
            <a:avLst/>
          </a:prstGeom>
          <a:solidFill>
            <a:srgbClr val="1F2040"/>
          </a:solidFill>
          <a:ln w="12700">
            <a:solidFill>
              <a:srgbClr val="7C5CBF"/>
            </a:solidFill>
            <a:prstDash val="solid"/>
          </a:ln>
          <a:effectLst>
            <a:outerShdw blurRad="127000" dist="50800" dir="8100000" algn="bl" rotWithShape="0">
              <a:srgbClr val="000000">
                <a:alpha val="30000"/>
              </a:srgbClr>
            </a:outerShdw>
          </a:effectLst>
        </p:spPr>
        <p:txBody>
          <a:bodyPr/>
          <a:lstStyle/>
          <a:p>
            <a:endParaRPr lang="en-ID"/>
          </a:p>
        </p:txBody>
      </p:sp>
      <p:sp>
        <p:nvSpPr>
          <p:cNvPr id="26" name="Shape 24"/>
          <p:cNvSpPr/>
          <p:nvPr/>
        </p:nvSpPr>
        <p:spPr>
          <a:xfrm>
            <a:off x="3264408" y="2944368"/>
            <a:ext cx="2788920" cy="45720"/>
          </a:xfrm>
          <a:prstGeom prst="rect">
            <a:avLst/>
          </a:prstGeom>
          <a:solidFill>
            <a:srgbClr val="4ECDC4"/>
          </a:solidFill>
          <a:ln w="12700">
            <a:solidFill>
              <a:srgbClr val="4ECDC4"/>
            </a:solidFill>
            <a:prstDash val="solid"/>
          </a:ln>
        </p:spPr>
        <p:txBody>
          <a:bodyPr/>
          <a:lstStyle/>
          <a:p>
            <a:endParaRPr lang="en-ID"/>
          </a:p>
        </p:txBody>
      </p:sp>
      <p:sp>
        <p:nvSpPr>
          <p:cNvPr id="27" name="Text 25"/>
          <p:cNvSpPr/>
          <p:nvPr/>
        </p:nvSpPr>
        <p:spPr>
          <a:xfrm>
            <a:off x="3421160" y="3109347"/>
            <a:ext cx="457200" cy="302281"/>
          </a:xfrm>
          <a:prstGeom prst="rect">
            <a:avLst/>
          </a:prstGeom>
          <a:noFill/>
        </p:spPr>
        <p:txBody>
          <a:bodyPr wrap="square" lIns="0" tIns="0" rIns="0" bIns="0" rtlCol="0" anchor="ctr"/>
          <a:lstStyle/>
          <a:p>
            <a:pPr marL="0" indent="0">
              <a:buNone/>
            </a:pPr>
            <a:r>
              <a:rPr lang="en-US" sz="1800" b="1" dirty="0">
                <a:solidFill>
                  <a:srgbClr val="4ECDC4"/>
                </a:solidFill>
                <a:latin typeface="Courier New" panose="02070309020205020404" pitchFamily="34" charset="0"/>
                <a:ea typeface="Courier New" panose="02070309020205020404" pitchFamily="34" charset="-122"/>
                <a:cs typeface="Courier New" panose="02070309020205020404" pitchFamily="34" charset="-120"/>
              </a:rPr>
              <a:t>02</a:t>
            </a:r>
            <a:endParaRPr lang="en-US" sz="1800" dirty="0"/>
          </a:p>
        </p:txBody>
      </p:sp>
      <p:sp>
        <p:nvSpPr>
          <p:cNvPr id="28" name="Text 26"/>
          <p:cNvSpPr/>
          <p:nvPr/>
        </p:nvSpPr>
        <p:spPr>
          <a:xfrm>
            <a:off x="3421160" y="3468759"/>
            <a:ext cx="2560320" cy="241825"/>
          </a:xfrm>
          <a:prstGeom prst="rect">
            <a:avLst/>
          </a:prstGeom>
          <a:noFill/>
        </p:spPr>
        <p:txBody>
          <a:bodyPr wrap="square" lIns="0" tIns="0" rIns="0" bIns="0" rtlCol="0" anchor="ctr"/>
          <a:lstStyle/>
          <a:p>
            <a:pPr marL="0" indent="0">
              <a:buNone/>
            </a:pPr>
            <a:r>
              <a:rPr lang="en-US" sz="1200" b="1" dirty="0">
                <a:solidFill>
                  <a:srgbClr val="F0F0F0"/>
                </a:solidFill>
                <a:latin typeface="Calibri" panose="020F0502020204030204" pitchFamily="34" charset="0"/>
                <a:ea typeface="Calibri" panose="020F0502020204030204" pitchFamily="34" charset="-122"/>
                <a:cs typeface="Calibri" panose="020F0502020204030204" pitchFamily="34" charset="-120"/>
              </a:rPr>
              <a:t>Mudah Dipakai</a:t>
            </a:r>
            <a:endParaRPr lang="en-US" sz="1200" dirty="0"/>
          </a:p>
        </p:txBody>
      </p:sp>
      <p:sp>
        <p:nvSpPr>
          <p:cNvPr id="29" name="Text 27"/>
          <p:cNvSpPr/>
          <p:nvPr/>
        </p:nvSpPr>
        <p:spPr>
          <a:xfrm>
            <a:off x="3427694" y="3584448"/>
            <a:ext cx="2578608" cy="640080"/>
          </a:xfrm>
          <a:prstGeom prst="rect">
            <a:avLst/>
          </a:prstGeom>
          <a:noFill/>
        </p:spPr>
        <p:txBody>
          <a:bodyPr wrap="square" lIns="0" tIns="0" rIns="0" bIns="0" rtlCol="0" anchor="ctr"/>
          <a:lstStyle/>
          <a:p>
            <a:pPr marL="0" indent="0">
              <a:buNone/>
            </a:pPr>
            <a:r>
              <a:rPr lang="en-US" sz="1050" dirty="0">
                <a:solidFill>
                  <a:srgbClr val="A0A0B8"/>
                </a:solidFill>
                <a:latin typeface="Calibri" panose="020F0502020204030204" pitchFamily="34" charset="0"/>
                <a:ea typeface="Calibri" panose="020F0502020204030204" pitchFamily="34" charset="-122"/>
                <a:cs typeface="Calibri" panose="020F0502020204030204" pitchFamily="34" charset="-120"/>
              </a:rPr>
              <a:t>Tombol manual dan layar LCD membuatnya ramah pengguna dari semua kalangan.</a:t>
            </a:r>
            <a:endParaRPr lang="en-US" sz="1050" dirty="0"/>
          </a:p>
        </p:txBody>
      </p:sp>
      <p:sp>
        <p:nvSpPr>
          <p:cNvPr id="30" name="Shape 28"/>
          <p:cNvSpPr/>
          <p:nvPr/>
        </p:nvSpPr>
        <p:spPr>
          <a:xfrm>
            <a:off x="6208776" y="2944368"/>
            <a:ext cx="2788920" cy="1444752"/>
          </a:xfrm>
          <a:prstGeom prst="rect">
            <a:avLst/>
          </a:prstGeom>
          <a:solidFill>
            <a:srgbClr val="1F2040"/>
          </a:solidFill>
          <a:ln w="12700">
            <a:solidFill>
              <a:srgbClr val="7C5CBF"/>
            </a:solidFill>
            <a:prstDash val="solid"/>
          </a:ln>
          <a:effectLst>
            <a:outerShdw blurRad="127000" dist="50800" dir="8100000" algn="bl" rotWithShape="0">
              <a:srgbClr val="000000">
                <a:alpha val="30000"/>
              </a:srgbClr>
            </a:outerShdw>
          </a:effectLst>
        </p:spPr>
        <p:txBody>
          <a:bodyPr/>
          <a:lstStyle/>
          <a:p>
            <a:endParaRPr lang="en-ID"/>
          </a:p>
        </p:txBody>
      </p:sp>
      <p:sp>
        <p:nvSpPr>
          <p:cNvPr id="31" name="Shape 29"/>
          <p:cNvSpPr/>
          <p:nvPr/>
        </p:nvSpPr>
        <p:spPr>
          <a:xfrm>
            <a:off x="6208776" y="2944368"/>
            <a:ext cx="2788920" cy="45720"/>
          </a:xfrm>
          <a:prstGeom prst="rect">
            <a:avLst/>
          </a:prstGeom>
          <a:solidFill>
            <a:srgbClr val="4ECDC4"/>
          </a:solidFill>
          <a:ln w="12700">
            <a:solidFill>
              <a:srgbClr val="4ECDC4"/>
            </a:solidFill>
            <a:prstDash val="solid"/>
          </a:ln>
        </p:spPr>
        <p:txBody>
          <a:bodyPr/>
          <a:lstStyle/>
          <a:p>
            <a:endParaRPr lang="en-ID"/>
          </a:p>
        </p:txBody>
      </p:sp>
      <p:sp>
        <p:nvSpPr>
          <p:cNvPr id="32" name="Text 30"/>
          <p:cNvSpPr/>
          <p:nvPr/>
        </p:nvSpPr>
        <p:spPr>
          <a:xfrm>
            <a:off x="6365528" y="3109347"/>
            <a:ext cx="457200" cy="302281"/>
          </a:xfrm>
          <a:prstGeom prst="rect">
            <a:avLst/>
          </a:prstGeom>
          <a:noFill/>
        </p:spPr>
        <p:txBody>
          <a:bodyPr wrap="square" lIns="0" tIns="0" rIns="0" bIns="0" rtlCol="0" anchor="ctr"/>
          <a:lstStyle/>
          <a:p>
            <a:pPr marL="0" indent="0">
              <a:buNone/>
            </a:pPr>
            <a:r>
              <a:rPr lang="en-US" sz="1800" b="1" dirty="0">
                <a:solidFill>
                  <a:srgbClr val="4ECDC4"/>
                </a:solidFill>
                <a:latin typeface="Courier New" panose="02070309020205020404" pitchFamily="34" charset="0"/>
                <a:ea typeface="Courier New" panose="02070309020205020404" pitchFamily="34" charset="-122"/>
                <a:cs typeface="Courier New" panose="02070309020205020404" pitchFamily="34" charset="-120"/>
              </a:rPr>
              <a:t>03</a:t>
            </a:r>
            <a:endParaRPr lang="en-US" sz="1800" dirty="0"/>
          </a:p>
        </p:txBody>
      </p:sp>
      <p:sp>
        <p:nvSpPr>
          <p:cNvPr id="33" name="Text 31"/>
          <p:cNvSpPr/>
          <p:nvPr/>
        </p:nvSpPr>
        <p:spPr>
          <a:xfrm>
            <a:off x="6365528" y="3468759"/>
            <a:ext cx="2560320" cy="241825"/>
          </a:xfrm>
          <a:prstGeom prst="rect">
            <a:avLst/>
          </a:prstGeom>
          <a:noFill/>
        </p:spPr>
        <p:txBody>
          <a:bodyPr wrap="square" lIns="0" tIns="0" rIns="0" bIns="0" rtlCol="0" anchor="ctr"/>
          <a:lstStyle/>
          <a:p>
            <a:pPr marL="0" indent="0">
              <a:buNone/>
            </a:pPr>
            <a:r>
              <a:rPr lang="en-US" sz="1200" b="1" dirty="0">
                <a:solidFill>
                  <a:srgbClr val="F0F0F0"/>
                </a:solidFill>
                <a:latin typeface="Calibri" panose="020F0502020204030204" pitchFamily="34" charset="0"/>
                <a:ea typeface="Calibri" panose="020F0502020204030204" pitchFamily="34" charset="-122"/>
                <a:cs typeface="Calibri" panose="020F0502020204030204" pitchFamily="34" charset="-120"/>
              </a:rPr>
              <a:t>Bisa Berkembang</a:t>
            </a:r>
            <a:endParaRPr lang="en-US" sz="1200" dirty="0"/>
          </a:p>
        </p:txBody>
      </p:sp>
      <p:sp>
        <p:nvSpPr>
          <p:cNvPr id="34" name="Text 32"/>
          <p:cNvSpPr/>
          <p:nvPr/>
        </p:nvSpPr>
        <p:spPr>
          <a:xfrm>
            <a:off x="6372062" y="3584448"/>
            <a:ext cx="2578608" cy="640080"/>
          </a:xfrm>
          <a:prstGeom prst="rect">
            <a:avLst/>
          </a:prstGeom>
          <a:noFill/>
        </p:spPr>
        <p:txBody>
          <a:bodyPr wrap="square" lIns="0" tIns="0" rIns="0" bIns="0" rtlCol="0" anchor="ctr"/>
          <a:lstStyle/>
          <a:p>
            <a:pPr marL="0" indent="0">
              <a:buNone/>
            </a:pPr>
            <a:r>
              <a:rPr lang="en-US" sz="1050" dirty="0">
                <a:solidFill>
                  <a:srgbClr val="A0A0B8"/>
                </a:solidFill>
                <a:latin typeface="Calibri" panose="020F0502020204030204" pitchFamily="34" charset="0"/>
                <a:ea typeface="Calibri" panose="020F0502020204030204" pitchFamily="34" charset="-122"/>
                <a:cs typeface="Calibri" panose="020F0502020204030204" pitchFamily="34" charset="-120"/>
              </a:rPr>
              <a:t>Sistem ini bisa dikembangkan lebih lanjut, misalnya ditambah notifikasi HP.</a:t>
            </a:r>
            <a:endParaRPr lang="en-US" sz="1050" dirty="0"/>
          </a:p>
        </p:txBody>
      </p:sp>
      <p:sp>
        <p:nvSpPr>
          <p:cNvPr id="35" name="Shape 33"/>
          <p:cNvSpPr/>
          <p:nvPr/>
        </p:nvSpPr>
        <p:spPr>
          <a:xfrm>
            <a:off x="0" y="5138928"/>
            <a:ext cx="9144000" cy="0"/>
          </a:xfrm>
          <a:prstGeom prst="rect">
            <a:avLst/>
          </a:prstGeom>
          <a:solidFill>
            <a:srgbClr val="13131F"/>
          </a:solidFill>
          <a:ln w="12700">
            <a:solidFill>
              <a:srgbClr val="13131F"/>
            </a:solidFill>
            <a:prstDash val="solid"/>
          </a:ln>
        </p:spPr>
        <p:txBody>
          <a:bodyPr/>
          <a:lstStyle/>
          <a:p>
            <a:endParaRPr lang="en-ID"/>
          </a:p>
        </p:txBody>
      </p:sp>
      <p:sp>
        <p:nvSpPr>
          <p:cNvPr id="36" name="Text 34"/>
          <p:cNvSpPr/>
          <p:nvPr/>
        </p:nvSpPr>
        <p:spPr>
          <a:xfrm>
            <a:off x="0" y="4846320"/>
            <a:ext cx="9144000" cy="274320"/>
          </a:xfrm>
          <a:prstGeom prst="rect">
            <a:avLst/>
          </a:prstGeom>
          <a:noFill/>
        </p:spPr>
        <p:txBody>
          <a:bodyPr wrap="square" lIns="0" tIns="0" rIns="0" bIns="0" rtlCol="0" anchor="ctr"/>
          <a:lstStyle/>
          <a:p>
            <a:pPr marL="0" indent="0" algn="ctr">
              <a:buNone/>
            </a:pPr>
            <a:r>
              <a:rPr lang="en-US" sz="900" dirty="0">
                <a:solidFill>
                  <a:srgbClr val="A0A0B8"/>
                </a:solidFill>
                <a:latin typeface="Courier New" panose="02070309020205020404" pitchFamily="34" charset="0"/>
                <a:ea typeface="Courier New" panose="02070309020205020404" pitchFamily="34" charset="-122"/>
                <a:cs typeface="Courier New" panose="02070309020205020404" pitchFamily="34" charset="-120"/>
              </a:rPr>
              <a:t>Smart Plant System •  Final Project  •  Arduino Uno</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3131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4ECDC4"/>
          </a:solidFill>
          <a:ln w="12700">
            <a:solidFill>
              <a:srgbClr val="4ECDC4"/>
            </a:solidFill>
            <a:prstDash val="solid"/>
          </a:ln>
        </p:spPr>
        <p:txBody>
          <a:bodyPr/>
          <a:lstStyle/>
          <a:p>
            <a:endParaRPr lang="en-ID"/>
          </a:p>
        </p:txBody>
      </p:sp>
      <p:sp>
        <p:nvSpPr>
          <p:cNvPr id="3" name="Shape 1"/>
          <p:cNvSpPr/>
          <p:nvPr/>
        </p:nvSpPr>
        <p:spPr>
          <a:xfrm>
            <a:off x="0" y="5074920"/>
            <a:ext cx="9144000" cy="73152"/>
          </a:xfrm>
          <a:prstGeom prst="rect">
            <a:avLst/>
          </a:prstGeom>
          <a:solidFill>
            <a:srgbClr val="4ECDC4"/>
          </a:solidFill>
          <a:ln w="12700">
            <a:solidFill>
              <a:srgbClr val="4ECDC4"/>
            </a:solidFill>
            <a:prstDash val="solid"/>
          </a:ln>
        </p:spPr>
        <p:txBody>
          <a:bodyPr/>
          <a:lstStyle/>
          <a:p>
            <a:endParaRPr lang="en-ID"/>
          </a:p>
        </p:txBody>
      </p:sp>
      <p:sp>
        <p:nvSpPr>
          <p:cNvPr id="4" name="Text 2"/>
          <p:cNvSpPr/>
          <p:nvPr/>
        </p:nvSpPr>
        <p:spPr>
          <a:xfrm>
            <a:off x="0" y="73025"/>
            <a:ext cx="2945765" cy="1159510"/>
          </a:xfrm>
          <a:prstGeom prst="rect">
            <a:avLst/>
          </a:prstGeom>
          <a:noFill/>
        </p:spPr>
        <p:txBody>
          <a:bodyPr wrap="square" lIns="0" tIns="0" rIns="0" bIns="0" rtlCol="0" anchor="ctr"/>
          <a:lstStyle/>
          <a:p>
            <a:pPr marL="0" indent="0">
              <a:buNone/>
            </a:pPr>
            <a:endParaRPr lang="en-US" sz="3200" dirty="0"/>
          </a:p>
        </p:txBody>
      </p:sp>
      <p:sp>
        <p:nvSpPr>
          <p:cNvPr id="35" name="Shape 33"/>
          <p:cNvSpPr/>
          <p:nvPr/>
        </p:nvSpPr>
        <p:spPr>
          <a:xfrm>
            <a:off x="0" y="5138928"/>
            <a:ext cx="9144000" cy="0"/>
          </a:xfrm>
          <a:prstGeom prst="rect">
            <a:avLst/>
          </a:prstGeom>
          <a:solidFill>
            <a:srgbClr val="13131F"/>
          </a:solidFill>
          <a:ln w="12700">
            <a:solidFill>
              <a:srgbClr val="13131F"/>
            </a:solidFill>
            <a:prstDash val="solid"/>
          </a:ln>
        </p:spPr>
        <p:txBody>
          <a:bodyPr/>
          <a:lstStyle/>
          <a:p>
            <a:endParaRPr lang="en-ID"/>
          </a:p>
        </p:txBody>
      </p:sp>
      <p:sp>
        <p:nvSpPr>
          <p:cNvPr id="36" name="Text 34"/>
          <p:cNvSpPr/>
          <p:nvPr/>
        </p:nvSpPr>
        <p:spPr>
          <a:xfrm>
            <a:off x="0" y="4846320"/>
            <a:ext cx="9144000" cy="274320"/>
          </a:xfrm>
          <a:prstGeom prst="rect">
            <a:avLst/>
          </a:prstGeom>
          <a:noFill/>
        </p:spPr>
        <p:txBody>
          <a:bodyPr wrap="square" lIns="0" tIns="0" rIns="0" bIns="0" rtlCol="0" anchor="ctr"/>
          <a:lstStyle/>
          <a:p>
            <a:pPr marL="0" indent="0" algn="ctr">
              <a:buNone/>
            </a:pPr>
            <a:r>
              <a:rPr lang="en-US" sz="900" dirty="0">
                <a:solidFill>
                  <a:srgbClr val="A0A0B8"/>
                </a:solidFill>
                <a:latin typeface="Courier New" panose="02070309020205020404" pitchFamily="34" charset="0"/>
                <a:ea typeface="Courier New" panose="02070309020205020404" pitchFamily="34" charset="-122"/>
                <a:cs typeface="Courier New" panose="02070309020205020404" pitchFamily="34" charset="-120"/>
              </a:rPr>
              <a:t>PRAKTIKUM SISTEM EMBEDDED FTUI 2026</a:t>
            </a:r>
            <a:endParaRPr lang="en-US" sz="900" dirty="0"/>
          </a:p>
        </p:txBody>
      </p:sp>
      <p:grpSp>
        <p:nvGrpSpPr>
          <p:cNvPr id="8" name="Grup 7">
            <a:extLst>
              <a:ext uri="{FF2B5EF4-FFF2-40B4-BE49-F238E27FC236}">
                <a16:creationId xmlns:a16="http://schemas.microsoft.com/office/drawing/2014/main" id="{E02E2E60-9610-605B-D0A4-44745F024592}"/>
              </a:ext>
            </a:extLst>
          </p:cNvPr>
          <p:cNvGrpSpPr/>
          <p:nvPr/>
        </p:nvGrpSpPr>
        <p:grpSpPr>
          <a:xfrm>
            <a:off x="130629" y="1102932"/>
            <a:ext cx="8882742" cy="2937636"/>
            <a:chOff x="156756" y="1193978"/>
            <a:chExt cx="8882742" cy="2937636"/>
          </a:xfrm>
        </p:grpSpPr>
        <p:sp>
          <p:nvSpPr>
            <p:cNvPr id="11" name="Text Box 10"/>
            <p:cNvSpPr txBox="1"/>
            <p:nvPr/>
          </p:nvSpPr>
          <p:spPr>
            <a:xfrm>
              <a:off x="2286000" y="1193978"/>
              <a:ext cx="4572000" cy="583565"/>
            </a:xfrm>
            <a:prstGeom prst="rect">
              <a:avLst/>
            </a:prstGeom>
            <a:noFill/>
          </p:spPr>
          <p:txBody>
            <a:bodyPr wrap="square" rtlCol="0" anchor="t">
              <a:spAutoFit/>
            </a:bodyPr>
            <a:lstStyle/>
            <a:p>
              <a:pPr marL="0" indent="0" algn="ctr">
                <a:buNone/>
              </a:pPr>
              <a:r>
                <a:rPr lang="en-US" sz="3200" b="1" dirty="0">
                  <a:solidFill>
                    <a:srgbClr val="4ECDC4"/>
                  </a:solidFill>
                  <a:latin typeface="Courier New" panose="02070309020205020404" pitchFamily="34" charset="0"/>
                  <a:ea typeface="Courier New" panose="02070309020205020404" pitchFamily="34" charset="-122"/>
                  <a:cs typeface="Courier New" panose="02070309020205020404" pitchFamily="34" charset="-120"/>
                  <a:sym typeface="+mn-ea"/>
                </a:rPr>
                <a:t>Rangkaian Proteus</a:t>
              </a:r>
              <a:endParaRPr lang="en-US" altLang="en-US" sz="3200" b="1" dirty="0">
                <a:solidFill>
                  <a:srgbClr val="4ECDC4"/>
                </a:solidFill>
                <a:latin typeface="Courier New" panose="02070309020205020404" pitchFamily="34" charset="0"/>
                <a:ea typeface="Courier New" panose="02070309020205020404" pitchFamily="34" charset="-122"/>
                <a:cs typeface="Courier New" panose="02070309020205020404" pitchFamily="34" charset="-120"/>
                <a:sym typeface="+mn-ea"/>
              </a:endParaRPr>
            </a:p>
          </p:txBody>
        </p:sp>
        <p:pic>
          <p:nvPicPr>
            <p:cNvPr id="15" name="Picture 14" descr="Kering"/>
            <p:cNvPicPr>
              <a:picLocks noChangeAspect="1"/>
            </p:cNvPicPr>
            <p:nvPr/>
          </p:nvPicPr>
          <p:blipFill>
            <a:blip r:embed="rId3"/>
            <a:stretch>
              <a:fillRect/>
            </a:stretch>
          </p:blipFill>
          <p:spPr>
            <a:xfrm>
              <a:off x="156756" y="1795831"/>
              <a:ext cx="4389120" cy="2332122"/>
            </a:xfrm>
            <a:prstGeom prst="rect">
              <a:avLst/>
            </a:prstGeom>
          </p:spPr>
        </p:pic>
        <p:pic>
          <p:nvPicPr>
            <p:cNvPr id="16" name="Picture 15" descr="Basah"/>
            <p:cNvPicPr>
              <a:picLocks noChangeAspect="1"/>
            </p:cNvPicPr>
            <p:nvPr/>
          </p:nvPicPr>
          <p:blipFill>
            <a:blip r:embed="rId4"/>
            <a:stretch>
              <a:fillRect/>
            </a:stretch>
          </p:blipFill>
          <p:spPr>
            <a:xfrm>
              <a:off x="4650378" y="1804974"/>
              <a:ext cx="4389120" cy="2326640"/>
            </a:xfrm>
            <a:prstGeom prst="rect">
              <a:avLst/>
            </a:prstGeom>
          </p:spPr>
        </p:pic>
      </p:grpSp>
      <p:sp>
        <p:nvSpPr>
          <p:cNvPr id="6" name="Text 2">
            <a:extLst>
              <a:ext uri="{FF2B5EF4-FFF2-40B4-BE49-F238E27FC236}">
                <a16:creationId xmlns:a16="http://schemas.microsoft.com/office/drawing/2014/main" id="{E3321960-3F42-076E-5A36-697927E091DB}"/>
              </a:ext>
            </a:extLst>
          </p:cNvPr>
          <p:cNvSpPr/>
          <p:nvPr/>
        </p:nvSpPr>
        <p:spPr>
          <a:xfrm>
            <a:off x="411480" y="228600"/>
            <a:ext cx="4572000" cy="594360"/>
          </a:xfrm>
          <a:prstGeom prst="rect">
            <a:avLst/>
          </a:prstGeom>
          <a:noFill/>
        </p:spPr>
        <p:txBody>
          <a:bodyPr wrap="square" lIns="0" tIns="0" rIns="0" bIns="0" rtlCol="0" anchor="ctr"/>
          <a:lstStyle/>
          <a:p>
            <a:pPr marL="0" indent="0">
              <a:buNone/>
            </a:pPr>
            <a:r>
              <a:rPr lang="en-US" sz="3200" b="1" dirty="0">
                <a:solidFill>
                  <a:srgbClr val="4ECDC4"/>
                </a:solidFill>
                <a:latin typeface="Courier New" panose="02070309020205020404" pitchFamily="34" charset="0"/>
                <a:ea typeface="Courier New" panose="02070309020205020404" pitchFamily="34" charset="-122"/>
                <a:cs typeface="Courier New" panose="02070309020205020404" pitchFamily="34" charset="-120"/>
              </a:rPr>
              <a:t>Result</a:t>
            </a:r>
            <a:endParaRPr lang="en-US" sz="3200" dirty="0"/>
          </a:p>
        </p:txBody>
      </p:sp>
      <p:sp>
        <p:nvSpPr>
          <p:cNvPr id="7" name="Shape 3">
            <a:extLst>
              <a:ext uri="{FF2B5EF4-FFF2-40B4-BE49-F238E27FC236}">
                <a16:creationId xmlns:a16="http://schemas.microsoft.com/office/drawing/2014/main" id="{35B02449-44FC-6D5C-6151-6ACB51ED6805}"/>
              </a:ext>
            </a:extLst>
          </p:cNvPr>
          <p:cNvSpPr/>
          <p:nvPr/>
        </p:nvSpPr>
        <p:spPr>
          <a:xfrm>
            <a:off x="411480" y="868680"/>
            <a:ext cx="1234440" cy="36576"/>
          </a:xfrm>
          <a:prstGeom prst="rect">
            <a:avLst/>
          </a:prstGeom>
          <a:solidFill>
            <a:srgbClr val="4ECDC4"/>
          </a:solidFill>
          <a:ln w="12700">
            <a:solidFill>
              <a:srgbClr val="4ECDC4"/>
            </a:solidFill>
            <a:prstDash val="solid"/>
          </a:ln>
        </p:spPr>
        <p:txBody>
          <a:bodyPr/>
          <a:lstStyle/>
          <a:p>
            <a:endParaRPr lang="en-ID"/>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3131F"/>
        </a:solidFill>
        <a:effectLst/>
      </p:bgPr>
    </p:bg>
    <p:spTree>
      <p:nvGrpSpPr>
        <p:cNvPr id="1" name="">
          <a:extLst>
            <a:ext uri="{FF2B5EF4-FFF2-40B4-BE49-F238E27FC236}">
              <a16:creationId xmlns:a16="http://schemas.microsoft.com/office/drawing/2014/main" id="{4ACAF955-2AEF-C5C0-9162-65C095DA9D55}"/>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7ABF7964-947E-BBD3-9CD3-EAF2A77B995C}"/>
              </a:ext>
            </a:extLst>
          </p:cNvPr>
          <p:cNvSpPr/>
          <p:nvPr/>
        </p:nvSpPr>
        <p:spPr>
          <a:xfrm>
            <a:off x="0" y="0"/>
            <a:ext cx="9144000" cy="73152"/>
          </a:xfrm>
          <a:prstGeom prst="rect">
            <a:avLst/>
          </a:prstGeom>
          <a:solidFill>
            <a:srgbClr val="4ECDC4"/>
          </a:solidFill>
          <a:ln w="12700">
            <a:solidFill>
              <a:srgbClr val="4ECDC4"/>
            </a:solidFill>
            <a:prstDash val="solid"/>
          </a:ln>
        </p:spPr>
        <p:txBody>
          <a:bodyPr/>
          <a:lstStyle/>
          <a:p>
            <a:endParaRPr lang="en-ID"/>
          </a:p>
        </p:txBody>
      </p:sp>
      <p:sp>
        <p:nvSpPr>
          <p:cNvPr id="3" name="Shape 1">
            <a:extLst>
              <a:ext uri="{FF2B5EF4-FFF2-40B4-BE49-F238E27FC236}">
                <a16:creationId xmlns:a16="http://schemas.microsoft.com/office/drawing/2014/main" id="{679CAAA6-28CF-954C-FD4A-D41740F2A331}"/>
              </a:ext>
            </a:extLst>
          </p:cNvPr>
          <p:cNvSpPr/>
          <p:nvPr/>
        </p:nvSpPr>
        <p:spPr>
          <a:xfrm>
            <a:off x="0" y="5074920"/>
            <a:ext cx="9144000" cy="73152"/>
          </a:xfrm>
          <a:prstGeom prst="rect">
            <a:avLst/>
          </a:prstGeom>
          <a:solidFill>
            <a:srgbClr val="4ECDC4"/>
          </a:solidFill>
          <a:ln w="12700">
            <a:solidFill>
              <a:srgbClr val="4ECDC4"/>
            </a:solidFill>
            <a:prstDash val="solid"/>
          </a:ln>
        </p:spPr>
        <p:txBody>
          <a:bodyPr/>
          <a:lstStyle/>
          <a:p>
            <a:endParaRPr lang="en-ID"/>
          </a:p>
        </p:txBody>
      </p:sp>
      <p:sp>
        <p:nvSpPr>
          <p:cNvPr id="4" name="Text 2">
            <a:extLst>
              <a:ext uri="{FF2B5EF4-FFF2-40B4-BE49-F238E27FC236}">
                <a16:creationId xmlns:a16="http://schemas.microsoft.com/office/drawing/2014/main" id="{CBAD6F8C-AABB-A964-711F-377836A82D15}"/>
              </a:ext>
            </a:extLst>
          </p:cNvPr>
          <p:cNvSpPr/>
          <p:nvPr/>
        </p:nvSpPr>
        <p:spPr>
          <a:xfrm>
            <a:off x="0" y="73025"/>
            <a:ext cx="2945765" cy="1159510"/>
          </a:xfrm>
          <a:prstGeom prst="rect">
            <a:avLst/>
          </a:prstGeom>
          <a:noFill/>
        </p:spPr>
        <p:txBody>
          <a:bodyPr wrap="square" lIns="0" tIns="0" rIns="0" bIns="0" rtlCol="0" anchor="ctr"/>
          <a:lstStyle/>
          <a:p>
            <a:pPr marL="0" indent="0">
              <a:buNone/>
            </a:pPr>
            <a:endParaRPr lang="en-US" sz="3200" dirty="0"/>
          </a:p>
        </p:txBody>
      </p:sp>
      <p:sp>
        <p:nvSpPr>
          <p:cNvPr id="35" name="Shape 33">
            <a:extLst>
              <a:ext uri="{FF2B5EF4-FFF2-40B4-BE49-F238E27FC236}">
                <a16:creationId xmlns:a16="http://schemas.microsoft.com/office/drawing/2014/main" id="{5429F1E1-E217-D3B7-25D5-974F389963B9}"/>
              </a:ext>
            </a:extLst>
          </p:cNvPr>
          <p:cNvSpPr/>
          <p:nvPr/>
        </p:nvSpPr>
        <p:spPr>
          <a:xfrm>
            <a:off x="0" y="5138928"/>
            <a:ext cx="9144000" cy="0"/>
          </a:xfrm>
          <a:prstGeom prst="rect">
            <a:avLst/>
          </a:prstGeom>
          <a:solidFill>
            <a:srgbClr val="13131F"/>
          </a:solidFill>
          <a:ln w="12700">
            <a:solidFill>
              <a:srgbClr val="13131F"/>
            </a:solidFill>
            <a:prstDash val="solid"/>
          </a:ln>
        </p:spPr>
        <p:txBody>
          <a:bodyPr/>
          <a:lstStyle/>
          <a:p>
            <a:endParaRPr lang="en-ID"/>
          </a:p>
        </p:txBody>
      </p:sp>
      <p:sp>
        <p:nvSpPr>
          <p:cNvPr id="36" name="Text 34">
            <a:extLst>
              <a:ext uri="{FF2B5EF4-FFF2-40B4-BE49-F238E27FC236}">
                <a16:creationId xmlns:a16="http://schemas.microsoft.com/office/drawing/2014/main" id="{386FB45A-4E86-E1A4-AF50-239005323684}"/>
              </a:ext>
            </a:extLst>
          </p:cNvPr>
          <p:cNvSpPr/>
          <p:nvPr/>
        </p:nvSpPr>
        <p:spPr>
          <a:xfrm>
            <a:off x="0" y="4846320"/>
            <a:ext cx="9144000" cy="274320"/>
          </a:xfrm>
          <a:prstGeom prst="rect">
            <a:avLst/>
          </a:prstGeom>
          <a:noFill/>
        </p:spPr>
        <p:txBody>
          <a:bodyPr wrap="square" lIns="0" tIns="0" rIns="0" bIns="0" rtlCol="0" anchor="ctr"/>
          <a:lstStyle/>
          <a:p>
            <a:pPr marL="0" indent="0" algn="ctr">
              <a:buNone/>
            </a:pPr>
            <a:r>
              <a:rPr lang="en-US" sz="900" dirty="0">
                <a:solidFill>
                  <a:srgbClr val="A0A0B8"/>
                </a:solidFill>
                <a:latin typeface="Courier New" panose="02070309020205020404" pitchFamily="34" charset="0"/>
                <a:ea typeface="Courier New" panose="02070309020205020404" pitchFamily="34" charset="-122"/>
                <a:cs typeface="Courier New" panose="02070309020205020404" pitchFamily="34" charset="-120"/>
              </a:rPr>
              <a:t>PRAKTIKUM SISTEM EMBEDDED FTUI 2026</a:t>
            </a:r>
            <a:endParaRPr lang="en-US" sz="900" dirty="0"/>
          </a:p>
        </p:txBody>
      </p:sp>
      <p:sp>
        <p:nvSpPr>
          <p:cNvPr id="6" name="Text 2">
            <a:extLst>
              <a:ext uri="{FF2B5EF4-FFF2-40B4-BE49-F238E27FC236}">
                <a16:creationId xmlns:a16="http://schemas.microsoft.com/office/drawing/2014/main" id="{406499DD-3C32-8DC5-0D6F-64CD1C429965}"/>
              </a:ext>
            </a:extLst>
          </p:cNvPr>
          <p:cNvSpPr/>
          <p:nvPr/>
        </p:nvSpPr>
        <p:spPr>
          <a:xfrm>
            <a:off x="411480" y="228600"/>
            <a:ext cx="4572000" cy="594360"/>
          </a:xfrm>
          <a:prstGeom prst="rect">
            <a:avLst/>
          </a:prstGeom>
          <a:noFill/>
        </p:spPr>
        <p:txBody>
          <a:bodyPr wrap="square" lIns="0" tIns="0" rIns="0" bIns="0" rtlCol="0" anchor="ctr"/>
          <a:lstStyle/>
          <a:p>
            <a:pPr marL="0" indent="0">
              <a:buNone/>
            </a:pPr>
            <a:r>
              <a:rPr lang="en-US" sz="3200" b="1" dirty="0">
                <a:solidFill>
                  <a:srgbClr val="4ECDC4"/>
                </a:solidFill>
                <a:latin typeface="Courier New" panose="02070309020205020404" pitchFamily="34" charset="0"/>
                <a:ea typeface="Courier New" panose="02070309020205020404" pitchFamily="34" charset="-122"/>
                <a:cs typeface="Courier New" panose="02070309020205020404" pitchFamily="34" charset="-120"/>
              </a:rPr>
              <a:t>Result</a:t>
            </a:r>
            <a:endParaRPr lang="en-US" sz="3200" dirty="0"/>
          </a:p>
        </p:txBody>
      </p:sp>
      <p:sp>
        <p:nvSpPr>
          <p:cNvPr id="7" name="Shape 3">
            <a:extLst>
              <a:ext uri="{FF2B5EF4-FFF2-40B4-BE49-F238E27FC236}">
                <a16:creationId xmlns:a16="http://schemas.microsoft.com/office/drawing/2014/main" id="{16AD2CD4-66C2-BB90-01F6-21E28830E105}"/>
              </a:ext>
            </a:extLst>
          </p:cNvPr>
          <p:cNvSpPr/>
          <p:nvPr/>
        </p:nvSpPr>
        <p:spPr>
          <a:xfrm>
            <a:off x="411480" y="868680"/>
            <a:ext cx="1234440" cy="36576"/>
          </a:xfrm>
          <a:prstGeom prst="rect">
            <a:avLst/>
          </a:prstGeom>
          <a:solidFill>
            <a:srgbClr val="4ECDC4"/>
          </a:solidFill>
          <a:ln w="12700">
            <a:solidFill>
              <a:srgbClr val="4ECDC4"/>
            </a:solidFill>
            <a:prstDash val="solid"/>
          </a:ln>
        </p:spPr>
        <p:txBody>
          <a:bodyPr/>
          <a:lstStyle/>
          <a:p>
            <a:endParaRPr lang="en-ID"/>
          </a:p>
        </p:txBody>
      </p:sp>
      <p:grpSp>
        <p:nvGrpSpPr>
          <p:cNvPr id="13" name="Grup 12">
            <a:extLst>
              <a:ext uri="{FF2B5EF4-FFF2-40B4-BE49-F238E27FC236}">
                <a16:creationId xmlns:a16="http://schemas.microsoft.com/office/drawing/2014/main" id="{7F65082C-E788-9406-C31D-6352C6AD4D58}"/>
              </a:ext>
            </a:extLst>
          </p:cNvPr>
          <p:cNvGrpSpPr/>
          <p:nvPr/>
        </p:nvGrpSpPr>
        <p:grpSpPr>
          <a:xfrm>
            <a:off x="2144429" y="821655"/>
            <a:ext cx="4855141" cy="3500190"/>
            <a:chOff x="2144429" y="994933"/>
            <a:chExt cx="4855141" cy="3500190"/>
          </a:xfrm>
        </p:grpSpPr>
        <p:sp>
          <p:nvSpPr>
            <p:cNvPr id="11" name="Text Box 10">
              <a:extLst>
                <a:ext uri="{FF2B5EF4-FFF2-40B4-BE49-F238E27FC236}">
                  <a16:creationId xmlns:a16="http://schemas.microsoft.com/office/drawing/2014/main" id="{64C903CC-6624-034A-DD73-20A202CD4EA2}"/>
                </a:ext>
              </a:extLst>
            </p:cNvPr>
            <p:cNvSpPr txBox="1"/>
            <p:nvPr/>
          </p:nvSpPr>
          <p:spPr>
            <a:xfrm>
              <a:off x="2740705" y="994933"/>
              <a:ext cx="3662589" cy="584775"/>
            </a:xfrm>
            <a:prstGeom prst="rect">
              <a:avLst/>
            </a:prstGeom>
            <a:noFill/>
          </p:spPr>
          <p:txBody>
            <a:bodyPr wrap="square" rtlCol="0" anchor="t">
              <a:spAutoFit/>
            </a:bodyPr>
            <a:lstStyle/>
            <a:p>
              <a:pPr marL="0" indent="0" algn="ctr">
                <a:buNone/>
              </a:pPr>
              <a:r>
                <a:rPr lang="en-US" sz="3200" b="1" dirty="0" err="1">
                  <a:solidFill>
                    <a:srgbClr val="4ECDC4"/>
                  </a:solidFill>
                  <a:latin typeface="Courier New" panose="02070309020205020404" pitchFamily="34" charset="0"/>
                  <a:ea typeface="Courier New" panose="02070309020205020404" pitchFamily="34" charset="-122"/>
                  <a:cs typeface="Courier New" panose="02070309020205020404" pitchFamily="34" charset="-120"/>
                  <a:sym typeface="+mn-ea"/>
                </a:rPr>
                <a:t>Rangkaian</a:t>
              </a:r>
              <a:r>
                <a:rPr lang="en-US" sz="3200" b="1" dirty="0">
                  <a:solidFill>
                    <a:srgbClr val="4ECDC4"/>
                  </a:solidFill>
                  <a:latin typeface="Courier New" panose="02070309020205020404" pitchFamily="34" charset="0"/>
                  <a:ea typeface="Courier New" panose="02070309020205020404" pitchFamily="34" charset="-122"/>
                  <a:cs typeface="Courier New" panose="02070309020205020404" pitchFamily="34" charset="-120"/>
                  <a:sym typeface="+mn-ea"/>
                </a:rPr>
                <a:t> Asli</a:t>
              </a:r>
              <a:endParaRPr lang="en-US" altLang="en-US" sz="3200" b="1" dirty="0">
                <a:solidFill>
                  <a:srgbClr val="4ECDC4"/>
                </a:solidFill>
                <a:latin typeface="Courier New" panose="02070309020205020404" pitchFamily="34" charset="0"/>
                <a:ea typeface="Courier New" panose="02070309020205020404" pitchFamily="34" charset="-122"/>
                <a:cs typeface="Courier New" panose="02070309020205020404" pitchFamily="34" charset="-120"/>
                <a:sym typeface="+mn-ea"/>
              </a:endParaRPr>
            </a:p>
          </p:txBody>
        </p:sp>
        <p:grpSp>
          <p:nvGrpSpPr>
            <p:cNvPr id="12" name="Grup 11">
              <a:extLst>
                <a:ext uri="{FF2B5EF4-FFF2-40B4-BE49-F238E27FC236}">
                  <a16:creationId xmlns:a16="http://schemas.microsoft.com/office/drawing/2014/main" id="{2EA7864E-9934-E393-4E99-2560FE3269DF}"/>
                </a:ext>
              </a:extLst>
            </p:cNvPr>
            <p:cNvGrpSpPr/>
            <p:nvPr/>
          </p:nvGrpSpPr>
          <p:grpSpPr>
            <a:xfrm>
              <a:off x="2144429" y="1597996"/>
              <a:ext cx="4855141" cy="2897127"/>
              <a:chOff x="2131367" y="1330444"/>
              <a:chExt cx="4855141" cy="2897127"/>
            </a:xfrm>
          </p:grpSpPr>
          <p:pic>
            <p:nvPicPr>
              <p:cNvPr id="8" name="Gambar 7">
                <a:extLst>
                  <a:ext uri="{FF2B5EF4-FFF2-40B4-BE49-F238E27FC236}">
                    <a16:creationId xmlns:a16="http://schemas.microsoft.com/office/drawing/2014/main" id="{9F949585-1A83-44F9-DC3B-CA44256D6EC6}"/>
                  </a:ext>
                </a:extLst>
              </p:cNvPr>
              <p:cNvPicPr>
                <a:picLocks noChangeAspect="1"/>
              </p:cNvPicPr>
              <p:nvPr/>
            </p:nvPicPr>
            <p:blipFill>
              <a:blip r:embed="rId3"/>
              <a:stretch>
                <a:fillRect/>
              </a:stretch>
            </p:blipFill>
            <p:spPr>
              <a:xfrm>
                <a:off x="2131367" y="1330444"/>
                <a:ext cx="2172845" cy="2897127"/>
              </a:xfrm>
              <a:prstGeom prst="rect">
                <a:avLst/>
              </a:prstGeom>
            </p:spPr>
          </p:pic>
          <p:pic>
            <p:nvPicPr>
              <p:cNvPr id="10" name="Gambar 9">
                <a:extLst>
                  <a:ext uri="{FF2B5EF4-FFF2-40B4-BE49-F238E27FC236}">
                    <a16:creationId xmlns:a16="http://schemas.microsoft.com/office/drawing/2014/main" id="{24AF8CC5-F5E4-EE60-3530-E00AC72F2CF7}"/>
                  </a:ext>
                </a:extLst>
              </p:cNvPr>
              <p:cNvPicPr>
                <a:picLocks noChangeAspect="1"/>
              </p:cNvPicPr>
              <p:nvPr/>
            </p:nvPicPr>
            <p:blipFill>
              <a:blip r:embed="rId4"/>
              <a:stretch>
                <a:fillRect/>
              </a:stretch>
            </p:blipFill>
            <p:spPr>
              <a:xfrm>
                <a:off x="4813663" y="1330445"/>
                <a:ext cx="2172845" cy="2897126"/>
              </a:xfrm>
              <a:prstGeom prst="rect">
                <a:avLst/>
              </a:prstGeom>
            </p:spPr>
          </p:pic>
        </p:grpSp>
      </p:grpSp>
    </p:spTree>
    <p:extLst>
      <p:ext uri="{BB962C8B-B14F-4D97-AF65-F5344CB8AC3E}">
        <p14:creationId xmlns:p14="http://schemas.microsoft.com/office/powerpoint/2010/main" val="8688368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3131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4ECDC4"/>
          </a:solidFill>
          <a:ln w="12700">
            <a:solidFill>
              <a:srgbClr val="4ECDC4"/>
            </a:solidFill>
            <a:prstDash val="solid"/>
          </a:ln>
        </p:spPr>
        <p:txBody>
          <a:bodyPr/>
          <a:lstStyle/>
          <a:p>
            <a:endParaRPr lang="en-ID"/>
          </a:p>
        </p:txBody>
      </p:sp>
      <p:sp>
        <p:nvSpPr>
          <p:cNvPr id="3" name="Shape 1"/>
          <p:cNvSpPr/>
          <p:nvPr/>
        </p:nvSpPr>
        <p:spPr>
          <a:xfrm>
            <a:off x="0" y="5074920"/>
            <a:ext cx="9144000" cy="73152"/>
          </a:xfrm>
          <a:prstGeom prst="rect">
            <a:avLst/>
          </a:prstGeom>
          <a:solidFill>
            <a:srgbClr val="4ECDC4"/>
          </a:solidFill>
          <a:ln w="12700">
            <a:solidFill>
              <a:srgbClr val="4ECDC4"/>
            </a:solidFill>
            <a:prstDash val="solid"/>
          </a:ln>
        </p:spPr>
        <p:txBody>
          <a:bodyPr/>
          <a:lstStyle/>
          <a:p>
            <a:endParaRPr lang="en-ID"/>
          </a:p>
        </p:txBody>
      </p:sp>
      <p:grpSp>
        <p:nvGrpSpPr>
          <p:cNvPr id="6" name="Grup 5">
            <a:extLst>
              <a:ext uri="{FF2B5EF4-FFF2-40B4-BE49-F238E27FC236}">
                <a16:creationId xmlns:a16="http://schemas.microsoft.com/office/drawing/2014/main" id="{EFB3BDC5-B1B4-CCCA-1C9C-92D7130BA5CD}"/>
              </a:ext>
            </a:extLst>
          </p:cNvPr>
          <p:cNvGrpSpPr/>
          <p:nvPr/>
        </p:nvGrpSpPr>
        <p:grpSpPr>
          <a:xfrm>
            <a:off x="3099117" y="2220595"/>
            <a:ext cx="2945765" cy="702310"/>
            <a:chOff x="3099117" y="1794474"/>
            <a:chExt cx="2945765" cy="702310"/>
          </a:xfrm>
        </p:grpSpPr>
        <p:sp>
          <p:nvSpPr>
            <p:cNvPr id="4" name="Text 2"/>
            <p:cNvSpPr/>
            <p:nvPr/>
          </p:nvSpPr>
          <p:spPr>
            <a:xfrm>
              <a:off x="3099117" y="1794474"/>
              <a:ext cx="2945765" cy="702310"/>
            </a:xfrm>
            <a:prstGeom prst="rect">
              <a:avLst/>
            </a:prstGeom>
            <a:noFill/>
          </p:spPr>
          <p:txBody>
            <a:bodyPr wrap="square" lIns="0" tIns="0" rIns="0" bIns="0" rtlCol="0" anchor="ctr"/>
            <a:lstStyle/>
            <a:p>
              <a:pPr marL="0" indent="0" algn="ctr">
                <a:buNone/>
              </a:pPr>
              <a:r>
                <a:rPr lang="en-US" sz="3200" b="1" dirty="0">
                  <a:solidFill>
                    <a:srgbClr val="4ECDC4"/>
                  </a:solidFill>
                  <a:latin typeface="Courier New" panose="02070309020205020404" pitchFamily="34" charset="0"/>
                  <a:ea typeface="Courier New" panose="02070309020205020404" pitchFamily="34" charset="-122"/>
                  <a:cs typeface="Courier New" panose="02070309020205020404" pitchFamily="34" charset="-120"/>
                </a:rPr>
                <a:t>TERIMA KASIH</a:t>
              </a:r>
              <a:endParaRPr lang="en-US" sz="3200" dirty="0"/>
            </a:p>
          </p:txBody>
        </p:sp>
        <p:sp>
          <p:nvSpPr>
            <p:cNvPr id="5" name="Shape 3"/>
            <p:cNvSpPr/>
            <p:nvPr/>
          </p:nvSpPr>
          <p:spPr>
            <a:xfrm>
              <a:off x="3954780" y="2459228"/>
              <a:ext cx="1234440" cy="36576"/>
            </a:xfrm>
            <a:prstGeom prst="rect">
              <a:avLst/>
            </a:prstGeom>
            <a:solidFill>
              <a:srgbClr val="4ECDC4"/>
            </a:solidFill>
            <a:ln w="12700">
              <a:solidFill>
                <a:srgbClr val="4ECDC4"/>
              </a:solidFill>
              <a:prstDash val="solid"/>
            </a:ln>
          </p:spPr>
          <p:txBody>
            <a:bodyPr/>
            <a:lstStyle/>
            <a:p>
              <a:endParaRPr lang="en-ID"/>
            </a:p>
          </p:txBody>
        </p:sp>
      </p:grpSp>
      <p:sp>
        <p:nvSpPr>
          <p:cNvPr id="35" name="Shape 33"/>
          <p:cNvSpPr/>
          <p:nvPr/>
        </p:nvSpPr>
        <p:spPr>
          <a:xfrm>
            <a:off x="0" y="5138928"/>
            <a:ext cx="9144000" cy="0"/>
          </a:xfrm>
          <a:prstGeom prst="rect">
            <a:avLst/>
          </a:prstGeom>
          <a:solidFill>
            <a:srgbClr val="13131F"/>
          </a:solidFill>
          <a:ln w="12700">
            <a:solidFill>
              <a:srgbClr val="13131F"/>
            </a:solidFill>
            <a:prstDash val="solid"/>
          </a:ln>
        </p:spPr>
        <p:txBody>
          <a:bodyPr/>
          <a:lstStyle/>
          <a:p>
            <a:endParaRPr lang="en-ID"/>
          </a:p>
        </p:txBody>
      </p:sp>
      <p:sp>
        <p:nvSpPr>
          <p:cNvPr id="36" name="Text 34"/>
          <p:cNvSpPr/>
          <p:nvPr/>
        </p:nvSpPr>
        <p:spPr>
          <a:xfrm>
            <a:off x="0" y="4846320"/>
            <a:ext cx="9144000" cy="274320"/>
          </a:xfrm>
          <a:prstGeom prst="rect">
            <a:avLst/>
          </a:prstGeom>
          <a:noFill/>
        </p:spPr>
        <p:txBody>
          <a:bodyPr wrap="square" lIns="0" tIns="0" rIns="0" bIns="0" rtlCol="0" anchor="ctr"/>
          <a:lstStyle/>
          <a:p>
            <a:pPr marL="0" indent="0" algn="ctr">
              <a:buNone/>
            </a:pPr>
            <a:r>
              <a:rPr lang="en-US" sz="900" dirty="0">
                <a:solidFill>
                  <a:srgbClr val="A0A0B8"/>
                </a:solidFill>
                <a:latin typeface="Courier New" panose="02070309020205020404" pitchFamily="34" charset="0"/>
                <a:ea typeface="Courier New" panose="02070309020205020404" pitchFamily="34" charset="-122"/>
                <a:cs typeface="Courier New" panose="02070309020205020404" pitchFamily="34" charset="-120"/>
              </a:rPr>
              <a:t>PRAKTIKUM SISTEM EMBEDDED FTUI 2026 - KELOMPOK 21</a:t>
            </a:r>
            <a:endParaRPr lang="en-US" sz="900" dirty="0"/>
          </a:p>
        </p:txBody>
      </p:sp>
      <p:sp>
        <p:nvSpPr>
          <p:cNvPr id="10" name="Text Box 9"/>
          <p:cNvSpPr txBox="1"/>
          <p:nvPr/>
        </p:nvSpPr>
        <p:spPr>
          <a:xfrm>
            <a:off x="5458460" y="4939030"/>
            <a:ext cx="3048000" cy="368300"/>
          </a:xfrm>
          <a:prstGeom prst="rect">
            <a:avLst/>
          </a:prstGeom>
          <a:noFill/>
        </p:spPr>
        <p:txBody>
          <a:bodyPr wrap="square" rtlCol="0">
            <a:spAutoFit/>
          </a:bodyPr>
          <a:lstStyle/>
          <a:p>
            <a:endParaRPr lang="en-GB" altLang="en-US"/>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DIAGRAM_VIRTUALLY_FRAME" val="{&quot;height&quot;:234.1433070866142,&quot;left&quot;:25.2,&quot;top&quot;:91.18086614173228,&quot;width&quot;:617.7738582677165}"/>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234.1433070866142,&quot;left&quot;:25.2,&quot;top&quot;:91.18086614173228,&quot;width&quot;:617.7738582677165}"/>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234.1433070866142,&quot;left&quot;:25.2,&quot;top&quot;:91.18086614173228,&quot;width&quot;:617.7738582677165}"/>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234.1433070866142,&quot;left&quot;:25.2,&quot;top&quot;:91.18086614173228,&quot;width&quot;:617.7738582677165}"/>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234.1433070866142,&quot;left&quot;:25.2,&quot;top&quot;:91.18086614173228,&quot;width&quot;:617.7738582677165}"/>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234.1433070866142,&quot;left&quot;:25.2,&quot;top&quot;:91.18086614173228,&quot;width&quot;:617.7738582677165}"/>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234.1433070866142,&quot;left&quot;:25.2,&quot;top&quot;:91.18086614173228,&quot;width&quot;:617.7738582677165}"/>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234.1433070866142,&quot;left&quot;:25.2,&quot;top&quot;:91.18086614173228,&quot;width&quot;:617.7738582677165}"/>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234.1433070866142,&quot;left&quot;:25.2,&quot;top&quot;:91.18086614173228,&quot;width&quot;:617.7738582677165}"/>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234.1433070866142,&quot;left&quot;:25.2,&quot;top&quot;:91.18086614173228,&quot;width&quot;:617.7738582677165}"/>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234.1433070866142,&quot;left&quot;:25.2,&quot;top&quot;:91.18086614173228,&quot;width&quot;:617.7738582677165}"/>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234.1433070866142,&quot;left&quot;:25.2,&quot;top&quot;:91.18086614173228,&quot;width&quot;:617.7738582677165}"/>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234.1433070866142,&quot;left&quot;:25.2,&quot;top&quot;:91.18086614173228,&quot;width&quot;:617.7738582677165}"/>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234.1433070866142,&quot;left&quot;:25.2,&quot;top&quot;:91.18086614173228,&quot;width&quot;:617.7738582677165}"/>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234.1433070866142,&quot;left&quot;:25.2,&quot;top&quot;:91.18086614173228,&quot;width&quot;:617.7738582677165}"/>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234.1433070866142,&quot;left&quot;:25.2,&quot;top&quot;:91.18086614173228,&quot;width&quot;:617.7738582677165}"/>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234.1433070866142,&quot;left&quot;:25.2,&quot;top&quot;:91.18086614173228,&quot;width&quot;:617.7738582677165}"/>
</p:tagLst>
</file>

<file path=ppt/tags/tag18.xml><?xml version="1.0" encoding="utf-8"?>
<p:tagLst xmlns:a="http://schemas.openxmlformats.org/drawingml/2006/main" xmlns:r="http://schemas.openxmlformats.org/officeDocument/2006/relationships" xmlns:p="http://schemas.openxmlformats.org/presentationml/2006/main">
  <p:tag name="KSO_WM_DIAGRAM_VIRTUALLY_FRAME" val="{&quot;height&quot;:234.1433070866142,&quot;left&quot;:25.2,&quot;top&quot;:91.18086614173228,&quot;width&quot;:617.7738582677165}"/>
</p:tagLst>
</file>

<file path=ppt/tags/tag19.xml><?xml version="1.0" encoding="utf-8"?>
<p:tagLst xmlns:a="http://schemas.openxmlformats.org/drawingml/2006/main" xmlns:r="http://schemas.openxmlformats.org/officeDocument/2006/relationships" xmlns:p="http://schemas.openxmlformats.org/presentationml/2006/main">
  <p:tag name="KSO_WM_DIAGRAM_VIRTUALLY_FRAME" val="{&quot;height&quot;:234.1433070866142,&quot;left&quot;:25.2,&quot;top&quot;:91.18086614173228,&quot;width&quot;:617.7738582677165}"/>
</p:tagLst>
</file>

<file path=ppt/tags/tag20.xml><?xml version="1.0" encoding="utf-8"?>
<p:tagLst xmlns:a="http://schemas.openxmlformats.org/drawingml/2006/main" xmlns:r="http://schemas.openxmlformats.org/officeDocument/2006/relationships" xmlns:p="http://schemas.openxmlformats.org/presentationml/2006/main">
  <p:tag name="KSO_WM_DIAGRAM_VIRTUALLY_FRAME" val="{&quot;height&quot;:234.1433070866142,&quot;left&quot;:25.2,&quot;top&quot;:91.18086614173228,&quot;width&quot;:617.7738582677165}"/>
</p:tagLst>
</file>

<file path=ppt/tags/tag21.xml><?xml version="1.0" encoding="utf-8"?>
<p:tagLst xmlns:a="http://schemas.openxmlformats.org/drawingml/2006/main" xmlns:r="http://schemas.openxmlformats.org/officeDocument/2006/relationships" xmlns:p="http://schemas.openxmlformats.org/presentationml/2006/main">
  <p:tag name="KSO_WM_DIAGRAM_VIRTUALLY_FRAME" val="{&quot;height&quot;:234.1433070866142,&quot;left&quot;:25.2,&quot;top&quot;:91.18086614173228,&quot;width&quot;:617.7738582677165}"/>
</p:tagLst>
</file>

<file path=ppt/tags/tag22.xml><?xml version="1.0" encoding="utf-8"?>
<p:tagLst xmlns:a="http://schemas.openxmlformats.org/drawingml/2006/main" xmlns:r="http://schemas.openxmlformats.org/officeDocument/2006/relationships" xmlns:p="http://schemas.openxmlformats.org/presentationml/2006/main">
  <p:tag name="KSO_WM_DIAGRAM_VIRTUALLY_FRAME" val="{&quot;height&quot;:234.1433070866142,&quot;left&quot;:25.2,&quot;top&quot;:91.18086614173228,&quot;width&quot;:617.7738582677165}"/>
</p:tagLst>
</file>

<file path=ppt/tags/tag23.xml><?xml version="1.0" encoding="utf-8"?>
<p:tagLst xmlns:a="http://schemas.openxmlformats.org/drawingml/2006/main" xmlns:r="http://schemas.openxmlformats.org/officeDocument/2006/relationships" xmlns:p="http://schemas.openxmlformats.org/presentationml/2006/main">
  <p:tag name="KSO_WM_DIAGRAM_VIRTUALLY_FRAME" val="{&quot;height&quot;:234.1433070866142,&quot;left&quot;:25.2,&quot;top&quot;:91.18086614173228,&quot;width&quot;:617.7738582677165}"/>
</p:tagLst>
</file>

<file path=ppt/tags/tag24.xml><?xml version="1.0" encoding="utf-8"?>
<p:tagLst xmlns:a="http://schemas.openxmlformats.org/drawingml/2006/main" xmlns:r="http://schemas.openxmlformats.org/officeDocument/2006/relationships" xmlns:p="http://schemas.openxmlformats.org/presentationml/2006/main">
  <p:tag name="KSO_WM_DIAGRAM_VIRTUALLY_FRAME" val="{&quot;height&quot;:234.1433070866142,&quot;left&quot;:25.2,&quot;top&quot;:91.18086614173228,&quot;width&quot;:617.7738582677165}"/>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TotalTime>
  <Words>854</Words>
  <Application>Microsoft Office PowerPoint</Application>
  <PresentationFormat>Peragaan Layar (16:9)</PresentationFormat>
  <Paragraphs>142</Paragraphs>
  <Slides>12</Slides>
  <Notes>12</Notes>
  <HiddenSlides>0</HiddenSlides>
  <MMClips>0</MMClips>
  <ScaleCrop>false</ScaleCrop>
  <HeadingPairs>
    <vt:vector size="6" baseType="variant">
      <vt:variant>
        <vt:lpstr>Font Dipakai</vt:lpstr>
      </vt:variant>
      <vt:variant>
        <vt:i4>3</vt:i4>
      </vt:variant>
      <vt:variant>
        <vt:lpstr>Tema</vt:lpstr>
      </vt:variant>
      <vt:variant>
        <vt:i4>2</vt:i4>
      </vt:variant>
      <vt:variant>
        <vt:lpstr>Judul Slide</vt:lpstr>
      </vt:variant>
      <vt:variant>
        <vt:i4>12</vt:i4>
      </vt:variant>
    </vt:vector>
  </HeadingPairs>
  <TitlesOfParts>
    <vt:vector size="17" baseType="lpstr">
      <vt:lpstr>Arial</vt:lpstr>
      <vt:lpstr>Calibri</vt:lpstr>
      <vt:lpstr>Courier New</vt:lpstr>
      <vt:lpstr>Office Theme</vt:lpstr>
      <vt:lpstr>1_Office Theme</vt:lpstr>
      <vt:lpstr>Presentasi PowerPoint</vt:lpstr>
      <vt:lpstr>Presentasi PowerPoint</vt:lpstr>
      <vt:lpstr>Presentasi PowerPoint</vt:lpstr>
      <vt:lpstr>Presentasi PowerPoint</vt:lpstr>
      <vt:lpstr>Presentasi PowerPoint</vt:lpstr>
      <vt:lpstr>Presentasi PowerPoint</vt:lpstr>
      <vt:lpstr>Presentasi PowerPoint</vt:lpstr>
      <vt:lpstr>Presentasi PowerPoint</vt:lpstr>
      <vt:lpstr>Presentasi PowerPoint</vt:lpstr>
      <vt:lpstr>Presentasi PowerPoint</vt:lpstr>
      <vt:lpstr>Presentasi PowerPoint</vt:lpstr>
      <vt:lpstr>Presentasi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Marshal Aufa</cp:lastModifiedBy>
  <cp:revision>6</cp:revision>
  <dcterms:created xsi:type="dcterms:W3CDTF">2026-05-17T14:01:00Z</dcterms:created>
  <dcterms:modified xsi:type="dcterms:W3CDTF">2026-05-17T16:35:12Z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ED21AA4B16CD45078FFE1A302D210915_13</vt:lpwstr>
  </property>
  <property fmtid="{D5CDD505-2E9C-101B-9397-08002B2CF9AE}" pid="3" name="KSOProductBuildVer">
    <vt:lpwstr>2057-12.2.0.23202</vt:lpwstr>
  </property>
</Properties>
</file>